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70437" autoAdjust="0"/>
  </p:normalViewPr>
  <p:slideViewPr>
    <p:cSldViewPr snapToGrid="0" snapToObjects="1">
      <p:cViewPr varScale="1">
        <p:scale>
          <a:sx n="81" d="100"/>
          <a:sy n="81" d="100"/>
        </p:scale>
        <p:origin x="84" y="3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24940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0:00-0:40. Frame it as a fight I tried to settle with evidence. Two things I want you to leave with: what the coverage of reform prosecutors actually looked like, and how to tell a real media study from a bad one. Then a few minutes at the end on where this goes next.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0:40-2:00. Let the two quotes sit for a beat. The point is that this was an empirical disagreement that nobody had actually tested, because testing it means reading six years of local news.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2:00-3:15. The 82/15 split is the number people remember. It reframes the whole question: this is not a media that is picking on prosecutors, it is a media that barely covers them at all.</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3:15-4:30. Keep this light. The design point worth making out loud is the county pairing: we are not comparing the Chronicle to Fox News, we are comparing the Chronicle to itself, before and after a change of DA.</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4:30-6:00. The most important slide in the deck. Say plainly: if you had only run the first row you would have published 'no bias found.' If you had only run the third you would have published 'overwhelming bias.' Both would have been defensible and both would have been incomplete.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6:00-7:15. This is the substantive finding, and the one that translates. Reform prosecutors were treated as an argument; traditional prosecutors were treated as furniture. Neither is name-calling, and the second is arguably the bigger advantage.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7:15-8:30. Walk to the top bar first — recall. Then deliberately point at 'releasing criminals' running the other way. A stricter second method puts the recall storyline at roughly 18% of reform-DA coverage versus 4% of traditional-DA coverage; same direction, larger gap.</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8:30-9:45. Read the first two headlines out loud — they do the work. Then contrast with the fentanyl task force piece: the DA's office is in it, but as a participant, not a defendant.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9:45-11:00. The two best slides in the deck are this one and slide 5. The Price op-ed is the killer example: the machine scored a defence of her as the most hostile article in six years of news. Say that our hand-check found the automated reading of any individual article was no better than a coin flip, and that we published that.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11:00-11:45. Offer these as a practical checklist they can use on anyone's study, including mine. Question two is the one that separates real work from output.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11:45-12:15. Slow down here. This is the pivot from findings to potential. The honest limitation of my study is the setup for the last three slides.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12:15-13:00. Deliberately non-technical. If someone asks how you get the data out: a plain web address returns a spreadsheet, and there is a full SQL version for big jobs. Do not go further than that unless asked. Worth mentioning that it rate-limits hard, so a real pull needs a script that waits politely.</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I expected a slow build and there isn't one — the flat line through March and April is the finding; (2) the peak is the day AFTER the vote, which cuts against the simple 'media drove the recall' story at the national level; (3) the February MOU fight, which an earlier draft of this deck named as the obvious candidate, produced nothing nationally; (4) the February bump is the SCHOOL BOARD recall, not his — the query asked for 'Boudin' within twenty words of 'recall', and coverage of that vote kept asking whether he was next. 11% of that week's articles name the school board in the headline alone, against 1% across the rest of the corpus. That is slide 5's lesson happening live, to me, on the tool I am recommending. If asked about the December 2021 spike: I don't know what it was, and after the February lesson I would check before citing it.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14:30-15:00. Move fast — the previous slide already made the case. Point at 2 as the obvious next run, and let the venue idea (3) be the hook for litigators. Then invite them to pick one.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14:30-15:00. Close on the ask, not the tool. The three links are for the deck, not the talk.</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61F"/>
        </a:solidFill>
        <a:effectLst/>
      </p:bgPr>
    </p:bg>
    <p:spTree>
      <p:nvGrpSpPr>
        <p:cNvPr id="1" name=""/>
        <p:cNvGrpSpPr/>
        <p:nvPr/>
      </p:nvGrpSpPr>
      <p:grpSpPr>
        <a:xfrm>
          <a:off x="0" y="0"/>
          <a:ext cx="0" cy="0"/>
          <a:chOff x="0" y="0"/>
          <a:chExt cx="0" cy="0"/>
        </a:xfrm>
      </p:grpSpPr>
      <p:sp>
        <p:nvSpPr>
          <p:cNvPr id="2" name="Shape 0"/>
          <p:cNvSpPr/>
          <p:nvPr/>
        </p:nvSpPr>
        <p:spPr>
          <a:xfrm>
            <a:off x="9052560" y="-1371600"/>
            <a:ext cx="4937760" cy="4937760"/>
          </a:xfrm>
          <a:prstGeom prst="ellipse">
            <a:avLst/>
          </a:prstGeom>
          <a:solidFill>
            <a:srgbClr val="A31621">
              <a:alpha val="12000"/>
            </a:srgbClr>
          </a:solidFill>
          <a:ln w="12700">
            <a:solidFill>
              <a:srgbClr val="A31621">
                <a:alpha val="28000"/>
              </a:srgbClr>
            </a:solidFill>
            <a:prstDash val="solid"/>
          </a:ln>
        </p:spPr>
        <p:txBody>
          <a:bodyPr/>
          <a:lstStyle/>
          <a:p>
            <a:endParaRPr lang="en-US"/>
          </a:p>
        </p:txBody>
      </p:sp>
      <p:sp>
        <p:nvSpPr>
          <p:cNvPr id="3" name="Shape 1"/>
          <p:cNvSpPr/>
          <p:nvPr/>
        </p:nvSpPr>
        <p:spPr>
          <a:xfrm>
            <a:off x="10424160" y="4206240"/>
            <a:ext cx="3108960" cy="3108960"/>
          </a:xfrm>
          <a:prstGeom prst="ellipse">
            <a:avLst/>
          </a:prstGeom>
          <a:solidFill>
            <a:srgbClr val="A31621">
              <a:alpha val="8000"/>
            </a:srgbClr>
          </a:solidFill>
          <a:ln/>
        </p:spPr>
        <p:txBody>
          <a:bodyPr/>
          <a:lstStyle/>
          <a:p>
            <a:endParaRPr lang="en-US"/>
          </a:p>
        </p:txBody>
      </p:sp>
      <p:sp>
        <p:nvSpPr>
          <p:cNvPr id="4" name="Text 2"/>
          <p:cNvSpPr/>
          <p:nvPr/>
        </p:nvSpPr>
        <p:spPr>
          <a:xfrm>
            <a:off x="594360" y="1371600"/>
            <a:ext cx="5486400" cy="274320"/>
          </a:xfrm>
          <a:prstGeom prst="rect">
            <a:avLst/>
          </a:prstGeom>
          <a:noFill/>
          <a:ln/>
        </p:spPr>
        <p:txBody>
          <a:bodyPr wrap="square" lIns="0" tIns="0" rIns="0" bIns="0" rtlCol="0" anchor="ctr"/>
          <a:lstStyle/>
          <a:p>
            <a:pPr marL="0" indent="0" algn="l">
              <a:buNone/>
            </a:pPr>
            <a:r>
              <a:rPr lang="en-US" sz="1100" b="1" kern="0" spc="240" dirty="0">
                <a:solidFill>
                  <a:srgbClr val="E0757F"/>
                </a:solidFill>
                <a:latin typeface="Calibri" pitchFamily="34" charset="0"/>
                <a:ea typeface="Calibri" pitchFamily="34" charset="-122"/>
                <a:cs typeface="Calibri" pitchFamily="34" charset="-120"/>
              </a:rPr>
              <a:t>15-MINUTE OVERVIEW</a:t>
            </a:r>
            <a:endParaRPr lang="en-US" sz="1100" dirty="0"/>
          </a:p>
        </p:txBody>
      </p:sp>
      <p:sp>
        <p:nvSpPr>
          <p:cNvPr id="5" name="Text 3"/>
          <p:cNvSpPr/>
          <p:nvPr/>
        </p:nvSpPr>
        <p:spPr>
          <a:xfrm>
            <a:off x="594360" y="1737360"/>
            <a:ext cx="8595360" cy="1371600"/>
          </a:xfrm>
          <a:prstGeom prst="rect">
            <a:avLst/>
          </a:prstGeom>
          <a:noFill/>
          <a:ln/>
        </p:spPr>
        <p:txBody>
          <a:bodyPr wrap="square" lIns="0" tIns="0" rIns="0" bIns="0" rtlCol="0" anchor="ctr"/>
          <a:lstStyle/>
          <a:p>
            <a:pPr marL="0" indent="0">
              <a:lnSpc>
                <a:spcPct val="102000"/>
              </a:lnSpc>
              <a:buNone/>
            </a:pPr>
            <a:r>
              <a:rPr lang="en-US" sz="4200" b="1" dirty="0">
                <a:solidFill>
                  <a:srgbClr val="FFFFFF"/>
                </a:solidFill>
                <a:latin typeface="Cambria" pitchFamily="34" charset="0"/>
                <a:ea typeface="Cambria" pitchFamily="34" charset="-122"/>
                <a:cs typeface="Cambria" pitchFamily="34" charset="-120"/>
              </a:rPr>
              <a:t>When the Press Covers a Prosecutor</a:t>
            </a:r>
            <a:endParaRPr lang="en-US" sz="4200" dirty="0"/>
          </a:p>
        </p:txBody>
      </p:sp>
      <p:sp>
        <p:nvSpPr>
          <p:cNvPr id="6" name="Text 4"/>
          <p:cNvSpPr/>
          <p:nvPr/>
        </p:nvSpPr>
        <p:spPr>
          <a:xfrm>
            <a:off x="594360" y="3200400"/>
            <a:ext cx="8229600" cy="822960"/>
          </a:xfrm>
          <a:prstGeom prst="rect">
            <a:avLst/>
          </a:prstGeom>
          <a:noFill/>
          <a:ln/>
        </p:spPr>
        <p:txBody>
          <a:bodyPr wrap="square" lIns="0" tIns="0" rIns="0" bIns="0" rtlCol="0" anchor="t"/>
          <a:lstStyle/>
          <a:p>
            <a:pPr marL="0" indent="0">
              <a:lnSpc>
                <a:spcPct val="118000"/>
              </a:lnSpc>
              <a:buNone/>
            </a:pPr>
            <a:r>
              <a:rPr lang="en-US" sz="1800" dirty="0">
                <a:solidFill>
                  <a:srgbClr val="C3C9D6"/>
                </a:solidFill>
                <a:latin typeface="Calibri" pitchFamily="34" charset="0"/>
                <a:ea typeface="Calibri" pitchFamily="34" charset="-122"/>
                <a:cs typeface="Calibri" pitchFamily="34" charset="-120"/>
              </a:rPr>
              <a:t>What six years of Bay Area crime reporting said — and how you read the news at scale</a:t>
            </a:r>
            <a:endParaRPr lang="en-US" sz="1800" dirty="0"/>
          </a:p>
        </p:txBody>
      </p:sp>
      <p:sp>
        <p:nvSpPr>
          <p:cNvPr id="7" name="Text 5"/>
          <p:cNvSpPr/>
          <p:nvPr/>
        </p:nvSpPr>
        <p:spPr>
          <a:xfrm>
            <a:off x="594360" y="5806440"/>
            <a:ext cx="7315200" cy="320040"/>
          </a:xfrm>
          <a:prstGeom prst="rect">
            <a:avLst/>
          </a:prstGeom>
          <a:noFill/>
          <a:ln/>
        </p:spPr>
        <p:txBody>
          <a:bodyPr wrap="square" lIns="0" tIns="0" rIns="0" bIns="0" rtlCol="0" anchor="ctr"/>
          <a:lstStyle/>
          <a:p>
            <a:pPr marL="0" indent="0">
              <a:buNone/>
            </a:pPr>
            <a:r>
              <a:rPr lang="en-US" sz="1250" dirty="0">
                <a:solidFill>
                  <a:srgbClr val="9AA1AE"/>
                </a:solidFill>
                <a:latin typeface="Calibri" pitchFamily="34" charset="0"/>
                <a:ea typeface="Calibri" pitchFamily="34" charset="-122"/>
                <a:cs typeface="Calibri" pitchFamily="34" charset="-120"/>
              </a:rPr>
              <a:t>Prepared for the Center team  ·  August 2026</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94360" y="329184"/>
            <a:ext cx="10972800" cy="658368"/>
          </a:xfrm>
          <a:prstGeom prst="rect">
            <a:avLst/>
          </a:prstGeom>
          <a:noFill/>
          <a:ln/>
        </p:spPr>
        <p:txBody>
          <a:bodyPr wrap="square" lIns="0" tIns="0" rIns="0" bIns="0" rtlCol="0" anchor="ctr"/>
          <a:lstStyle/>
          <a:p>
            <a:pPr marL="0" indent="0" algn="l">
              <a:buNone/>
            </a:pPr>
            <a:r>
              <a:rPr lang="en-US" sz="3400" b="1" dirty="0">
                <a:solidFill>
                  <a:srgbClr val="14161F"/>
                </a:solidFill>
                <a:latin typeface="Cambria" pitchFamily="34" charset="0"/>
                <a:ea typeface="Cambria" pitchFamily="34" charset="-122"/>
                <a:cs typeface="Cambria" pitchFamily="34" charset="-120"/>
              </a:rPr>
              <a:t>The argument I set out to settle</a:t>
            </a:r>
            <a:endParaRPr lang="en-US" sz="3400" dirty="0"/>
          </a:p>
        </p:txBody>
      </p:sp>
      <p:sp>
        <p:nvSpPr>
          <p:cNvPr id="3" name="Shape 1"/>
          <p:cNvSpPr/>
          <p:nvPr/>
        </p:nvSpPr>
        <p:spPr>
          <a:xfrm>
            <a:off x="594360" y="1371600"/>
            <a:ext cx="5349240" cy="2880360"/>
          </a:xfrm>
          <a:prstGeom prst="roundRect">
            <a:avLst>
              <a:gd name="adj" fmla="val 2222"/>
            </a:avLst>
          </a:prstGeom>
          <a:solidFill>
            <a:srgbClr val="F4F5F7"/>
          </a:solidFill>
          <a:ln/>
          <a:effectLst>
            <a:outerShdw blurRad="101600" dist="25400" dir="5400000" algn="bl" rotWithShape="0">
              <a:srgbClr val="9AA1AE">
                <a:alpha val="22000"/>
              </a:srgbClr>
            </a:outerShdw>
          </a:effectLst>
        </p:spPr>
        <p:txBody>
          <a:bodyPr/>
          <a:lstStyle/>
          <a:p>
            <a:endParaRPr lang="en-US"/>
          </a:p>
        </p:txBody>
      </p:sp>
      <p:sp>
        <p:nvSpPr>
          <p:cNvPr id="4" name="Text 2"/>
          <p:cNvSpPr/>
          <p:nvPr/>
        </p:nvSpPr>
        <p:spPr>
          <a:xfrm>
            <a:off x="914400" y="1691640"/>
            <a:ext cx="4709160" cy="502920"/>
          </a:xfrm>
          <a:prstGeom prst="rect">
            <a:avLst/>
          </a:prstGeom>
          <a:noFill/>
          <a:ln/>
        </p:spPr>
        <p:txBody>
          <a:bodyPr wrap="square" lIns="0" tIns="0" rIns="0" bIns="0" rtlCol="0" anchor="ctr"/>
          <a:lstStyle/>
          <a:p>
            <a:pPr marL="0" indent="0">
              <a:buNone/>
            </a:pPr>
            <a:r>
              <a:rPr lang="en-US" sz="2100" b="1" i="1" dirty="0">
                <a:solidFill>
                  <a:srgbClr val="A31621"/>
                </a:solidFill>
                <a:latin typeface="Cambria" pitchFamily="34" charset="0"/>
                <a:ea typeface="Cambria" pitchFamily="34" charset="-122"/>
                <a:cs typeface="Cambria" pitchFamily="34" charset="-120"/>
              </a:rPr>
              <a:t>“The press was against them.”</a:t>
            </a:r>
            <a:endParaRPr lang="en-US" sz="2100" dirty="0"/>
          </a:p>
        </p:txBody>
      </p:sp>
      <p:sp>
        <p:nvSpPr>
          <p:cNvPr id="5" name="Text 3"/>
          <p:cNvSpPr/>
          <p:nvPr/>
        </p:nvSpPr>
        <p:spPr>
          <a:xfrm>
            <a:off x="914400" y="2331720"/>
            <a:ext cx="4709160" cy="1463040"/>
          </a:xfrm>
          <a:prstGeom prst="rect">
            <a:avLst/>
          </a:prstGeom>
          <a:noFill/>
          <a:ln/>
        </p:spPr>
        <p:txBody>
          <a:bodyPr wrap="square" lIns="0" tIns="0" rIns="0" bIns="0" rtlCol="0" anchor="t"/>
          <a:lstStyle/>
          <a:p>
            <a:pPr marL="0" indent="0">
              <a:lnSpc>
                <a:spcPct val="118000"/>
              </a:lnSpc>
              <a:buNone/>
            </a:pPr>
            <a:r>
              <a:rPr lang="en-US" sz="1400" dirty="0">
                <a:solidFill>
                  <a:srgbClr val="3F4757"/>
                </a:solidFill>
                <a:latin typeface="Calibri" pitchFamily="34" charset="0"/>
                <a:ea typeface="Calibri" pitchFamily="34" charset="-122"/>
                <a:cs typeface="Calibri" pitchFamily="34" charset="-120"/>
              </a:rPr>
              <a:t>Reform prosecutors and their supporters said the coverage was relentlessly hostile, and that it helped drive two of them out of office.</a:t>
            </a:r>
            <a:endParaRPr lang="en-US" sz="1400" dirty="0"/>
          </a:p>
        </p:txBody>
      </p:sp>
      <p:sp>
        <p:nvSpPr>
          <p:cNvPr id="6" name="Shape 4"/>
          <p:cNvSpPr/>
          <p:nvPr/>
        </p:nvSpPr>
        <p:spPr>
          <a:xfrm>
            <a:off x="6263640" y="1371600"/>
            <a:ext cx="5349240" cy="2880360"/>
          </a:xfrm>
          <a:prstGeom prst="roundRect">
            <a:avLst>
              <a:gd name="adj" fmla="val 2222"/>
            </a:avLst>
          </a:prstGeom>
          <a:solidFill>
            <a:srgbClr val="F4F5F7"/>
          </a:solidFill>
          <a:ln/>
          <a:effectLst>
            <a:outerShdw blurRad="101600" dist="25400" dir="5400000" algn="bl" rotWithShape="0">
              <a:srgbClr val="9AA1AE">
                <a:alpha val="22000"/>
              </a:srgbClr>
            </a:outerShdw>
          </a:effectLst>
        </p:spPr>
        <p:txBody>
          <a:bodyPr/>
          <a:lstStyle/>
          <a:p>
            <a:endParaRPr lang="en-US"/>
          </a:p>
        </p:txBody>
      </p:sp>
      <p:sp>
        <p:nvSpPr>
          <p:cNvPr id="7" name="Text 5"/>
          <p:cNvSpPr/>
          <p:nvPr/>
        </p:nvSpPr>
        <p:spPr>
          <a:xfrm>
            <a:off x="6583680" y="1691640"/>
            <a:ext cx="4709160" cy="502920"/>
          </a:xfrm>
          <a:prstGeom prst="rect">
            <a:avLst/>
          </a:prstGeom>
          <a:noFill/>
          <a:ln/>
        </p:spPr>
        <p:txBody>
          <a:bodyPr wrap="square" lIns="0" tIns="0" rIns="0" bIns="0" rtlCol="0" anchor="ctr"/>
          <a:lstStyle/>
          <a:p>
            <a:pPr marL="0" indent="0">
              <a:buNone/>
            </a:pPr>
            <a:r>
              <a:rPr lang="en-US" sz="2100" b="1" i="1" dirty="0">
                <a:solidFill>
                  <a:srgbClr val="2B3A55"/>
                </a:solidFill>
                <a:latin typeface="Cambria" pitchFamily="34" charset="0"/>
                <a:ea typeface="Cambria" pitchFamily="34" charset="-122"/>
                <a:cs typeface="Cambria" pitchFamily="34" charset="-120"/>
              </a:rPr>
              <a:t>“The coverage just described what happened.”</a:t>
            </a:r>
            <a:endParaRPr lang="en-US" sz="2100" dirty="0"/>
          </a:p>
        </p:txBody>
      </p:sp>
      <p:sp>
        <p:nvSpPr>
          <p:cNvPr id="8" name="Text 6"/>
          <p:cNvSpPr/>
          <p:nvPr/>
        </p:nvSpPr>
        <p:spPr>
          <a:xfrm>
            <a:off x="6583680" y="2331720"/>
            <a:ext cx="4709160" cy="1463040"/>
          </a:xfrm>
          <a:prstGeom prst="rect">
            <a:avLst/>
          </a:prstGeom>
          <a:noFill/>
          <a:ln/>
        </p:spPr>
        <p:txBody>
          <a:bodyPr wrap="square" lIns="0" tIns="0" rIns="0" bIns="0" rtlCol="0" anchor="t"/>
          <a:lstStyle/>
          <a:p>
            <a:pPr marL="0" indent="0">
              <a:lnSpc>
                <a:spcPct val="118000"/>
              </a:lnSpc>
              <a:buNone/>
            </a:pPr>
            <a:r>
              <a:rPr lang="en-US" sz="1400" dirty="0">
                <a:solidFill>
                  <a:srgbClr val="3F4757"/>
                </a:solidFill>
                <a:latin typeface="Calibri" pitchFamily="34" charset="0"/>
                <a:ea typeface="Calibri" pitchFamily="34" charset="-122"/>
                <a:cs typeface="Calibri" pitchFamily="34" charset="-120"/>
              </a:rPr>
              <a:t>Critics said the problems were real, the recall was real, and reporting on real events is not bias — it is the job.</a:t>
            </a:r>
            <a:endParaRPr lang="en-US" sz="1400" dirty="0"/>
          </a:p>
        </p:txBody>
      </p:sp>
      <p:sp>
        <p:nvSpPr>
          <p:cNvPr id="9" name="Shape 7"/>
          <p:cNvSpPr/>
          <p:nvPr/>
        </p:nvSpPr>
        <p:spPr>
          <a:xfrm>
            <a:off x="594360" y="4572000"/>
            <a:ext cx="11018520" cy="1371600"/>
          </a:xfrm>
          <a:prstGeom prst="roundRect">
            <a:avLst>
              <a:gd name="adj" fmla="val 4667"/>
            </a:avLst>
          </a:prstGeom>
          <a:solidFill>
            <a:srgbClr val="14161F"/>
          </a:solidFill>
          <a:ln/>
          <a:effectLst>
            <a:outerShdw blurRad="101600" dist="25400" dir="5400000" algn="bl" rotWithShape="0">
              <a:srgbClr val="9AA1AE">
                <a:alpha val="22000"/>
              </a:srgbClr>
            </a:outerShdw>
          </a:effectLst>
        </p:spPr>
        <p:txBody>
          <a:bodyPr/>
          <a:lstStyle/>
          <a:p>
            <a:endParaRPr lang="en-US"/>
          </a:p>
        </p:txBody>
      </p:sp>
      <p:sp>
        <p:nvSpPr>
          <p:cNvPr id="10" name="Text 8"/>
          <p:cNvSpPr/>
          <p:nvPr/>
        </p:nvSpPr>
        <p:spPr>
          <a:xfrm>
            <a:off x="960120" y="4572000"/>
            <a:ext cx="10332720" cy="1371600"/>
          </a:xfrm>
          <a:prstGeom prst="rect">
            <a:avLst/>
          </a:prstGeom>
          <a:noFill/>
          <a:ln/>
        </p:spPr>
        <p:txBody>
          <a:bodyPr wrap="square" lIns="0" tIns="0" rIns="0" bIns="0" rtlCol="0" anchor="ctr"/>
          <a:lstStyle/>
          <a:p>
            <a:pPr marL="0" indent="0">
              <a:lnSpc>
                <a:spcPct val="125000"/>
              </a:lnSpc>
              <a:buNone/>
            </a:pPr>
            <a:r>
              <a:rPr lang="en-US" sz="1700" b="1" dirty="0">
                <a:solidFill>
                  <a:srgbClr val="FFFFFF"/>
                </a:solidFill>
                <a:latin typeface="Calibri" pitchFamily="34" charset="0"/>
                <a:ea typeface="Calibri" pitchFamily="34" charset="-122"/>
                <a:cs typeface="Calibri" pitchFamily="34" charset="-120"/>
              </a:rPr>
              <a:t>Both sides were arguing about the same six years of local news.</a:t>
            </a:r>
            <a:endParaRPr lang="en-US" sz="1700" dirty="0"/>
          </a:p>
          <a:p>
            <a:pPr marL="0" indent="0">
              <a:lnSpc>
                <a:spcPct val="125000"/>
              </a:lnSpc>
              <a:buNone/>
            </a:pPr>
            <a:r>
              <a:rPr lang="en-US" sz="1350" dirty="0">
                <a:solidFill>
                  <a:srgbClr val="C3C9D6"/>
                </a:solidFill>
                <a:latin typeface="Calibri" pitchFamily="34" charset="0"/>
                <a:ea typeface="Calibri" pitchFamily="34" charset="-122"/>
                <a:cs typeface="Calibri" pitchFamily="34" charset="-120"/>
              </a:rPr>
              <a:t>So that is what we did — 12,827 articles about five Bay Area district attorneys.</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94360" y="329184"/>
            <a:ext cx="10972800" cy="658368"/>
          </a:xfrm>
          <a:prstGeom prst="rect">
            <a:avLst/>
          </a:prstGeom>
          <a:noFill/>
          <a:ln/>
        </p:spPr>
        <p:txBody>
          <a:bodyPr wrap="square" lIns="0" tIns="0" rIns="0" bIns="0" rtlCol="0" anchor="ctr"/>
          <a:lstStyle/>
          <a:p>
            <a:pPr marL="0" indent="0" algn="l">
              <a:buNone/>
            </a:pPr>
            <a:r>
              <a:rPr lang="en-US" sz="3000" b="1" dirty="0">
                <a:solidFill>
                  <a:srgbClr val="14161F"/>
                </a:solidFill>
                <a:latin typeface="Cambria" pitchFamily="34" charset="0"/>
                <a:ea typeface="Cambria" pitchFamily="34" charset="-122"/>
                <a:cs typeface="Cambria" pitchFamily="34" charset="-120"/>
              </a:rPr>
              <a:t>Why this matters</a:t>
            </a:r>
            <a:endParaRPr lang="en-US" sz="3000" dirty="0"/>
          </a:p>
        </p:txBody>
      </p:sp>
      <p:sp>
        <p:nvSpPr>
          <p:cNvPr id="3" name="Shape 1"/>
          <p:cNvSpPr/>
          <p:nvPr/>
        </p:nvSpPr>
        <p:spPr>
          <a:xfrm>
            <a:off x="621792" y="1472184"/>
            <a:ext cx="384048" cy="384048"/>
          </a:xfrm>
          <a:prstGeom prst="ellipse">
            <a:avLst/>
          </a:prstGeom>
          <a:solidFill>
            <a:srgbClr val="A31621"/>
          </a:solidFill>
          <a:ln/>
        </p:spPr>
        <p:txBody>
          <a:bodyPr/>
          <a:lstStyle/>
          <a:p>
            <a:endParaRPr lang="en-US"/>
          </a:p>
        </p:txBody>
      </p:sp>
      <p:sp>
        <p:nvSpPr>
          <p:cNvPr id="4" name="Text 2"/>
          <p:cNvSpPr/>
          <p:nvPr/>
        </p:nvSpPr>
        <p:spPr>
          <a:xfrm>
            <a:off x="621792" y="1472184"/>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5" name="Text 3"/>
          <p:cNvSpPr/>
          <p:nvPr/>
        </p:nvSpPr>
        <p:spPr>
          <a:xfrm>
            <a:off x="1188720" y="1417320"/>
            <a:ext cx="5120640" cy="548640"/>
          </a:xfrm>
          <a:prstGeom prst="rect">
            <a:avLst/>
          </a:prstGeom>
          <a:noFill/>
          <a:ln/>
        </p:spPr>
        <p:txBody>
          <a:bodyPr wrap="square" lIns="0" tIns="0" rIns="0" bIns="0" rtlCol="0" anchor="t"/>
          <a:lstStyle/>
          <a:p>
            <a:pPr marL="0" indent="0">
              <a:lnSpc>
                <a:spcPct val="105000"/>
              </a:lnSpc>
              <a:buNone/>
            </a:pPr>
            <a:r>
              <a:rPr lang="en-US" sz="1650" b="1" dirty="0">
                <a:solidFill>
                  <a:srgbClr val="2B3A55"/>
                </a:solidFill>
                <a:latin typeface="Calibri" pitchFamily="34" charset="0"/>
                <a:ea typeface="Calibri" pitchFamily="34" charset="-122"/>
                <a:cs typeface="Calibri" pitchFamily="34" charset="-120"/>
              </a:rPr>
              <a:t>Coverage is part of the environment you litigate in</a:t>
            </a:r>
            <a:endParaRPr lang="en-US" sz="1650" dirty="0"/>
          </a:p>
        </p:txBody>
      </p:sp>
      <p:sp>
        <p:nvSpPr>
          <p:cNvPr id="6" name="Text 4"/>
          <p:cNvSpPr/>
          <p:nvPr/>
        </p:nvSpPr>
        <p:spPr>
          <a:xfrm>
            <a:off x="1188720" y="2002536"/>
            <a:ext cx="5120640" cy="868680"/>
          </a:xfrm>
          <a:prstGeom prst="rect">
            <a:avLst/>
          </a:prstGeom>
          <a:noFill/>
          <a:ln/>
        </p:spPr>
        <p:txBody>
          <a:bodyPr wrap="square" lIns="0" tIns="0" rIns="0" bIns="0" rtlCol="0" anchor="t"/>
          <a:lstStyle/>
          <a:p>
            <a:pPr marL="0" indent="0">
              <a:lnSpc>
                <a:spcPct val="112000"/>
              </a:lnSpc>
              <a:buNone/>
            </a:pPr>
            <a:r>
              <a:rPr lang="en-US" sz="1300" dirty="0">
                <a:solidFill>
                  <a:srgbClr val="3F4757"/>
                </a:solidFill>
                <a:latin typeface="Calibri" pitchFamily="34" charset="0"/>
                <a:ea typeface="Calibri" pitchFamily="34" charset="-122"/>
                <a:cs typeface="Calibri" pitchFamily="34" charset="-120"/>
              </a:rPr>
              <a:t>Jury pools, DA elections, and the legislature's appetite for reform all move with how cases get told.</a:t>
            </a:r>
            <a:endParaRPr lang="en-US" sz="1300" dirty="0"/>
          </a:p>
        </p:txBody>
      </p:sp>
      <p:sp>
        <p:nvSpPr>
          <p:cNvPr id="7" name="Shape 5"/>
          <p:cNvSpPr/>
          <p:nvPr/>
        </p:nvSpPr>
        <p:spPr>
          <a:xfrm>
            <a:off x="621792" y="2953512"/>
            <a:ext cx="384048" cy="384048"/>
          </a:xfrm>
          <a:prstGeom prst="ellipse">
            <a:avLst/>
          </a:prstGeom>
          <a:solidFill>
            <a:srgbClr val="A31621"/>
          </a:solidFill>
          <a:ln/>
        </p:spPr>
        <p:txBody>
          <a:bodyPr/>
          <a:lstStyle/>
          <a:p>
            <a:endParaRPr lang="en-US"/>
          </a:p>
        </p:txBody>
      </p:sp>
      <p:sp>
        <p:nvSpPr>
          <p:cNvPr id="8" name="Text 6"/>
          <p:cNvSpPr/>
          <p:nvPr/>
        </p:nvSpPr>
        <p:spPr>
          <a:xfrm>
            <a:off x="621792" y="2953512"/>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9" name="Text 7"/>
          <p:cNvSpPr/>
          <p:nvPr/>
        </p:nvSpPr>
        <p:spPr>
          <a:xfrm>
            <a:off x="1188720" y="2898648"/>
            <a:ext cx="5120640" cy="548640"/>
          </a:xfrm>
          <a:prstGeom prst="rect">
            <a:avLst/>
          </a:prstGeom>
          <a:noFill/>
          <a:ln/>
        </p:spPr>
        <p:txBody>
          <a:bodyPr wrap="square" lIns="0" tIns="0" rIns="0" bIns="0" rtlCol="0" anchor="t"/>
          <a:lstStyle/>
          <a:p>
            <a:pPr marL="0" indent="0">
              <a:lnSpc>
                <a:spcPct val="105000"/>
              </a:lnSpc>
              <a:buNone/>
            </a:pPr>
            <a:r>
              <a:rPr lang="en-US" sz="1650" b="1" dirty="0">
                <a:solidFill>
                  <a:srgbClr val="2B3A55"/>
                </a:solidFill>
                <a:latin typeface="Calibri" pitchFamily="34" charset="0"/>
                <a:ea typeface="Calibri" pitchFamily="34" charset="-122"/>
                <a:cs typeface="Calibri" pitchFamily="34" charset="-120"/>
              </a:rPr>
              <a:t>Prosecutors are nearly invisible in it</a:t>
            </a:r>
            <a:endParaRPr lang="en-US" sz="1650" dirty="0"/>
          </a:p>
        </p:txBody>
      </p:sp>
      <p:sp>
        <p:nvSpPr>
          <p:cNvPr id="10" name="Text 8"/>
          <p:cNvSpPr/>
          <p:nvPr/>
        </p:nvSpPr>
        <p:spPr>
          <a:xfrm>
            <a:off x="1188720" y="3483864"/>
            <a:ext cx="5120640" cy="868680"/>
          </a:xfrm>
          <a:prstGeom prst="rect">
            <a:avLst/>
          </a:prstGeom>
          <a:noFill/>
          <a:ln/>
        </p:spPr>
        <p:txBody>
          <a:bodyPr wrap="square" lIns="0" tIns="0" rIns="0" bIns="0" rtlCol="0" anchor="t"/>
          <a:lstStyle/>
          <a:p>
            <a:pPr marL="0" indent="0">
              <a:lnSpc>
                <a:spcPct val="112000"/>
              </a:lnSpc>
              <a:buNone/>
            </a:pPr>
            <a:r>
              <a:rPr lang="en-US" sz="1300" dirty="0">
                <a:solidFill>
                  <a:srgbClr val="3F4757"/>
                </a:solidFill>
                <a:latin typeface="Calibri" pitchFamily="34" charset="0"/>
                <a:ea typeface="Calibri" pitchFamily="34" charset="-122"/>
                <a:cs typeface="Calibri" pitchFamily="34" charset="-120"/>
              </a:rPr>
              <a:t>In this corpus, 82 out of 100 crime articles mention the police. 15 mention the district attorney. So the little coverage they get does a lot of work.</a:t>
            </a:r>
            <a:endParaRPr lang="en-US" sz="1300" dirty="0"/>
          </a:p>
        </p:txBody>
      </p:sp>
      <p:sp>
        <p:nvSpPr>
          <p:cNvPr id="11" name="Shape 9"/>
          <p:cNvSpPr/>
          <p:nvPr/>
        </p:nvSpPr>
        <p:spPr>
          <a:xfrm>
            <a:off x="621792" y="4434840"/>
            <a:ext cx="384048" cy="384048"/>
          </a:xfrm>
          <a:prstGeom prst="ellipse">
            <a:avLst/>
          </a:prstGeom>
          <a:solidFill>
            <a:srgbClr val="A31621"/>
          </a:solidFill>
          <a:ln/>
        </p:spPr>
        <p:txBody>
          <a:bodyPr/>
          <a:lstStyle/>
          <a:p>
            <a:endParaRPr lang="en-US"/>
          </a:p>
        </p:txBody>
      </p:sp>
      <p:sp>
        <p:nvSpPr>
          <p:cNvPr id="12" name="Text 10"/>
          <p:cNvSpPr/>
          <p:nvPr/>
        </p:nvSpPr>
        <p:spPr>
          <a:xfrm>
            <a:off x="621792" y="4434840"/>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3" name="Text 11"/>
          <p:cNvSpPr/>
          <p:nvPr/>
        </p:nvSpPr>
        <p:spPr>
          <a:xfrm>
            <a:off x="1188720" y="4379976"/>
            <a:ext cx="5120640" cy="548640"/>
          </a:xfrm>
          <a:prstGeom prst="rect">
            <a:avLst/>
          </a:prstGeom>
          <a:noFill/>
          <a:ln/>
        </p:spPr>
        <p:txBody>
          <a:bodyPr wrap="square" lIns="0" tIns="0" rIns="0" bIns="0" rtlCol="0" anchor="t"/>
          <a:lstStyle/>
          <a:p>
            <a:pPr marL="0" indent="0">
              <a:lnSpc>
                <a:spcPct val="105000"/>
              </a:lnSpc>
              <a:buNone/>
            </a:pPr>
            <a:r>
              <a:rPr lang="en-US" sz="1650" b="1" dirty="0">
                <a:solidFill>
                  <a:srgbClr val="2B3A55"/>
                </a:solidFill>
                <a:latin typeface="Calibri" pitchFamily="34" charset="0"/>
                <a:ea typeface="Calibri" pitchFamily="34" charset="-122"/>
                <a:cs typeface="Calibri" pitchFamily="34" charset="-120"/>
              </a:rPr>
              <a:t>And now it can be checked</a:t>
            </a:r>
            <a:endParaRPr lang="en-US" sz="1650" dirty="0"/>
          </a:p>
        </p:txBody>
      </p:sp>
      <p:sp>
        <p:nvSpPr>
          <p:cNvPr id="14" name="Text 12"/>
          <p:cNvSpPr/>
          <p:nvPr/>
        </p:nvSpPr>
        <p:spPr>
          <a:xfrm>
            <a:off x="1188720" y="4965192"/>
            <a:ext cx="5120640" cy="868680"/>
          </a:xfrm>
          <a:prstGeom prst="rect">
            <a:avLst/>
          </a:prstGeom>
          <a:noFill/>
          <a:ln/>
        </p:spPr>
        <p:txBody>
          <a:bodyPr wrap="square" lIns="0" tIns="0" rIns="0" bIns="0" rtlCol="0" anchor="t"/>
          <a:lstStyle/>
          <a:p>
            <a:pPr marL="0" indent="0">
              <a:lnSpc>
                <a:spcPct val="112000"/>
              </a:lnSpc>
              <a:buNone/>
            </a:pPr>
            <a:r>
              <a:rPr lang="en-US" sz="1300" dirty="0">
                <a:solidFill>
                  <a:srgbClr val="3F4757"/>
                </a:solidFill>
                <a:latin typeface="Calibri" pitchFamily="34" charset="0"/>
                <a:ea typeface="Calibri" pitchFamily="34" charset="-122"/>
                <a:cs typeface="Calibri" pitchFamily="34" charset="-120"/>
              </a:rPr>
              <a:t>Six years of local reporting can be sorted by a single person using the right tools.</a:t>
            </a:r>
            <a:endParaRPr lang="en-US" sz="1300" dirty="0"/>
          </a:p>
        </p:txBody>
      </p:sp>
      <p:sp>
        <p:nvSpPr>
          <p:cNvPr id="15" name="Shape 13"/>
          <p:cNvSpPr/>
          <p:nvPr/>
        </p:nvSpPr>
        <p:spPr>
          <a:xfrm>
            <a:off x="6720840" y="1417320"/>
            <a:ext cx="4846320" cy="4023360"/>
          </a:xfrm>
          <a:prstGeom prst="roundRect">
            <a:avLst>
              <a:gd name="adj" fmla="val 1591"/>
            </a:avLst>
          </a:prstGeom>
          <a:solidFill>
            <a:srgbClr val="F4F5F7"/>
          </a:solidFill>
          <a:ln/>
          <a:effectLst>
            <a:outerShdw blurRad="101600" dist="25400" dir="5400000" algn="bl" rotWithShape="0">
              <a:srgbClr val="9AA1AE">
                <a:alpha val="22000"/>
              </a:srgbClr>
            </a:outerShdw>
          </a:effectLst>
        </p:spPr>
        <p:txBody>
          <a:bodyPr/>
          <a:lstStyle/>
          <a:p>
            <a:endParaRPr lang="en-US"/>
          </a:p>
        </p:txBody>
      </p:sp>
      <p:sp>
        <p:nvSpPr>
          <p:cNvPr id="16" name="Text 14"/>
          <p:cNvSpPr/>
          <p:nvPr/>
        </p:nvSpPr>
        <p:spPr>
          <a:xfrm>
            <a:off x="7040880" y="1645920"/>
            <a:ext cx="4206240" cy="274320"/>
          </a:xfrm>
          <a:prstGeom prst="rect">
            <a:avLst/>
          </a:prstGeom>
          <a:noFill/>
          <a:ln/>
        </p:spPr>
        <p:txBody>
          <a:bodyPr wrap="square" lIns="0" tIns="0" rIns="0" bIns="0" rtlCol="0" anchor="ctr"/>
          <a:lstStyle/>
          <a:p>
            <a:pPr marL="0" indent="0">
              <a:buNone/>
            </a:pPr>
            <a:r>
              <a:rPr lang="en-US" sz="1050" b="1" kern="0" spc="180" dirty="0">
                <a:solidFill>
                  <a:srgbClr val="6B7280"/>
                </a:solidFill>
                <a:latin typeface="Calibri" pitchFamily="34" charset="0"/>
                <a:ea typeface="Calibri" pitchFamily="34" charset="-122"/>
                <a:cs typeface="Calibri" pitchFamily="34" charset="-120"/>
              </a:rPr>
              <a:t>WHO GETS WRITTEN ABOUT</a:t>
            </a:r>
            <a:endParaRPr lang="en-US" sz="1050" dirty="0"/>
          </a:p>
        </p:txBody>
      </p:sp>
      <p:sp>
        <p:nvSpPr>
          <p:cNvPr id="17" name="Text 15"/>
          <p:cNvSpPr/>
          <p:nvPr/>
        </p:nvSpPr>
        <p:spPr>
          <a:xfrm>
            <a:off x="7040880" y="2011680"/>
            <a:ext cx="4206240" cy="914400"/>
          </a:xfrm>
          <a:prstGeom prst="rect">
            <a:avLst/>
          </a:prstGeom>
          <a:noFill/>
          <a:ln/>
        </p:spPr>
        <p:txBody>
          <a:bodyPr wrap="square" lIns="0" tIns="0" rIns="0" bIns="0" rtlCol="0" anchor="ctr"/>
          <a:lstStyle/>
          <a:p>
            <a:pPr marL="0" indent="0">
              <a:buNone/>
            </a:pPr>
            <a:r>
              <a:rPr lang="en-US" sz="6600" b="1" dirty="0">
                <a:solidFill>
                  <a:srgbClr val="2B3A55"/>
                </a:solidFill>
                <a:latin typeface="Cambria" pitchFamily="34" charset="0"/>
                <a:ea typeface="Cambria" pitchFamily="34" charset="-122"/>
                <a:cs typeface="Cambria" pitchFamily="34" charset="-120"/>
              </a:rPr>
              <a:t>82%</a:t>
            </a:r>
            <a:endParaRPr lang="en-US" sz="6600" dirty="0"/>
          </a:p>
        </p:txBody>
      </p:sp>
      <p:sp>
        <p:nvSpPr>
          <p:cNvPr id="18" name="Text 16"/>
          <p:cNvSpPr/>
          <p:nvPr/>
        </p:nvSpPr>
        <p:spPr>
          <a:xfrm>
            <a:off x="7040880" y="2907792"/>
            <a:ext cx="4206240" cy="292608"/>
          </a:xfrm>
          <a:prstGeom prst="rect">
            <a:avLst/>
          </a:prstGeom>
          <a:noFill/>
          <a:ln/>
        </p:spPr>
        <p:txBody>
          <a:bodyPr wrap="square" lIns="0" tIns="0" rIns="0" bIns="0" rtlCol="0" anchor="ctr"/>
          <a:lstStyle/>
          <a:p>
            <a:pPr marL="0" indent="0">
              <a:buNone/>
            </a:pPr>
            <a:r>
              <a:rPr lang="en-US" sz="1300" dirty="0">
                <a:solidFill>
                  <a:srgbClr val="3F4757"/>
                </a:solidFill>
                <a:latin typeface="Calibri" pitchFamily="34" charset="0"/>
                <a:ea typeface="Calibri" pitchFamily="34" charset="-122"/>
                <a:cs typeface="Calibri" pitchFamily="34" charset="-120"/>
              </a:rPr>
              <a:t>of crime articles mention the police</a:t>
            </a:r>
            <a:endParaRPr lang="en-US" sz="1300" dirty="0"/>
          </a:p>
        </p:txBody>
      </p:sp>
      <p:sp>
        <p:nvSpPr>
          <p:cNvPr id="19" name="Text 17"/>
          <p:cNvSpPr/>
          <p:nvPr/>
        </p:nvSpPr>
        <p:spPr>
          <a:xfrm>
            <a:off x="7040880" y="3429000"/>
            <a:ext cx="4206240" cy="914400"/>
          </a:xfrm>
          <a:prstGeom prst="rect">
            <a:avLst/>
          </a:prstGeom>
          <a:noFill/>
          <a:ln/>
        </p:spPr>
        <p:txBody>
          <a:bodyPr wrap="square" lIns="0" tIns="0" rIns="0" bIns="0" rtlCol="0" anchor="ctr"/>
          <a:lstStyle/>
          <a:p>
            <a:pPr marL="0" indent="0">
              <a:buNone/>
            </a:pPr>
            <a:r>
              <a:rPr lang="en-US" sz="6600" b="1" dirty="0">
                <a:solidFill>
                  <a:srgbClr val="A31621"/>
                </a:solidFill>
                <a:latin typeface="Cambria" pitchFamily="34" charset="0"/>
                <a:ea typeface="Cambria" pitchFamily="34" charset="-122"/>
                <a:cs typeface="Cambria" pitchFamily="34" charset="-120"/>
              </a:rPr>
              <a:t>15%</a:t>
            </a:r>
            <a:endParaRPr lang="en-US" sz="6600" dirty="0"/>
          </a:p>
        </p:txBody>
      </p:sp>
      <p:sp>
        <p:nvSpPr>
          <p:cNvPr id="20" name="Text 18"/>
          <p:cNvSpPr/>
          <p:nvPr/>
        </p:nvSpPr>
        <p:spPr>
          <a:xfrm>
            <a:off x="7040880" y="4325112"/>
            <a:ext cx="4206240" cy="292608"/>
          </a:xfrm>
          <a:prstGeom prst="rect">
            <a:avLst/>
          </a:prstGeom>
          <a:noFill/>
          <a:ln/>
        </p:spPr>
        <p:txBody>
          <a:bodyPr wrap="square" lIns="0" tIns="0" rIns="0" bIns="0" rtlCol="0" anchor="ctr"/>
          <a:lstStyle/>
          <a:p>
            <a:pPr marL="0" indent="0">
              <a:buNone/>
            </a:pPr>
            <a:r>
              <a:rPr lang="en-US" sz="1300" dirty="0">
                <a:solidFill>
                  <a:srgbClr val="3F4757"/>
                </a:solidFill>
                <a:latin typeface="Calibri" pitchFamily="34" charset="0"/>
                <a:ea typeface="Calibri" pitchFamily="34" charset="-122"/>
                <a:cs typeface="Calibri" pitchFamily="34" charset="-120"/>
              </a:rPr>
              <a:t>mention the district attorney</a:t>
            </a:r>
            <a:endParaRPr lang="en-US" sz="1300" dirty="0"/>
          </a:p>
        </p:txBody>
      </p:sp>
      <p:sp>
        <p:nvSpPr>
          <p:cNvPr id="21" name="Text 19"/>
          <p:cNvSpPr/>
          <p:nvPr/>
        </p:nvSpPr>
        <p:spPr>
          <a:xfrm>
            <a:off x="7040880" y="4709160"/>
            <a:ext cx="4206240" cy="594360"/>
          </a:xfrm>
          <a:prstGeom prst="rect">
            <a:avLst/>
          </a:prstGeom>
          <a:noFill/>
          <a:ln/>
        </p:spPr>
        <p:txBody>
          <a:bodyPr wrap="square" lIns="0" tIns="0" rIns="0" bIns="0" rtlCol="0" anchor="t"/>
          <a:lstStyle/>
          <a:p>
            <a:pPr marL="0" indent="0">
              <a:lnSpc>
                <a:spcPct val="110000"/>
              </a:lnSpc>
              <a:buNone/>
            </a:pPr>
            <a:r>
              <a:rPr lang="en-US" sz="1150" i="1" dirty="0">
                <a:solidFill>
                  <a:srgbClr val="6B7280"/>
                </a:solidFill>
                <a:latin typeface="Calibri" pitchFamily="34" charset="0"/>
                <a:ea typeface="Calibri" pitchFamily="34" charset="-122"/>
                <a:cs typeface="Calibri" pitchFamily="34" charset="-120"/>
              </a:rPr>
              <a:t>The most powerful actor in the system is close to absent from the reporting about it.</a:t>
            </a:r>
            <a:endParaRPr lang="en-US" sz="1150" dirty="0"/>
          </a:p>
        </p:txBody>
      </p:sp>
      <p:sp>
        <p:nvSpPr>
          <p:cNvPr id="22" name="Text 20"/>
          <p:cNvSpPr/>
          <p:nvPr/>
        </p:nvSpPr>
        <p:spPr>
          <a:xfrm>
            <a:off x="594360" y="6355080"/>
            <a:ext cx="10972800" cy="274320"/>
          </a:xfrm>
          <a:prstGeom prst="rect">
            <a:avLst/>
          </a:prstGeom>
          <a:noFill/>
          <a:ln/>
        </p:spPr>
        <p:txBody>
          <a:bodyPr wrap="square" lIns="0" tIns="0" rIns="0" bIns="0" rtlCol="0" anchor="ctr"/>
          <a:lstStyle/>
          <a:p>
            <a:pPr marL="0" indent="0" algn="l">
              <a:buNone/>
            </a:pPr>
            <a:r>
              <a:rPr lang="en-US" sz="950" i="1" dirty="0">
                <a:solidFill>
                  <a:srgbClr val="6B7280"/>
                </a:solidFill>
                <a:latin typeface="Calibri" pitchFamily="34" charset="0"/>
                <a:ea typeface="Calibri" pitchFamily="34" charset="-122"/>
                <a:cs typeface="Calibri" pitchFamily="34" charset="-120"/>
              </a:rPr>
              <a:t>Corpus: 12,827 prosecutor-attributed Bay Area articles, 2019-2024.</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94360" y="329184"/>
            <a:ext cx="10972800" cy="658368"/>
          </a:xfrm>
          <a:prstGeom prst="rect">
            <a:avLst/>
          </a:prstGeom>
          <a:noFill/>
          <a:ln/>
        </p:spPr>
        <p:txBody>
          <a:bodyPr wrap="square" lIns="0" tIns="0" rIns="0" bIns="0" rtlCol="0" anchor="ctr"/>
          <a:lstStyle/>
          <a:p>
            <a:pPr marL="0" indent="0" algn="l">
              <a:buNone/>
            </a:pPr>
            <a:r>
              <a:rPr lang="en-US" sz="3400" b="1" dirty="0">
                <a:solidFill>
                  <a:srgbClr val="14161F"/>
                </a:solidFill>
                <a:latin typeface="Cambria" pitchFamily="34" charset="0"/>
                <a:ea typeface="Cambria" pitchFamily="34" charset="-122"/>
                <a:cs typeface="Cambria" pitchFamily="34" charset="-120"/>
              </a:rPr>
              <a:t>What we did</a:t>
            </a:r>
            <a:endParaRPr lang="en-US" sz="3400" dirty="0"/>
          </a:p>
        </p:txBody>
      </p:sp>
      <p:sp>
        <p:nvSpPr>
          <p:cNvPr id="3" name="Shape 1"/>
          <p:cNvSpPr/>
          <p:nvPr/>
        </p:nvSpPr>
        <p:spPr>
          <a:xfrm>
            <a:off x="594360" y="1325880"/>
            <a:ext cx="3429000" cy="1874520"/>
          </a:xfrm>
          <a:prstGeom prst="roundRect">
            <a:avLst>
              <a:gd name="adj" fmla="val 3415"/>
            </a:avLst>
          </a:prstGeom>
          <a:solidFill>
            <a:srgbClr val="F4F5F7"/>
          </a:solidFill>
          <a:ln/>
          <a:effectLst>
            <a:outerShdw blurRad="101600" dist="25400" dir="5400000" algn="bl" rotWithShape="0">
              <a:srgbClr val="9AA1AE">
                <a:alpha val="22000"/>
              </a:srgbClr>
            </a:outerShdw>
          </a:effectLst>
        </p:spPr>
        <p:txBody>
          <a:bodyPr/>
          <a:lstStyle/>
          <a:p>
            <a:endParaRPr lang="en-US"/>
          </a:p>
        </p:txBody>
      </p:sp>
      <p:sp>
        <p:nvSpPr>
          <p:cNvPr id="4" name="Text 2"/>
          <p:cNvSpPr/>
          <p:nvPr/>
        </p:nvSpPr>
        <p:spPr>
          <a:xfrm>
            <a:off x="868680" y="1463040"/>
            <a:ext cx="2880360" cy="658368"/>
          </a:xfrm>
          <a:prstGeom prst="rect">
            <a:avLst/>
          </a:prstGeom>
          <a:noFill/>
          <a:ln/>
        </p:spPr>
        <p:txBody>
          <a:bodyPr wrap="square" lIns="0" tIns="0" rIns="0" bIns="0" rtlCol="0" anchor="ctr"/>
          <a:lstStyle/>
          <a:p>
            <a:pPr marL="0" indent="0">
              <a:buNone/>
            </a:pPr>
            <a:r>
              <a:rPr lang="en-US" sz="3600" b="1" dirty="0">
                <a:solidFill>
                  <a:srgbClr val="2B3A55"/>
                </a:solidFill>
                <a:latin typeface="Cambria" pitchFamily="34" charset="0"/>
                <a:ea typeface="Cambria" pitchFamily="34" charset="-122"/>
                <a:cs typeface="Cambria" pitchFamily="34" charset="-120"/>
              </a:rPr>
              <a:t>136,313</a:t>
            </a:r>
            <a:endParaRPr lang="en-US" sz="3600" dirty="0"/>
          </a:p>
        </p:txBody>
      </p:sp>
      <p:sp>
        <p:nvSpPr>
          <p:cNvPr id="5" name="Text 3"/>
          <p:cNvSpPr/>
          <p:nvPr/>
        </p:nvSpPr>
        <p:spPr>
          <a:xfrm>
            <a:off x="868680" y="2121408"/>
            <a:ext cx="2880360" cy="256032"/>
          </a:xfrm>
          <a:prstGeom prst="rect">
            <a:avLst/>
          </a:prstGeom>
          <a:noFill/>
          <a:ln/>
        </p:spPr>
        <p:txBody>
          <a:bodyPr wrap="square" lIns="0" tIns="0" rIns="0" bIns="0" rtlCol="0" anchor="ctr"/>
          <a:lstStyle/>
          <a:p>
            <a:pPr marL="0" indent="0">
              <a:buNone/>
            </a:pPr>
            <a:r>
              <a:rPr lang="en-US" sz="1300" b="1" dirty="0">
                <a:solidFill>
                  <a:srgbClr val="2B3A55"/>
                </a:solidFill>
                <a:latin typeface="Calibri" pitchFamily="34" charset="0"/>
                <a:ea typeface="Calibri" pitchFamily="34" charset="-122"/>
                <a:cs typeface="Calibri" pitchFamily="34" charset="-120"/>
              </a:rPr>
              <a:t>articles collected</a:t>
            </a:r>
            <a:endParaRPr lang="en-US" sz="1300" dirty="0"/>
          </a:p>
        </p:txBody>
      </p:sp>
      <p:sp>
        <p:nvSpPr>
          <p:cNvPr id="6" name="Text 4"/>
          <p:cNvSpPr/>
          <p:nvPr/>
        </p:nvSpPr>
        <p:spPr>
          <a:xfrm>
            <a:off x="868680" y="2395728"/>
            <a:ext cx="2880360" cy="713232"/>
          </a:xfrm>
          <a:prstGeom prst="rect">
            <a:avLst/>
          </a:prstGeom>
          <a:noFill/>
          <a:ln/>
        </p:spPr>
        <p:txBody>
          <a:bodyPr wrap="square" lIns="0" tIns="0" rIns="0" bIns="0" rtlCol="0" anchor="t"/>
          <a:lstStyle/>
          <a:p>
            <a:pPr marL="0" indent="0">
              <a:lnSpc>
                <a:spcPct val="108000"/>
              </a:lnSpc>
              <a:buNone/>
            </a:pPr>
            <a:r>
              <a:rPr lang="en-US" sz="1050" dirty="0">
                <a:solidFill>
                  <a:srgbClr val="6B7280"/>
                </a:solidFill>
                <a:latin typeface="Calibri" pitchFamily="34" charset="0"/>
                <a:ea typeface="Calibri" pitchFamily="34" charset="-122"/>
                <a:cs typeface="Calibri" pitchFamily="34" charset="-120"/>
              </a:rPr>
              <a:t>Every Bay Area news story touching crime or justice, Jan 2019 - Dec 2024, from 21 outlets</a:t>
            </a:r>
            <a:endParaRPr lang="en-US" sz="1050" dirty="0"/>
          </a:p>
        </p:txBody>
      </p:sp>
      <p:sp>
        <p:nvSpPr>
          <p:cNvPr id="7" name="Text 5"/>
          <p:cNvSpPr/>
          <p:nvPr/>
        </p:nvSpPr>
        <p:spPr>
          <a:xfrm>
            <a:off x="4050792" y="1325880"/>
            <a:ext cx="457200" cy="1874520"/>
          </a:xfrm>
          <a:prstGeom prst="rect">
            <a:avLst/>
          </a:prstGeom>
          <a:noFill/>
          <a:ln/>
        </p:spPr>
        <p:txBody>
          <a:bodyPr wrap="square" lIns="0" tIns="0" rIns="0" bIns="0" rtlCol="0" anchor="ctr"/>
          <a:lstStyle/>
          <a:p>
            <a:pPr marL="0" indent="0" algn="ctr">
              <a:buNone/>
            </a:pPr>
            <a:r>
              <a:rPr lang="en-US" sz="2600" b="1" dirty="0">
                <a:solidFill>
                  <a:srgbClr val="9AA1AE"/>
                </a:solidFill>
                <a:latin typeface="Calibri" pitchFamily="34" charset="0"/>
                <a:ea typeface="Calibri" pitchFamily="34" charset="-122"/>
                <a:cs typeface="Calibri" pitchFamily="34" charset="-120"/>
              </a:rPr>
              <a:t>→</a:t>
            </a:r>
            <a:endParaRPr lang="en-US" sz="2600" dirty="0"/>
          </a:p>
        </p:txBody>
      </p:sp>
      <p:sp>
        <p:nvSpPr>
          <p:cNvPr id="8" name="Shape 6"/>
          <p:cNvSpPr/>
          <p:nvPr/>
        </p:nvSpPr>
        <p:spPr>
          <a:xfrm>
            <a:off x="4507992" y="1325880"/>
            <a:ext cx="3429000" cy="1874520"/>
          </a:xfrm>
          <a:prstGeom prst="roundRect">
            <a:avLst>
              <a:gd name="adj" fmla="val 3415"/>
            </a:avLst>
          </a:prstGeom>
          <a:solidFill>
            <a:srgbClr val="F4F5F7"/>
          </a:solidFill>
          <a:ln/>
          <a:effectLst>
            <a:outerShdw blurRad="101600" dist="25400" dir="5400000" algn="bl" rotWithShape="0">
              <a:srgbClr val="9AA1AE">
                <a:alpha val="22000"/>
              </a:srgbClr>
            </a:outerShdw>
          </a:effectLst>
        </p:spPr>
        <p:txBody>
          <a:bodyPr/>
          <a:lstStyle/>
          <a:p>
            <a:endParaRPr lang="en-US"/>
          </a:p>
        </p:txBody>
      </p:sp>
      <p:sp>
        <p:nvSpPr>
          <p:cNvPr id="9" name="Text 7"/>
          <p:cNvSpPr/>
          <p:nvPr/>
        </p:nvSpPr>
        <p:spPr>
          <a:xfrm>
            <a:off x="4782312" y="1463040"/>
            <a:ext cx="2880360" cy="658368"/>
          </a:xfrm>
          <a:prstGeom prst="rect">
            <a:avLst/>
          </a:prstGeom>
          <a:noFill/>
          <a:ln/>
        </p:spPr>
        <p:txBody>
          <a:bodyPr wrap="square" lIns="0" tIns="0" rIns="0" bIns="0" rtlCol="0" anchor="ctr"/>
          <a:lstStyle/>
          <a:p>
            <a:pPr marL="0" indent="0">
              <a:buNone/>
            </a:pPr>
            <a:r>
              <a:rPr lang="en-US" sz="3600" b="1" dirty="0">
                <a:solidFill>
                  <a:srgbClr val="2B3A55"/>
                </a:solidFill>
                <a:latin typeface="Cambria" pitchFamily="34" charset="0"/>
                <a:ea typeface="Cambria" pitchFamily="34" charset="-122"/>
                <a:cs typeface="Cambria" pitchFamily="34" charset="-120"/>
              </a:rPr>
              <a:t>12,827</a:t>
            </a:r>
            <a:endParaRPr lang="en-US" sz="3600" dirty="0"/>
          </a:p>
        </p:txBody>
      </p:sp>
      <p:sp>
        <p:nvSpPr>
          <p:cNvPr id="10" name="Text 8"/>
          <p:cNvSpPr/>
          <p:nvPr/>
        </p:nvSpPr>
        <p:spPr>
          <a:xfrm>
            <a:off x="4782312" y="2121408"/>
            <a:ext cx="2880360" cy="256032"/>
          </a:xfrm>
          <a:prstGeom prst="rect">
            <a:avLst/>
          </a:prstGeom>
          <a:noFill/>
          <a:ln/>
        </p:spPr>
        <p:txBody>
          <a:bodyPr wrap="square" lIns="0" tIns="0" rIns="0" bIns="0" rtlCol="0" anchor="ctr"/>
          <a:lstStyle/>
          <a:p>
            <a:pPr marL="0" indent="0">
              <a:buNone/>
            </a:pPr>
            <a:r>
              <a:rPr lang="en-US" sz="1300" b="1" dirty="0">
                <a:solidFill>
                  <a:srgbClr val="2B3A55"/>
                </a:solidFill>
                <a:latin typeface="Calibri" pitchFamily="34" charset="0"/>
                <a:ea typeface="Calibri" pitchFamily="34" charset="-122"/>
                <a:cs typeface="Calibri" pitchFamily="34" charset="-120"/>
              </a:rPr>
              <a:t>actually about a DA</a:t>
            </a:r>
            <a:endParaRPr lang="en-US" sz="1300" dirty="0"/>
          </a:p>
        </p:txBody>
      </p:sp>
      <p:sp>
        <p:nvSpPr>
          <p:cNvPr id="11" name="Text 9"/>
          <p:cNvSpPr/>
          <p:nvPr/>
        </p:nvSpPr>
        <p:spPr>
          <a:xfrm>
            <a:off x="4782312" y="2395728"/>
            <a:ext cx="2880360" cy="713232"/>
          </a:xfrm>
          <a:prstGeom prst="rect">
            <a:avLst/>
          </a:prstGeom>
          <a:noFill/>
          <a:ln/>
        </p:spPr>
        <p:txBody>
          <a:bodyPr wrap="square" lIns="0" tIns="0" rIns="0" bIns="0" rtlCol="0" anchor="t"/>
          <a:lstStyle/>
          <a:p>
            <a:pPr marL="0" indent="0">
              <a:lnSpc>
                <a:spcPct val="108000"/>
              </a:lnSpc>
              <a:buNone/>
            </a:pPr>
            <a:r>
              <a:rPr lang="en-US" sz="1050" dirty="0">
                <a:solidFill>
                  <a:srgbClr val="6B7280"/>
                </a:solidFill>
                <a:latin typeface="Calibri" pitchFamily="34" charset="0"/>
                <a:ea typeface="Calibri" pitchFamily="34" charset="-122"/>
                <a:cs typeface="Calibri" pitchFamily="34" charset="-120"/>
              </a:rPr>
              <a:t>The ones that name a specific district attorney often enough to be about them</a:t>
            </a:r>
            <a:endParaRPr lang="en-US" sz="1050" dirty="0"/>
          </a:p>
        </p:txBody>
      </p:sp>
      <p:sp>
        <p:nvSpPr>
          <p:cNvPr id="12" name="Text 10"/>
          <p:cNvSpPr/>
          <p:nvPr/>
        </p:nvSpPr>
        <p:spPr>
          <a:xfrm>
            <a:off x="7964424" y="1325880"/>
            <a:ext cx="457200" cy="1874520"/>
          </a:xfrm>
          <a:prstGeom prst="rect">
            <a:avLst/>
          </a:prstGeom>
          <a:noFill/>
          <a:ln/>
        </p:spPr>
        <p:txBody>
          <a:bodyPr wrap="square" lIns="0" tIns="0" rIns="0" bIns="0" rtlCol="0" anchor="ctr"/>
          <a:lstStyle/>
          <a:p>
            <a:pPr marL="0" indent="0" algn="ctr">
              <a:buNone/>
            </a:pPr>
            <a:r>
              <a:rPr lang="en-US" sz="2600" b="1" dirty="0">
                <a:solidFill>
                  <a:srgbClr val="9AA1AE"/>
                </a:solidFill>
                <a:latin typeface="Calibri" pitchFamily="34" charset="0"/>
                <a:ea typeface="Calibri" pitchFamily="34" charset="-122"/>
                <a:cs typeface="Calibri" pitchFamily="34" charset="-120"/>
              </a:rPr>
              <a:t>→</a:t>
            </a:r>
            <a:endParaRPr lang="en-US" sz="2600" dirty="0"/>
          </a:p>
        </p:txBody>
      </p:sp>
      <p:sp>
        <p:nvSpPr>
          <p:cNvPr id="13" name="Shape 11"/>
          <p:cNvSpPr/>
          <p:nvPr/>
        </p:nvSpPr>
        <p:spPr>
          <a:xfrm>
            <a:off x="8421624" y="1325880"/>
            <a:ext cx="3429000" cy="1874520"/>
          </a:xfrm>
          <a:prstGeom prst="roundRect">
            <a:avLst>
              <a:gd name="adj" fmla="val 3415"/>
            </a:avLst>
          </a:prstGeom>
          <a:solidFill>
            <a:srgbClr val="F4F5F7"/>
          </a:solidFill>
          <a:ln/>
          <a:effectLst>
            <a:outerShdw blurRad="101600" dist="25400" dir="5400000" algn="bl" rotWithShape="0">
              <a:srgbClr val="9AA1AE">
                <a:alpha val="22000"/>
              </a:srgbClr>
            </a:outerShdw>
          </a:effectLst>
        </p:spPr>
        <p:txBody>
          <a:bodyPr/>
          <a:lstStyle/>
          <a:p>
            <a:endParaRPr lang="en-US"/>
          </a:p>
        </p:txBody>
      </p:sp>
      <p:sp>
        <p:nvSpPr>
          <p:cNvPr id="14" name="Text 12"/>
          <p:cNvSpPr/>
          <p:nvPr/>
        </p:nvSpPr>
        <p:spPr>
          <a:xfrm>
            <a:off x="8695944" y="1463040"/>
            <a:ext cx="2880360" cy="658368"/>
          </a:xfrm>
          <a:prstGeom prst="rect">
            <a:avLst/>
          </a:prstGeom>
          <a:noFill/>
          <a:ln/>
        </p:spPr>
        <p:txBody>
          <a:bodyPr wrap="square" lIns="0" tIns="0" rIns="0" bIns="0" rtlCol="0" anchor="ctr"/>
          <a:lstStyle/>
          <a:p>
            <a:pPr marL="0" indent="0">
              <a:buNone/>
            </a:pPr>
            <a:r>
              <a:rPr lang="en-US" sz="3600" b="1" dirty="0">
                <a:solidFill>
                  <a:srgbClr val="A31621"/>
                </a:solidFill>
                <a:latin typeface="Cambria" pitchFamily="34" charset="0"/>
                <a:ea typeface="Cambria" pitchFamily="34" charset="-122"/>
                <a:cs typeface="Cambria" pitchFamily="34" charset="-120"/>
              </a:rPr>
              <a:t>4 + 1</a:t>
            </a:r>
            <a:endParaRPr lang="en-US" sz="3600" dirty="0"/>
          </a:p>
        </p:txBody>
      </p:sp>
      <p:sp>
        <p:nvSpPr>
          <p:cNvPr id="15" name="Text 13"/>
          <p:cNvSpPr/>
          <p:nvPr/>
        </p:nvSpPr>
        <p:spPr>
          <a:xfrm>
            <a:off x="8695944" y="2121408"/>
            <a:ext cx="2880360" cy="256032"/>
          </a:xfrm>
          <a:prstGeom prst="rect">
            <a:avLst/>
          </a:prstGeom>
          <a:noFill/>
          <a:ln/>
        </p:spPr>
        <p:txBody>
          <a:bodyPr wrap="square" lIns="0" tIns="0" rIns="0" bIns="0" rtlCol="0" anchor="ctr"/>
          <a:lstStyle/>
          <a:p>
            <a:pPr marL="0" indent="0">
              <a:buNone/>
            </a:pPr>
            <a:r>
              <a:rPr lang="en-US" sz="1300" b="1" dirty="0">
                <a:solidFill>
                  <a:srgbClr val="2B3A55"/>
                </a:solidFill>
                <a:latin typeface="Calibri" pitchFamily="34" charset="0"/>
                <a:ea typeface="Calibri" pitchFamily="34" charset="-122"/>
                <a:cs typeface="Calibri" pitchFamily="34" charset="-120"/>
              </a:rPr>
              <a:t>ways of reading them</a:t>
            </a:r>
            <a:endParaRPr lang="en-US" sz="1300" dirty="0"/>
          </a:p>
        </p:txBody>
      </p:sp>
      <p:sp>
        <p:nvSpPr>
          <p:cNvPr id="16" name="Text 14"/>
          <p:cNvSpPr/>
          <p:nvPr/>
        </p:nvSpPr>
        <p:spPr>
          <a:xfrm>
            <a:off x="8695944" y="2395728"/>
            <a:ext cx="2880360" cy="713232"/>
          </a:xfrm>
          <a:prstGeom prst="rect">
            <a:avLst/>
          </a:prstGeom>
          <a:noFill/>
          <a:ln/>
        </p:spPr>
        <p:txBody>
          <a:bodyPr wrap="square" lIns="0" tIns="0" rIns="0" bIns="0" rtlCol="0" anchor="t"/>
          <a:lstStyle/>
          <a:p>
            <a:pPr marL="0" indent="0">
              <a:lnSpc>
                <a:spcPct val="108000"/>
              </a:lnSpc>
              <a:buNone/>
            </a:pPr>
            <a:r>
              <a:rPr lang="en-US" sz="1050" dirty="0">
                <a:solidFill>
                  <a:srgbClr val="6B7280"/>
                </a:solidFill>
                <a:latin typeface="Calibri" pitchFamily="34" charset="0"/>
                <a:ea typeface="Calibri" pitchFamily="34" charset="-122"/>
                <a:cs typeface="Calibri" pitchFamily="34" charset="-120"/>
              </a:rPr>
              <a:t>Four automated readings of every article, plus a person hand-checking samples</a:t>
            </a:r>
            <a:endParaRPr lang="en-US" sz="1050" dirty="0"/>
          </a:p>
        </p:txBody>
      </p:sp>
      <p:sp>
        <p:nvSpPr>
          <p:cNvPr id="17" name="Text 15"/>
          <p:cNvSpPr/>
          <p:nvPr/>
        </p:nvSpPr>
        <p:spPr>
          <a:xfrm>
            <a:off x="594360" y="3383280"/>
            <a:ext cx="6675120" cy="320040"/>
          </a:xfrm>
          <a:prstGeom prst="rect">
            <a:avLst/>
          </a:prstGeom>
          <a:noFill/>
          <a:ln/>
        </p:spPr>
        <p:txBody>
          <a:bodyPr wrap="square" lIns="0" tIns="0" rIns="0" bIns="0" rtlCol="0" anchor="ctr"/>
          <a:lstStyle/>
          <a:p>
            <a:pPr marL="0" indent="0">
              <a:buNone/>
            </a:pPr>
            <a:r>
              <a:rPr lang="en-US" sz="1400" b="1" dirty="0">
                <a:solidFill>
                  <a:srgbClr val="2B3A55"/>
                </a:solidFill>
                <a:latin typeface="Calibri" pitchFamily="34" charset="0"/>
                <a:ea typeface="Calibri" pitchFamily="34" charset="-122"/>
                <a:cs typeface="Calibri" pitchFamily="34" charset="-120"/>
              </a:rPr>
              <a:t>The five prosecutors</a:t>
            </a:r>
            <a:endParaRPr lang="en-US" sz="14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94360" y="3749040"/>
          <a:ext cx="6675120" cy="1810512"/>
        </p:xfrm>
        <a:graphic>
          <a:graphicData uri="http://schemas.openxmlformats.org/drawingml/2006/table">
            <a:tbl>
              <a:tblPr/>
              <a:tblGrid>
                <a:gridCol w="2194560">
                  <a:extLst>
                    <a:ext uri="{9D8B030D-6E8A-4147-A177-3AD203B41FA5}">
                      <a16:colId xmlns:a16="http://schemas.microsoft.com/office/drawing/2014/main" val="20000"/>
                    </a:ext>
                  </a:extLst>
                </a:gridCol>
                <a:gridCol w="1691640">
                  <a:extLst>
                    <a:ext uri="{9D8B030D-6E8A-4147-A177-3AD203B41FA5}">
                      <a16:colId xmlns:a16="http://schemas.microsoft.com/office/drawing/2014/main" val="20001"/>
                    </a:ext>
                  </a:extLst>
                </a:gridCol>
                <a:gridCol w="1600200">
                  <a:extLst>
                    <a:ext uri="{9D8B030D-6E8A-4147-A177-3AD203B41FA5}">
                      <a16:colId xmlns:a16="http://schemas.microsoft.com/office/drawing/2014/main" val="20002"/>
                    </a:ext>
                  </a:extLst>
                </a:gridCol>
                <a:gridCol w="1188720">
                  <a:extLst>
                    <a:ext uri="{9D8B030D-6E8A-4147-A177-3AD203B41FA5}">
                      <a16:colId xmlns:a16="http://schemas.microsoft.com/office/drawing/2014/main" val="20003"/>
                    </a:ext>
                  </a:extLst>
                </a:gridCol>
              </a:tblGrid>
              <a:tr h="301752">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Prosecutor</a:t>
                      </a:r>
                      <a:endParaRPr lang="en-US" sz="1200" dirty="0">
                        <a:latin typeface="Calibri" charset="0"/>
                        <a:ea typeface="Calibri" charset="0"/>
                        <a:cs typeface="Calibri" charset="0"/>
                      </a:endParaRPr>
                    </a:p>
                  </a:txBody>
                  <a:tcPr marT="36576" marB="36576" anchor="ctr">
                    <a:lnL w="12700" cap="flat" cmpd="sng" algn="ctr">
                      <a:solidFill>
                        <a:srgbClr val="E3E6EC"/>
                      </a:solidFill>
                      <a:prstDash val="solid"/>
                      <a:round/>
                      <a:headEnd type="none" w="med" len="med"/>
                      <a:tailEnd type="none" w="med" len="med"/>
                    </a:lnL>
                    <a:lnR w="12700" cap="flat" cmpd="sng" algn="ctr">
                      <a:solidFill>
                        <a:srgbClr val="E3E6EC"/>
                      </a:solidFill>
                      <a:prstDash val="solid"/>
                      <a:round/>
                      <a:headEnd type="none" w="med" len="med"/>
                      <a:tailEnd type="none" w="med" len="med"/>
                    </a:lnR>
                    <a:lnT w="12700" cap="flat" cmpd="sng" algn="ctr">
                      <a:solidFill>
                        <a:srgbClr val="E3E6EC"/>
                      </a:solidFill>
                      <a:prstDash val="solid"/>
                      <a:round/>
                      <a:headEnd type="none" w="med" len="med"/>
                      <a:tailEnd type="none" w="med" len="med"/>
                    </a:lnT>
                    <a:lnB w="12700" cap="flat" cmpd="sng" algn="ctr">
                      <a:solidFill>
                        <a:srgbClr val="E3E6EC"/>
                      </a:solidFill>
                      <a:prstDash val="solid"/>
                      <a:round/>
                      <a:headEnd type="none" w="med" len="med"/>
                      <a:tailEnd type="none" w="med" len="med"/>
                    </a:lnB>
                    <a:solidFill>
                      <a:srgbClr val="2B3A5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County</a:t>
                      </a:r>
                      <a:endParaRPr lang="en-US" sz="1200" dirty="0">
                        <a:latin typeface="Calibri" charset="0"/>
                        <a:ea typeface="Calibri" charset="0"/>
                        <a:cs typeface="Calibri" charset="0"/>
                      </a:endParaRPr>
                    </a:p>
                  </a:txBody>
                  <a:tcPr marT="36576" marB="36576" anchor="ctr">
                    <a:lnL w="12700" cap="flat" cmpd="sng" algn="ctr">
                      <a:solidFill>
                        <a:srgbClr val="E3E6EC"/>
                      </a:solidFill>
                      <a:prstDash val="solid"/>
                      <a:round/>
                      <a:headEnd type="none" w="med" len="med"/>
                      <a:tailEnd type="none" w="med" len="med"/>
                    </a:lnL>
                    <a:lnR w="12700" cap="flat" cmpd="sng" algn="ctr">
                      <a:solidFill>
                        <a:srgbClr val="E3E6EC"/>
                      </a:solidFill>
                      <a:prstDash val="solid"/>
                      <a:round/>
                      <a:headEnd type="none" w="med" len="med"/>
                      <a:tailEnd type="none" w="med" len="med"/>
                    </a:lnR>
                    <a:lnT w="12700" cap="flat" cmpd="sng" algn="ctr">
                      <a:solidFill>
                        <a:srgbClr val="E3E6EC"/>
                      </a:solidFill>
                      <a:prstDash val="solid"/>
                      <a:round/>
                      <a:headEnd type="none" w="med" len="med"/>
                      <a:tailEnd type="none" w="med" len="med"/>
                    </a:lnT>
                    <a:lnB w="12700" cap="flat" cmpd="sng" algn="ctr">
                      <a:solidFill>
                        <a:srgbClr val="E3E6EC"/>
                      </a:solidFill>
                      <a:prstDash val="solid"/>
                      <a:round/>
                      <a:headEnd type="none" w="med" len="med"/>
                      <a:tailEnd type="none" w="med" len="med"/>
                    </a:lnB>
                    <a:solidFill>
                      <a:srgbClr val="2B3A5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Type</a:t>
                      </a:r>
                      <a:endParaRPr lang="en-US" sz="1200" dirty="0">
                        <a:latin typeface="Calibri" charset="0"/>
                        <a:ea typeface="Calibri" charset="0"/>
                        <a:cs typeface="Calibri" charset="0"/>
                      </a:endParaRPr>
                    </a:p>
                  </a:txBody>
                  <a:tcPr marT="36576" marB="36576" anchor="ctr">
                    <a:lnL w="12700" cap="flat" cmpd="sng" algn="ctr">
                      <a:solidFill>
                        <a:srgbClr val="E3E6EC"/>
                      </a:solidFill>
                      <a:prstDash val="solid"/>
                      <a:round/>
                      <a:headEnd type="none" w="med" len="med"/>
                      <a:tailEnd type="none" w="med" len="med"/>
                    </a:lnL>
                    <a:lnR w="12700" cap="flat" cmpd="sng" algn="ctr">
                      <a:solidFill>
                        <a:srgbClr val="E3E6EC"/>
                      </a:solidFill>
                      <a:prstDash val="solid"/>
                      <a:round/>
                      <a:headEnd type="none" w="med" len="med"/>
                      <a:tailEnd type="none" w="med" len="med"/>
                    </a:lnR>
                    <a:lnT w="12700" cap="flat" cmpd="sng" algn="ctr">
                      <a:solidFill>
                        <a:srgbClr val="E3E6EC"/>
                      </a:solidFill>
                      <a:prstDash val="solid"/>
                      <a:round/>
                      <a:headEnd type="none" w="med" len="med"/>
                      <a:tailEnd type="none" w="med" len="med"/>
                    </a:lnT>
                    <a:lnB w="12700" cap="flat" cmpd="sng" algn="ctr">
                      <a:solidFill>
                        <a:srgbClr val="E3E6EC"/>
                      </a:solidFill>
                      <a:prstDash val="solid"/>
                      <a:round/>
                      <a:headEnd type="none" w="med" len="med"/>
                      <a:tailEnd type="none" w="med" len="med"/>
                    </a:lnB>
                    <a:solidFill>
                      <a:srgbClr val="2B3A55"/>
                    </a:solidFill>
                  </a:tcPr>
                </a:tc>
                <a:tc>
                  <a:txBody>
                    <a:bodyPr/>
                    <a:lstStyle/>
                    <a:p>
                      <a:pPr marL="0" indent="0" algn="r">
                        <a:buNone/>
                      </a:pPr>
                      <a:r>
                        <a:rPr lang="en-US" sz="1200" b="1" dirty="0">
                          <a:solidFill>
                            <a:srgbClr val="FFFFFF"/>
                          </a:solidFill>
                          <a:latin typeface="Calibri" pitchFamily="34" charset="0"/>
                          <a:ea typeface="Calibri" pitchFamily="34" charset="-122"/>
                          <a:cs typeface="Calibri" pitchFamily="34" charset="-120"/>
                        </a:rPr>
                        <a:t>Articles</a:t>
                      </a:r>
                      <a:endParaRPr lang="en-US" sz="1200" dirty="0">
                        <a:latin typeface="Calibri" charset="0"/>
                        <a:ea typeface="Calibri" charset="0"/>
                        <a:cs typeface="Calibri" charset="0"/>
                      </a:endParaRPr>
                    </a:p>
                  </a:txBody>
                  <a:tcPr marT="36576" marB="36576" anchor="ctr">
                    <a:lnL w="12700" cap="flat" cmpd="sng" algn="ctr">
                      <a:solidFill>
                        <a:srgbClr val="E3E6EC"/>
                      </a:solidFill>
                      <a:prstDash val="solid"/>
                      <a:round/>
                      <a:headEnd type="none" w="med" len="med"/>
                      <a:tailEnd type="none" w="med" len="med"/>
                    </a:lnL>
                    <a:lnR w="12700" cap="flat" cmpd="sng" algn="ctr">
                      <a:solidFill>
                        <a:srgbClr val="E3E6EC"/>
                      </a:solidFill>
                      <a:prstDash val="solid"/>
                      <a:round/>
                      <a:headEnd type="none" w="med" len="med"/>
                      <a:tailEnd type="none" w="med" len="med"/>
                    </a:lnR>
                    <a:lnT w="12700" cap="flat" cmpd="sng" algn="ctr">
                      <a:solidFill>
                        <a:srgbClr val="E3E6EC"/>
                      </a:solidFill>
                      <a:prstDash val="solid"/>
                      <a:round/>
                      <a:headEnd type="none" w="med" len="med"/>
                      <a:tailEnd type="none" w="med" len="med"/>
                    </a:lnT>
                    <a:lnB w="12700" cap="flat" cmpd="sng" algn="ctr">
                      <a:solidFill>
                        <a:srgbClr val="E3E6EC"/>
                      </a:solidFill>
                      <a:prstDash val="solid"/>
                      <a:round/>
                      <a:headEnd type="none" w="med" len="med"/>
                      <a:tailEnd type="none" w="med" len="med"/>
                    </a:lnB>
                    <a:solidFill>
                      <a:srgbClr val="2B3A55"/>
                    </a:solidFill>
                  </a:tcPr>
                </a:tc>
                <a:extLst>
                  <a:ext uri="{0D108BD9-81ED-4DB2-BD59-A6C34878D82A}">
                    <a16:rowId xmlns:a16="http://schemas.microsoft.com/office/drawing/2014/main" val="10000"/>
                  </a:ext>
                </a:extLst>
              </a:tr>
              <a:tr h="301752">
                <a:tc>
                  <a:txBody>
                    <a:bodyPr/>
                    <a:lstStyle/>
                    <a:p>
                      <a:pPr marL="0" indent="0">
                        <a:buNone/>
                      </a:pPr>
                      <a:r>
                        <a:rPr lang="en-US" sz="1200" dirty="0">
                          <a:solidFill>
                            <a:srgbClr val="3F4757"/>
                          </a:solidFill>
                          <a:latin typeface="Calibri" pitchFamily="34" charset="0"/>
                          <a:ea typeface="Calibri" pitchFamily="34" charset="-122"/>
                          <a:cs typeface="Calibri" pitchFamily="34" charset="-120"/>
                        </a:rPr>
                        <a:t>Chesa Boudin</a:t>
                      </a:r>
                      <a:endParaRPr lang="en-US" sz="1200" dirty="0">
                        <a:latin typeface="Calibri" charset="0"/>
                        <a:ea typeface="Calibri" charset="0"/>
                        <a:cs typeface="Calibri" charset="0"/>
                      </a:endParaRPr>
                    </a:p>
                  </a:txBody>
                  <a:tcPr marT="36576" marB="36576" anchor="ctr">
                    <a:lnL w="12700" cap="flat" cmpd="sng" algn="ctr">
                      <a:solidFill>
                        <a:srgbClr val="E3E6EC"/>
                      </a:solidFill>
                      <a:prstDash val="solid"/>
                      <a:round/>
                      <a:headEnd type="none" w="med" len="med"/>
                      <a:tailEnd type="none" w="med" len="med"/>
                    </a:lnL>
                    <a:lnR w="12700" cap="flat" cmpd="sng" algn="ctr">
                      <a:solidFill>
                        <a:srgbClr val="E3E6EC"/>
                      </a:solidFill>
                      <a:prstDash val="solid"/>
                      <a:round/>
                      <a:headEnd type="none" w="med" len="med"/>
                      <a:tailEnd type="none" w="med" len="med"/>
                    </a:lnR>
                    <a:lnT w="12700" cap="flat" cmpd="sng" algn="ctr">
                      <a:solidFill>
                        <a:srgbClr val="E3E6EC"/>
                      </a:solidFill>
                      <a:prstDash val="solid"/>
                      <a:round/>
                      <a:headEnd type="none" w="med" len="med"/>
                      <a:tailEnd type="none" w="med" len="med"/>
                    </a:lnT>
                    <a:lnB w="12700" cap="flat" cmpd="sng" algn="ctr">
                      <a:solidFill>
                        <a:srgbClr val="E3E6EC"/>
                      </a:solidFill>
                      <a:prstDash val="solid"/>
                      <a:round/>
                      <a:headEnd type="none" w="med" len="med"/>
                      <a:tailEnd type="none" w="med" len="med"/>
                    </a:lnB>
                    <a:solidFill>
                      <a:srgbClr val="FFFFFF"/>
                    </a:solidFill>
                  </a:tcPr>
                </a:tc>
                <a:tc>
                  <a:txBody>
                    <a:bodyPr/>
                    <a:lstStyle/>
                    <a:p>
                      <a:pPr marL="0" indent="0">
                        <a:buNone/>
                      </a:pPr>
                      <a:r>
                        <a:rPr lang="en-US" sz="1200" dirty="0">
                          <a:solidFill>
                            <a:srgbClr val="3F4757"/>
                          </a:solidFill>
                          <a:latin typeface="Calibri" pitchFamily="34" charset="0"/>
                          <a:ea typeface="Calibri" pitchFamily="34" charset="-122"/>
                          <a:cs typeface="Calibri" pitchFamily="34" charset="-120"/>
                        </a:rPr>
                        <a:t>San Francisco</a:t>
                      </a:r>
                      <a:endParaRPr lang="en-US" sz="1200" dirty="0">
                        <a:latin typeface="Calibri" charset="0"/>
                        <a:ea typeface="Calibri" charset="0"/>
                        <a:cs typeface="Calibri" charset="0"/>
                      </a:endParaRPr>
                    </a:p>
                  </a:txBody>
                  <a:tcPr marT="36576" marB="36576" anchor="ctr">
                    <a:lnL w="12700" cap="flat" cmpd="sng" algn="ctr">
                      <a:solidFill>
                        <a:srgbClr val="E3E6EC"/>
                      </a:solidFill>
                      <a:prstDash val="solid"/>
                      <a:round/>
                      <a:headEnd type="none" w="med" len="med"/>
                      <a:tailEnd type="none" w="med" len="med"/>
                    </a:lnL>
                    <a:lnR w="12700" cap="flat" cmpd="sng" algn="ctr">
                      <a:solidFill>
                        <a:srgbClr val="E3E6EC"/>
                      </a:solidFill>
                      <a:prstDash val="solid"/>
                      <a:round/>
                      <a:headEnd type="none" w="med" len="med"/>
                      <a:tailEnd type="none" w="med" len="med"/>
                    </a:lnR>
                    <a:lnT w="12700" cap="flat" cmpd="sng" algn="ctr">
                      <a:solidFill>
                        <a:srgbClr val="E3E6EC"/>
                      </a:solidFill>
                      <a:prstDash val="solid"/>
                      <a:round/>
                      <a:headEnd type="none" w="med" len="med"/>
                      <a:tailEnd type="none" w="med" len="med"/>
                    </a:lnT>
                    <a:lnB w="12700" cap="flat" cmpd="sng" algn="ctr">
                      <a:solidFill>
                        <a:srgbClr val="E3E6EC"/>
                      </a:solidFill>
                      <a:prstDash val="solid"/>
                      <a:round/>
                      <a:headEnd type="none" w="med" len="med"/>
                      <a:tailEnd type="none" w="med" len="med"/>
                    </a:lnB>
                    <a:solidFill>
                      <a:srgbClr val="FFFFFF"/>
                    </a:solidFill>
                  </a:tcPr>
                </a:tc>
                <a:tc>
                  <a:txBody>
                    <a:bodyPr/>
                    <a:lstStyle/>
                    <a:p>
                      <a:pPr marL="0" indent="0">
                        <a:buNone/>
                      </a:pPr>
                      <a:r>
                        <a:rPr lang="en-US" sz="1200" dirty="0">
                          <a:solidFill>
                            <a:srgbClr val="3F4757"/>
                          </a:solidFill>
                          <a:latin typeface="Calibri" pitchFamily="34" charset="0"/>
                          <a:ea typeface="Calibri" pitchFamily="34" charset="-122"/>
                          <a:cs typeface="Calibri" pitchFamily="34" charset="-120"/>
                        </a:rPr>
                        <a:t>Reform</a:t>
                      </a:r>
                      <a:endParaRPr lang="en-US" sz="1200" dirty="0">
                        <a:latin typeface="Calibri" charset="0"/>
                        <a:ea typeface="Calibri" charset="0"/>
                        <a:cs typeface="Calibri" charset="0"/>
                      </a:endParaRPr>
                    </a:p>
                  </a:txBody>
                  <a:tcPr marT="36576" marB="36576" anchor="ctr">
                    <a:lnL w="12700" cap="flat" cmpd="sng" algn="ctr">
                      <a:solidFill>
                        <a:srgbClr val="E3E6EC"/>
                      </a:solidFill>
                      <a:prstDash val="solid"/>
                      <a:round/>
                      <a:headEnd type="none" w="med" len="med"/>
                      <a:tailEnd type="none" w="med" len="med"/>
                    </a:lnL>
                    <a:lnR w="12700" cap="flat" cmpd="sng" algn="ctr">
                      <a:solidFill>
                        <a:srgbClr val="E3E6EC"/>
                      </a:solidFill>
                      <a:prstDash val="solid"/>
                      <a:round/>
                      <a:headEnd type="none" w="med" len="med"/>
                      <a:tailEnd type="none" w="med" len="med"/>
                    </a:lnR>
                    <a:lnT w="12700" cap="flat" cmpd="sng" algn="ctr">
                      <a:solidFill>
                        <a:srgbClr val="E3E6EC"/>
                      </a:solidFill>
                      <a:prstDash val="solid"/>
                      <a:round/>
                      <a:headEnd type="none" w="med" len="med"/>
                      <a:tailEnd type="none" w="med" len="med"/>
                    </a:lnT>
                    <a:lnB w="12700" cap="flat" cmpd="sng" algn="ctr">
                      <a:solidFill>
                        <a:srgbClr val="E3E6EC"/>
                      </a:solidFill>
                      <a:prstDash val="solid"/>
                      <a:round/>
                      <a:headEnd type="none" w="med" len="med"/>
                      <a:tailEnd type="none" w="med" len="med"/>
                    </a:lnB>
                    <a:solidFill>
                      <a:srgbClr val="FFFFFF"/>
                    </a:solidFill>
                  </a:tcPr>
                </a:tc>
                <a:tc>
                  <a:txBody>
                    <a:bodyPr/>
                    <a:lstStyle/>
                    <a:p>
                      <a:pPr marL="0" indent="0" algn="r">
                        <a:buNone/>
                      </a:pPr>
                      <a:r>
                        <a:rPr lang="en-US" sz="1200" dirty="0">
                          <a:solidFill>
                            <a:srgbClr val="3F4757"/>
                          </a:solidFill>
                          <a:latin typeface="Calibri" pitchFamily="34" charset="0"/>
                          <a:ea typeface="Calibri" pitchFamily="34" charset="-122"/>
                          <a:cs typeface="Calibri" pitchFamily="34" charset="-120"/>
                        </a:rPr>
                        <a:t>5,783</a:t>
                      </a:r>
                      <a:endParaRPr lang="en-US" sz="1200" dirty="0">
                        <a:latin typeface="Calibri" charset="0"/>
                        <a:ea typeface="Calibri" charset="0"/>
                        <a:cs typeface="Calibri" charset="0"/>
                      </a:endParaRPr>
                    </a:p>
                  </a:txBody>
                  <a:tcPr marT="36576" marB="36576" anchor="ctr">
                    <a:lnL w="12700" cap="flat" cmpd="sng" algn="ctr">
                      <a:solidFill>
                        <a:srgbClr val="E3E6EC"/>
                      </a:solidFill>
                      <a:prstDash val="solid"/>
                      <a:round/>
                      <a:headEnd type="none" w="med" len="med"/>
                      <a:tailEnd type="none" w="med" len="med"/>
                    </a:lnL>
                    <a:lnR w="12700" cap="flat" cmpd="sng" algn="ctr">
                      <a:solidFill>
                        <a:srgbClr val="E3E6EC"/>
                      </a:solidFill>
                      <a:prstDash val="solid"/>
                      <a:round/>
                      <a:headEnd type="none" w="med" len="med"/>
                      <a:tailEnd type="none" w="med" len="med"/>
                    </a:lnR>
                    <a:lnT w="12700" cap="flat" cmpd="sng" algn="ctr">
                      <a:solidFill>
                        <a:srgbClr val="E3E6EC"/>
                      </a:solidFill>
                      <a:prstDash val="solid"/>
                      <a:round/>
                      <a:headEnd type="none" w="med" len="med"/>
                      <a:tailEnd type="none" w="med" len="med"/>
                    </a:lnT>
                    <a:lnB w="12700" cap="flat" cmpd="sng" algn="ctr">
                      <a:solidFill>
                        <a:srgbClr val="E3E6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01752">
                <a:tc>
                  <a:txBody>
                    <a:bodyPr/>
                    <a:lstStyle/>
                    <a:p>
                      <a:pPr marL="0" indent="0">
                        <a:buNone/>
                      </a:pPr>
                      <a:r>
                        <a:rPr lang="en-US" sz="1200" dirty="0">
                          <a:solidFill>
                            <a:srgbClr val="3F4757"/>
                          </a:solidFill>
                          <a:latin typeface="Calibri" pitchFamily="34" charset="0"/>
                          <a:ea typeface="Calibri" pitchFamily="34" charset="-122"/>
                          <a:cs typeface="Calibri" pitchFamily="34" charset="-120"/>
                        </a:rPr>
                        <a:t>Brooke Jenkins</a:t>
                      </a:r>
                      <a:endParaRPr lang="en-US" sz="1200" dirty="0">
                        <a:latin typeface="Calibri" charset="0"/>
                        <a:ea typeface="Calibri" charset="0"/>
                        <a:cs typeface="Calibri" charset="0"/>
                      </a:endParaRPr>
                    </a:p>
                  </a:txBody>
                  <a:tcPr marT="36576" marB="36576" anchor="ctr">
                    <a:lnL w="12700" cap="flat" cmpd="sng" algn="ctr">
                      <a:solidFill>
                        <a:srgbClr val="E3E6EC"/>
                      </a:solidFill>
                      <a:prstDash val="solid"/>
                      <a:round/>
                      <a:headEnd type="none" w="med" len="med"/>
                      <a:tailEnd type="none" w="med" len="med"/>
                    </a:lnL>
                    <a:lnR w="12700" cap="flat" cmpd="sng" algn="ctr">
                      <a:solidFill>
                        <a:srgbClr val="E3E6EC"/>
                      </a:solidFill>
                      <a:prstDash val="solid"/>
                      <a:round/>
                      <a:headEnd type="none" w="med" len="med"/>
                      <a:tailEnd type="none" w="med" len="med"/>
                    </a:lnR>
                    <a:lnT w="12700" cap="flat" cmpd="sng" algn="ctr">
                      <a:solidFill>
                        <a:srgbClr val="E3E6EC"/>
                      </a:solidFill>
                      <a:prstDash val="solid"/>
                      <a:round/>
                      <a:headEnd type="none" w="med" len="med"/>
                      <a:tailEnd type="none" w="med" len="med"/>
                    </a:lnT>
                    <a:lnB w="12700" cap="flat" cmpd="sng" algn="ctr">
                      <a:solidFill>
                        <a:srgbClr val="E3E6EC"/>
                      </a:solidFill>
                      <a:prstDash val="solid"/>
                      <a:round/>
                      <a:headEnd type="none" w="med" len="med"/>
                      <a:tailEnd type="none" w="med" len="med"/>
                    </a:lnB>
                    <a:solidFill>
                      <a:srgbClr val="FFFFFF"/>
                    </a:solidFill>
                  </a:tcPr>
                </a:tc>
                <a:tc>
                  <a:txBody>
                    <a:bodyPr/>
                    <a:lstStyle/>
                    <a:p>
                      <a:pPr marL="0" indent="0">
                        <a:buNone/>
                      </a:pPr>
                      <a:r>
                        <a:rPr lang="en-US" sz="1200" dirty="0">
                          <a:solidFill>
                            <a:srgbClr val="3F4757"/>
                          </a:solidFill>
                          <a:latin typeface="Calibri" pitchFamily="34" charset="0"/>
                          <a:ea typeface="Calibri" pitchFamily="34" charset="-122"/>
                          <a:cs typeface="Calibri" pitchFamily="34" charset="-120"/>
                        </a:rPr>
                        <a:t>San Francisco</a:t>
                      </a:r>
                      <a:endParaRPr lang="en-US" sz="1200" dirty="0">
                        <a:latin typeface="Calibri" charset="0"/>
                        <a:ea typeface="Calibri" charset="0"/>
                        <a:cs typeface="Calibri" charset="0"/>
                      </a:endParaRPr>
                    </a:p>
                  </a:txBody>
                  <a:tcPr marT="36576" marB="36576" anchor="ctr">
                    <a:lnL w="12700" cap="flat" cmpd="sng" algn="ctr">
                      <a:solidFill>
                        <a:srgbClr val="E3E6EC"/>
                      </a:solidFill>
                      <a:prstDash val="solid"/>
                      <a:round/>
                      <a:headEnd type="none" w="med" len="med"/>
                      <a:tailEnd type="none" w="med" len="med"/>
                    </a:lnL>
                    <a:lnR w="12700" cap="flat" cmpd="sng" algn="ctr">
                      <a:solidFill>
                        <a:srgbClr val="E3E6EC"/>
                      </a:solidFill>
                      <a:prstDash val="solid"/>
                      <a:round/>
                      <a:headEnd type="none" w="med" len="med"/>
                      <a:tailEnd type="none" w="med" len="med"/>
                    </a:lnR>
                    <a:lnT w="12700" cap="flat" cmpd="sng" algn="ctr">
                      <a:solidFill>
                        <a:srgbClr val="E3E6EC"/>
                      </a:solidFill>
                      <a:prstDash val="solid"/>
                      <a:round/>
                      <a:headEnd type="none" w="med" len="med"/>
                      <a:tailEnd type="none" w="med" len="med"/>
                    </a:lnT>
                    <a:lnB w="12700" cap="flat" cmpd="sng" algn="ctr">
                      <a:solidFill>
                        <a:srgbClr val="E3E6EC"/>
                      </a:solidFill>
                      <a:prstDash val="solid"/>
                      <a:round/>
                      <a:headEnd type="none" w="med" len="med"/>
                      <a:tailEnd type="none" w="med" len="med"/>
                    </a:lnB>
                    <a:solidFill>
                      <a:srgbClr val="FFFFFF"/>
                    </a:solidFill>
                  </a:tcPr>
                </a:tc>
                <a:tc>
                  <a:txBody>
                    <a:bodyPr/>
                    <a:lstStyle/>
                    <a:p>
                      <a:pPr marL="0" indent="0">
                        <a:buNone/>
                      </a:pPr>
                      <a:r>
                        <a:rPr lang="en-US" sz="1200" dirty="0">
                          <a:solidFill>
                            <a:srgbClr val="3F4757"/>
                          </a:solidFill>
                          <a:latin typeface="Calibri" pitchFamily="34" charset="0"/>
                          <a:ea typeface="Calibri" pitchFamily="34" charset="-122"/>
                          <a:cs typeface="Calibri" pitchFamily="34" charset="-120"/>
                        </a:rPr>
                        <a:t>Traditional</a:t>
                      </a:r>
                      <a:endParaRPr lang="en-US" sz="1200" dirty="0">
                        <a:latin typeface="Calibri" charset="0"/>
                        <a:ea typeface="Calibri" charset="0"/>
                        <a:cs typeface="Calibri" charset="0"/>
                      </a:endParaRPr>
                    </a:p>
                  </a:txBody>
                  <a:tcPr marT="36576" marB="36576" anchor="ctr">
                    <a:lnL w="12700" cap="flat" cmpd="sng" algn="ctr">
                      <a:solidFill>
                        <a:srgbClr val="E3E6EC"/>
                      </a:solidFill>
                      <a:prstDash val="solid"/>
                      <a:round/>
                      <a:headEnd type="none" w="med" len="med"/>
                      <a:tailEnd type="none" w="med" len="med"/>
                    </a:lnL>
                    <a:lnR w="12700" cap="flat" cmpd="sng" algn="ctr">
                      <a:solidFill>
                        <a:srgbClr val="E3E6EC"/>
                      </a:solidFill>
                      <a:prstDash val="solid"/>
                      <a:round/>
                      <a:headEnd type="none" w="med" len="med"/>
                      <a:tailEnd type="none" w="med" len="med"/>
                    </a:lnR>
                    <a:lnT w="12700" cap="flat" cmpd="sng" algn="ctr">
                      <a:solidFill>
                        <a:srgbClr val="E3E6EC"/>
                      </a:solidFill>
                      <a:prstDash val="solid"/>
                      <a:round/>
                      <a:headEnd type="none" w="med" len="med"/>
                      <a:tailEnd type="none" w="med" len="med"/>
                    </a:lnT>
                    <a:lnB w="12700" cap="flat" cmpd="sng" algn="ctr">
                      <a:solidFill>
                        <a:srgbClr val="E3E6EC"/>
                      </a:solidFill>
                      <a:prstDash val="solid"/>
                      <a:round/>
                      <a:headEnd type="none" w="med" len="med"/>
                      <a:tailEnd type="none" w="med" len="med"/>
                    </a:lnB>
                    <a:solidFill>
                      <a:srgbClr val="FFFFFF"/>
                    </a:solidFill>
                  </a:tcPr>
                </a:tc>
                <a:tc>
                  <a:txBody>
                    <a:bodyPr/>
                    <a:lstStyle/>
                    <a:p>
                      <a:pPr marL="0" indent="0" algn="r">
                        <a:buNone/>
                      </a:pPr>
                      <a:r>
                        <a:rPr lang="en-US" sz="1200" dirty="0">
                          <a:solidFill>
                            <a:srgbClr val="3F4757"/>
                          </a:solidFill>
                          <a:latin typeface="Calibri" pitchFamily="34" charset="0"/>
                          <a:ea typeface="Calibri" pitchFamily="34" charset="-122"/>
                          <a:cs typeface="Calibri" pitchFamily="34" charset="-120"/>
                        </a:rPr>
                        <a:t>3,097</a:t>
                      </a:r>
                      <a:endParaRPr lang="en-US" sz="1200" dirty="0">
                        <a:latin typeface="Calibri" charset="0"/>
                        <a:ea typeface="Calibri" charset="0"/>
                        <a:cs typeface="Calibri" charset="0"/>
                      </a:endParaRPr>
                    </a:p>
                  </a:txBody>
                  <a:tcPr marT="36576" marB="36576" anchor="ctr">
                    <a:lnL w="12700" cap="flat" cmpd="sng" algn="ctr">
                      <a:solidFill>
                        <a:srgbClr val="E3E6EC"/>
                      </a:solidFill>
                      <a:prstDash val="solid"/>
                      <a:round/>
                      <a:headEnd type="none" w="med" len="med"/>
                      <a:tailEnd type="none" w="med" len="med"/>
                    </a:lnL>
                    <a:lnR w="12700" cap="flat" cmpd="sng" algn="ctr">
                      <a:solidFill>
                        <a:srgbClr val="E3E6EC"/>
                      </a:solidFill>
                      <a:prstDash val="solid"/>
                      <a:round/>
                      <a:headEnd type="none" w="med" len="med"/>
                      <a:tailEnd type="none" w="med" len="med"/>
                    </a:lnR>
                    <a:lnT w="12700" cap="flat" cmpd="sng" algn="ctr">
                      <a:solidFill>
                        <a:srgbClr val="E3E6EC"/>
                      </a:solidFill>
                      <a:prstDash val="solid"/>
                      <a:round/>
                      <a:headEnd type="none" w="med" len="med"/>
                      <a:tailEnd type="none" w="med" len="med"/>
                    </a:lnT>
                    <a:lnB w="12700" cap="flat" cmpd="sng" algn="ctr">
                      <a:solidFill>
                        <a:srgbClr val="E3E6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01752">
                <a:tc>
                  <a:txBody>
                    <a:bodyPr/>
                    <a:lstStyle/>
                    <a:p>
                      <a:pPr marL="0" indent="0">
                        <a:buNone/>
                      </a:pPr>
                      <a:r>
                        <a:rPr lang="en-US" sz="1200" dirty="0">
                          <a:solidFill>
                            <a:srgbClr val="3F4757"/>
                          </a:solidFill>
                          <a:latin typeface="Calibri" pitchFamily="34" charset="0"/>
                          <a:ea typeface="Calibri" pitchFamily="34" charset="-122"/>
                          <a:cs typeface="Calibri" pitchFamily="34" charset="-120"/>
                        </a:rPr>
                        <a:t>Nancy O'Malley</a:t>
                      </a:r>
                      <a:endParaRPr lang="en-US" sz="1200" dirty="0">
                        <a:latin typeface="Calibri" charset="0"/>
                        <a:ea typeface="Calibri" charset="0"/>
                        <a:cs typeface="Calibri" charset="0"/>
                      </a:endParaRPr>
                    </a:p>
                  </a:txBody>
                  <a:tcPr marT="36576" marB="36576" anchor="ctr">
                    <a:lnL w="12700" cap="flat" cmpd="sng" algn="ctr">
                      <a:solidFill>
                        <a:srgbClr val="E3E6EC"/>
                      </a:solidFill>
                      <a:prstDash val="solid"/>
                      <a:round/>
                      <a:headEnd type="none" w="med" len="med"/>
                      <a:tailEnd type="none" w="med" len="med"/>
                    </a:lnL>
                    <a:lnR w="12700" cap="flat" cmpd="sng" algn="ctr">
                      <a:solidFill>
                        <a:srgbClr val="E3E6EC"/>
                      </a:solidFill>
                      <a:prstDash val="solid"/>
                      <a:round/>
                      <a:headEnd type="none" w="med" len="med"/>
                      <a:tailEnd type="none" w="med" len="med"/>
                    </a:lnR>
                    <a:lnT w="12700" cap="flat" cmpd="sng" algn="ctr">
                      <a:solidFill>
                        <a:srgbClr val="E3E6EC"/>
                      </a:solidFill>
                      <a:prstDash val="solid"/>
                      <a:round/>
                      <a:headEnd type="none" w="med" len="med"/>
                      <a:tailEnd type="none" w="med" len="med"/>
                    </a:lnT>
                    <a:lnB w="12700" cap="flat" cmpd="sng" algn="ctr">
                      <a:solidFill>
                        <a:srgbClr val="E3E6EC"/>
                      </a:solidFill>
                      <a:prstDash val="solid"/>
                      <a:round/>
                      <a:headEnd type="none" w="med" len="med"/>
                      <a:tailEnd type="none" w="med" len="med"/>
                    </a:lnB>
                    <a:solidFill>
                      <a:srgbClr val="FFFFFF"/>
                    </a:solidFill>
                  </a:tcPr>
                </a:tc>
                <a:tc>
                  <a:txBody>
                    <a:bodyPr/>
                    <a:lstStyle/>
                    <a:p>
                      <a:pPr marL="0" indent="0">
                        <a:buNone/>
                      </a:pPr>
                      <a:r>
                        <a:rPr lang="en-US" sz="1200" dirty="0">
                          <a:solidFill>
                            <a:srgbClr val="3F4757"/>
                          </a:solidFill>
                          <a:latin typeface="Calibri" pitchFamily="34" charset="0"/>
                          <a:ea typeface="Calibri" pitchFamily="34" charset="-122"/>
                          <a:cs typeface="Calibri" pitchFamily="34" charset="-120"/>
                        </a:rPr>
                        <a:t>Alameda</a:t>
                      </a:r>
                      <a:endParaRPr lang="en-US" sz="1200" dirty="0">
                        <a:latin typeface="Calibri" charset="0"/>
                        <a:ea typeface="Calibri" charset="0"/>
                        <a:cs typeface="Calibri" charset="0"/>
                      </a:endParaRPr>
                    </a:p>
                  </a:txBody>
                  <a:tcPr marT="36576" marB="36576" anchor="ctr">
                    <a:lnL w="12700" cap="flat" cmpd="sng" algn="ctr">
                      <a:solidFill>
                        <a:srgbClr val="E3E6EC"/>
                      </a:solidFill>
                      <a:prstDash val="solid"/>
                      <a:round/>
                      <a:headEnd type="none" w="med" len="med"/>
                      <a:tailEnd type="none" w="med" len="med"/>
                    </a:lnL>
                    <a:lnR w="12700" cap="flat" cmpd="sng" algn="ctr">
                      <a:solidFill>
                        <a:srgbClr val="E3E6EC"/>
                      </a:solidFill>
                      <a:prstDash val="solid"/>
                      <a:round/>
                      <a:headEnd type="none" w="med" len="med"/>
                      <a:tailEnd type="none" w="med" len="med"/>
                    </a:lnR>
                    <a:lnT w="12700" cap="flat" cmpd="sng" algn="ctr">
                      <a:solidFill>
                        <a:srgbClr val="E3E6EC"/>
                      </a:solidFill>
                      <a:prstDash val="solid"/>
                      <a:round/>
                      <a:headEnd type="none" w="med" len="med"/>
                      <a:tailEnd type="none" w="med" len="med"/>
                    </a:lnT>
                    <a:lnB w="12700" cap="flat" cmpd="sng" algn="ctr">
                      <a:solidFill>
                        <a:srgbClr val="E3E6EC"/>
                      </a:solidFill>
                      <a:prstDash val="solid"/>
                      <a:round/>
                      <a:headEnd type="none" w="med" len="med"/>
                      <a:tailEnd type="none" w="med" len="med"/>
                    </a:lnB>
                    <a:solidFill>
                      <a:srgbClr val="FFFFFF"/>
                    </a:solidFill>
                  </a:tcPr>
                </a:tc>
                <a:tc>
                  <a:txBody>
                    <a:bodyPr/>
                    <a:lstStyle/>
                    <a:p>
                      <a:pPr marL="0" indent="0">
                        <a:buNone/>
                      </a:pPr>
                      <a:r>
                        <a:rPr lang="en-US" sz="1200" dirty="0">
                          <a:solidFill>
                            <a:srgbClr val="3F4757"/>
                          </a:solidFill>
                          <a:latin typeface="Calibri" pitchFamily="34" charset="0"/>
                          <a:ea typeface="Calibri" pitchFamily="34" charset="-122"/>
                          <a:cs typeface="Calibri" pitchFamily="34" charset="-120"/>
                        </a:rPr>
                        <a:t>Traditional</a:t>
                      </a:r>
                      <a:endParaRPr lang="en-US" sz="1200" dirty="0">
                        <a:latin typeface="Calibri" charset="0"/>
                        <a:ea typeface="Calibri" charset="0"/>
                        <a:cs typeface="Calibri" charset="0"/>
                      </a:endParaRPr>
                    </a:p>
                  </a:txBody>
                  <a:tcPr marT="36576" marB="36576" anchor="ctr">
                    <a:lnL w="12700" cap="flat" cmpd="sng" algn="ctr">
                      <a:solidFill>
                        <a:srgbClr val="E3E6EC"/>
                      </a:solidFill>
                      <a:prstDash val="solid"/>
                      <a:round/>
                      <a:headEnd type="none" w="med" len="med"/>
                      <a:tailEnd type="none" w="med" len="med"/>
                    </a:lnL>
                    <a:lnR w="12700" cap="flat" cmpd="sng" algn="ctr">
                      <a:solidFill>
                        <a:srgbClr val="E3E6EC"/>
                      </a:solidFill>
                      <a:prstDash val="solid"/>
                      <a:round/>
                      <a:headEnd type="none" w="med" len="med"/>
                      <a:tailEnd type="none" w="med" len="med"/>
                    </a:lnR>
                    <a:lnT w="12700" cap="flat" cmpd="sng" algn="ctr">
                      <a:solidFill>
                        <a:srgbClr val="E3E6EC"/>
                      </a:solidFill>
                      <a:prstDash val="solid"/>
                      <a:round/>
                      <a:headEnd type="none" w="med" len="med"/>
                      <a:tailEnd type="none" w="med" len="med"/>
                    </a:lnT>
                    <a:lnB w="12700" cap="flat" cmpd="sng" algn="ctr">
                      <a:solidFill>
                        <a:srgbClr val="E3E6EC"/>
                      </a:solidFill>
                      <a:prstDash val="solid"/>
                      <a:round/>
                      <a:headEnd type="none" w="med" len="med"/>
                      <a:tailEnd type="none" w="med" len="med"/>
                    </a:lnB>
                    <a:solidFill>
                      <a:srgbClr val="FFFFFF"/>
                    </a:solidFill>
                  </a:tcPr>
                </a:tc>
                <a:tc>
                  <a:txBody>
                    <a:bodyPr/>
                    <a:lstStyle/>
                    <a:p>
                      <a:pPr marL="0" indent="0" algn="r">
                        <a:buNone/>
                      </a:pPr>
                      <a:r>
                        <a:rPr lang="en-US" sz="1200" dirty="0">
                          <a:solidFill>
                            <a:srgbClr val="3F4757"/>
                          </a:solidFill>
                          <a:latin typeface="Calibri" pitchFamily="34" charset="0"/>
                          <a:ea typeface="Calibri" pitchFamily="34" charset="-122"/>
                          <a:cs typeface="Calibri" pitchFamily="34" charset="-120"/>
                        </a:rPr>
                        <a:t>1,497</a:t>
                      </a:r>
                      <a:endParaRPr lang="en-US" sz="1200" dirty="0">
                        <a:latin typeface="Calibri" charset="0"/>
                        <a:ea typeface="Calibri" charset="0"/>
                        <a:cs typeface="Calibri" charset="0"/>
                      </a:endParaRPr>
                    </a:p>
                  </a:txBody>
                  <a:tcPr marT="36576" marB="36576" anchor="ctr">
                    <a:lnL w="12700" cap="flat" cmpd="sng" algn="ctr">
                      <a:solidFill>
                        <a:srgbClr val="E3E6EC"/>
                      </a:solidFill>
                      <a:prstDash val="solid"/>
                      <a:round/>
                      <a:headEnd type="none" w="med" len="med"/>
                      <a:tailEnd type="none" w="med" len="med"/>
                    </a:lnL>
                    <a:lnR w="12700" cap="flat" cmpd="sng" algn="ctr">
                      <a:solidFill>
                        <a:srgbClr val="E3E6EC"/>
                      </a:solidFill>
                      <a:prstDash val="solid"/>
                      <a:round/>
                      <a:headEnd type="none" w="med" len="med"/>
                      <a:tailEnd type="none" w="med" len="med"/>
                    </a:lnR>
                    <a:lnT w="12700" cap="flat" cmpd="sng" algn="ctr">
                      <a:solidFill>
                        <a:srgbClr val="E3E6EC"/>
                      </a:solidFill>
                      <a:prstDash val="solid"/>
                      <a:round/>
                      <a:headEnd type="none" w="med" len="med"/>
                      <a:tailEnd type="none" w="med" len="med"/>
                    </a:lnT>
                    <a:lnB w="12700" cap="flat" cmpd="sng" algn="ctr">
                      <a:solidFill>
                        <a:srgbClr val="E3E6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01752">
                <a:tc>
                  <a:txBody>
                    <a:bodyPr/>
                    <a:lstStyle/>
                    <a:p>
                      <a:pPr marL="0" indent="0">
                        <a:buNone/>
                      </a:pPr>
                      <a:r>
                        <a:rPr lang="en-US" sz="1200" dirty="0">
                          <a:solidFill>
                            <a:srgbClr val="3F4757"/>
                          </a:solidFill>
                          <a:latin typeface="Calibri" pitchFamily="34" charset="0"/>
                          <a:ea typeface="Calibri" pitchFamily="34" charset="-122"/>
                          <a:cs typeface="Calibri" pitchFamily="34" charset="-120"/>
                        </a:rPr>
                        <a:t>Pamela Price</a:t>
                      </a:r>
                      <a:endParaRPr lang="en-US" sz="1200" dirty="0">
                        <a:latin typeface="Calibri" charset="0"/>
                        <a:ea typeface="Calibri" charset="0"/>
                        <a:cs typeface="Calibri" charset="0"/>
                      </a:endParaRPr>
                    </a:p>
                  </a:txBody>
                  <a:tcPr marT="36576" marB="36576" anchor="ctr">
                    <a:lnL w="12700" cap="flat" cmpd="sng" algn="ctr">
                      <a:solidFill>
                        <a:srgbClr val="E3E6EC"/>
                      </a:solidFill>
                      <a:prstDash val="solid"/>
                      <a:round/>
                      <a:headEnd type="none" w="med" len="med"/>
                      <a:tailEnd type="none" w="med" len="med"/>
                    </a:lnL>
                    <a:lnR w="12700" cap="flat" cmpd="sng" algn="ctr">
                      <a:solidFill>
                        <a:srgbClr val="E3E6EC"/>
                      </a:solidFill>
                      <a:prstDash val="solid"/>
                      <a:round/>
                      <a:headEnd type="none" w="med" len="med"/>
                      <a:tailEnd type="none" w="med" len="med"/>
                    </a:lnR>
                    <a:lnT w="12700" cap="flat" cmpd="sng" algn="ctr">
                      <a:solidFill>
                        <a:srgbClr val="E3E6EC"/>
                      </a:solidFill>
                      <a:prstDash val="solid"/>
                      <a:round/>
                      <a:headEnd type="none" w="med" len="med"/>
                      <a:tailEnd type="none" w="med" len="med"/>
                    </a:lnT>
                    <a:lnB w="12700" cap="flat" cmpd="sng" algn="ctr">
                      <a:solidFill>
                        <a:srgbClr val="E3E6EC"/>
                      </a:solidFill>
                      <a:prstDash val="solid"/>
                      <a:round/>
                      <a:headEnd type="none" w="med" len="med"/>
                      <a:tailEnd type="none" w="med" len="med"/>
                    </a:lnB>
                    <a:solidFill>
                      <a:srgbClr val="FFFFFF"/>
                    </a:solidFill>
                  </a:tcPr>
                </a:tc>
                <a:tc>
                  <a:txBody>
                    <a:bodyPr/>
                    <a:lstStyle/>
                    <a:p>
                      <a:pPr marL="0" indent="0">
                        <a:buNone/>
                      </a:pPr>
                      <a:r>
                        <a:rPr lang="en-US" sz="1200" dirty="0">
                          <a:solidFill>
                            <a:srgbClr val="3F4757"/>
                          </a:solidFill>
                          <a:latin typeface="Calibri" pitchFamily="34" charset="0"/>
                          <a:ea typeface="Calibri" pitchFamily="34" charset="-122"/>
                          <a:cs typeface="Calibri" pitchFamily="34" charset="-120"/>
                        </a:rPr>
                        <a:t>Alameda</a:t>
                      </a:r>
                      <a:endParaRPr lang="en-US" sz="1200" dirty="0">
                        <a:latin typeface="Calibri" charset="0"/>
                        <a:ea typeface="Calibri" charset="0"/>
                        <a:cs typeface="Calibri" charset="0"/>
                      </a:endParaRPr>
                    </a:p>
                  </a:txBody>
                  <a:tcPr marT="36576" marB="36576" anchor="ctr">
                    <a:lnL w="12700" cap="flat" cmpd="sng" algn="ctr">
                      <a:solidFill>
                        <a:srgbClr val="E3E6EC"/>
                      </a:solidFill>
                      <a:prstDash val="solid"/>
                      <a:round/>
                      <a:headEnd type="none" w="med" len="med"/>
                      <a:tailEnd type="none" w="med" len="med"/>
                    </a:lnL>
                    <a:lnR w="12700" cap="flat" cmpd="sng" algn="ctr">
                      <a:solidFill>
                        <a:srgbClr val="E3E6EC"/>
                      </a:solidFill>
                      <a:prstDash val="solid"/>
                      <a:round/>
                      <a:headEnd type="none" w="med" len="med"/>
                      <a:tailEnd type="none" w="med" len="med"/>
                    </a:lnR>
                    <a:lnT w="12700" cap="flat" cmpd="sng" algn="ctr">
                      <a:solidFill>
                        <a:srgbClr val="E3E6EC"/>
                      </a:solidFill>
                      <a:prstDash val="solid"/>
                      <a:round/>
                      <a:headEnd type="none" w="med" len="med"/>
                      <a:tailEnd type="none" w="med" len="med"/>
                    </a:lnT>
                    <a:lnB w="12700" cap="flat" cmpd="sng" algn="ctr">
                      <a:solidFill>
                        <a:srgbClr val="E3E6EC"/>
                      </a:solidFill>
                      <a:prstDash val="solid"/>
                      <a:round/>
                      <a:headEnd type="none" w="med" len="med"/>
                      <a:tailEnd type="none" w="med" len="med"/>
                    </a:lnB>
                    <a:solidFill>
                      <a:srgbClr val="FFFFFF"/>
                    </a:solidFill>
                  </a:tcPr>
                </a:tc>
                <a:tc>
                  <a:txBody>
                    <a:bodyPr/>
                    <a:lstStyle/>
                    <a:p>
                      <a:pPr marL="0" indent="0">
                        <a:buNone/>
                      </a:pPr>
                      <a:r>
                        <a:rPr lang="en-US" sz="1200" dirty="0">
                          <a:solidFill>
                            <a:srgbClr val="3F4757"/>
                          </a:solidFill>
                          <a:latin typeface="Calibri" pitchFamily="34" charset="0"/>
                          <a:ea typeface="Calibri" pitchFamily="34" charset="-122"/>
                          <a:cs typeface="Calibri" pitchFamily="34" charset="-120"/>
                        </a:rPr>
                        <a:t>Reform</a:t>
                      </a:r>
                      <a:endParaRPr lang="en-US" sz="1200" dirty="0">
                        <a:latin typeface="Calibri" charset="0"/>
                        <a:ea typeface="Calibri" charset="0"/>
                        <a:cs typeface="Calibri" charset="0"/>
                      </a:endParaRPr>
                    </a:p>
                  </a:txBody>
                  <a:tcPr marT="36576" marB="36576" anchor="ctr">
                    <a:lnL w="12700" cap="flat" cmpd="sng" algn="ctr">
                      <a:solidFill>
                        <a:srgbClr val="E3E6EC"/>
                      </a:solidFill>
                      <a:prstDash val="solid"/>
                      <a:round/>
                      <a:headEnd type="none" w="med" len="med"/>
                      <a:tailEnd type="none" w="med" len="med"/>
                    </a:lnL>
                    <a:lnR w="12700" cap="flat" cmpd="sng" algn="ctr">
                      <a:solidFill>
                        <a:srgbClr val="E3E6EC"/>
                      </a:solidFill>
                      <a:prstDash val="solid"/>
                      <a:round/>
                      <a:headEnd type="none" w="med" len="med"/>
                      <a:tailEnd type="none" w="med" len="med"/>
                    </a:lnR>
                    <a:lnT w="12700" cap="flat" cmpd="sng" algn="ctr">
                      <a:solidFill>
                        <a:srgbClr val="E3E6EC"/>
                      </a:solidFill>
                      <a:prstDash val="solid"/>
                      <a:round/>
                      <a:headEnd type="none" w="med" len="med"/>
                      <a:tailEnd type="none" w="med" len="med"/>
                    </a:lnT>
                    <a:lnB w="12700" cap="flat" cmpd="sng" algn="ctr">
                      <a:solidFill>
                        <a:srgbClr val="E3E6EC"/>
                      </a:solidFill>
                      <a:prstDash val="solid"/>
                      <a:round/>
                      <a:headEnd type="none" w="med" len="med"/>
                      <a:tailEnd type="none" w="med" len="med"/>
                    </a:lnB>
                    <a:solidFill>
                      <a:srgbClr val="FFFFFF"/>
                    </a:solidFill>
                  </a:tcPr>
                </a:tc>
                <a:tc>
                  <a:txBody>
                    <a:bodyPr/>
                    <a:lstStyle/>
                    <a:p>
                      <a:pPr marL="0" indent="0" algn="r">
                        <a:buNone/>
                      </a:pPr>
                      <a:r>
                        <a:rPr lang="en-US" sz="1200" dirty="0">
                          <a:solidFill>
                            <a:srgbClr val="3F4757"/>
                          </a:solidFill>
                          <a:latin typeface="Calibri" pitchFamily="34" charset="0"/>
                          <a:ea typeface="Calibri" pitchFamily="34" charset="-122"/>
                          <a:cs typeface="Calibri" pitchFamily="34" charset="-120"/>
                        </a:rPr>
                        <a:t>802</a:t>
                      </a:r>
                      <a:endParaRPr lang="en-US" sz="1200" dirty="0">
                        <a:latin typeface="Calibri" charset="0"/>
                        <a:ea typeface="Calibri" charset="0"/>
                        <a:cs typeface="Calibri" charset="0"/>
                      </a:endParaRPr>
                    </a:p>
                  </a:txBody>
                  <a:tcPr marT="36576" marB="36576" anchor="ctr">
                    <a:lnL w="12700" cap="flat" cmpd="sng" algn="ctr">
                      <a:solidFill>
                        <a:srgbClr val="E3E6EC"/>
                      </a:solidFill>
                      <a:prstDash val="solid"/>
                      <a:round/>
                      <a:headEnd type="none" w="med" len="med"/>
                      <a:tailEnd type="none" w="med" len="med"/>
                    </a:lnL>
                    <a:lnR w="12700" cap="flat" cmpd="sng" algn="ctr">
                      <a:solidFill>
                        <a:srgbClr val="E3E6EC"/>
                      </a:solidFill>
                      <a:prstDash val="solid"/>
                      <a:round/>
                      <a:headEnd type="none" w="med" len="med"/>
                      <a:tailEnd type="none" w="med" len="med"/>
                    </a:lnR>
                    <a:lnT w="12700" cap="flat" cmpd="sng" algn="ctr">
                      <a:solidFill>
                        <a:srgbClr val="E3E6EC"/>
                      </a:solidFill>
                      <a:prstDash val="solid"/>
                      <a:round/>
                      <a:headEnd type="none" w="med" len="med"/>
                      <a:tailEnd type="none" w="med" len="med"/>
                    </a:lnT>
                    <a:lnB w="12700" cap="flat" cmpd="sng" algn="ctr">
                      <a:solidFill>
                        <a:srgbClr val="E3E6E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01752">
                <a:tc>
                  <a:txBody>
                    <a:bodyPr/>
                    <a:lstStyle/>
                    <a:p>
                      <a:pPr marL="0" indent="0">
                        <a:buNone/>
                      </a:pPr>
                      <a:r>
                        <a:rPr lang="en-US" sz="1200" dirty="0">
                          <a:solidFill>
                            <a:srgbClr val="3F4757"/>
                          </a:solidFill>
                          <a:latin typeface="Calibri" pitchFamily="34" charset="0"/>
                          <a:ea typeface="Calibri" pitchFamily="34" charset="-122"/>
                          <a:cs typeface="Calibri" pitchFamily="34" charset="-120"/>
                        </a:rPr>
                        <a:t>Steve Wagstaffe</a:t>
                      </a:r>
                      <a:endParaRPr lang="en-US" sz="1200" dirty="0">
                        <a:latin typeface="Calibri" charset="0"/>
                        <a:ea typeface="Calibri" charset="0"/>
                        <a:cs typeface="Calibri" charset="0"/>
                      </a:endParaRPr>
                    </a:p>
                  </a:txBody>
                  <a:tcPr marT="36576" marB="36576" anchor="ctr">
                    <a:lnL w="12700" cap="flat" cmpd="sng" algn="ctr">
                      <a:solidFill>
                        <a:srgbClr val="E3E6EC"/>
                      </a:solidFill>
                      <a:prstDash val="solid"/>
                      <a:round/>
                      <a:headEnd type="none" w="med" len="med"/>
                      <a:tailEnd type="none" w="med" len="med"/>
                    </a:lnL>
                    <a:lnR w="12700" cap="flat" cmpd="sng" algn="ctr">
                      <a:solidFill>
                        <a:srgbClr val="E3E6EC"/>
                      </a:solidFill>
                      <a:prstDash val="solid"/>
                      <a:round/>
                      <a:headEnd type="none" w="med" len="med"/>
                      <a:tailEnd type="none" w="med" len="med"/>
                    </a:lnR>
                    <a:lnT w="12700" cap="flat" cmpd="sng" algn="ctr">
                      <a:solidFill>
                        <a:srgbClr val="E3E6EC"/>
                      </a:solidFill>
                      <a:prstDash val="solid"/>
                      <a:round/>
                      <a:headEnd type="none" w="med" len="med"/>
                      <a:tailEnd type="none" w="med" len="med"/>
                    </a:lnT>
                    <a:lnB w="12700" cap="flat" cmpd="sng" algn="ctr">
                      <a:solidFill>
                        <a:srgbClr val="E3E6EC"/>
                      </a:solidFill>
                      <a:prstDash val="solid"/>
                      <a:round/>
                      <a:headEnd type="none" w="med" len="med"/>
                      <a:tailEnd type="none" w="med" len="med"/>
                    </a:lnB>
                    <a:solidFill>
                      <a:srgbClr val="FFFFFF"/>
                    </a:solidFill>
                  </a:tcPr>
                </a:tc>
                <a:tc>
                  <a:txBody>
                    <a:bodyPr/>
                    <a:lstStyle/>
                    <a:p>
                      <a:pPr marL="0" indent="0">
                        <a:buNone/>
                      </a:pPr>
                      <a:r>
                        <a:rPr lang="en-US" sz="1200" dirty="0">
                          <a:solidFill>
                            <a:srgbClr val="3F4757"/>
                          </a:solidFill>
                          <a:latin typeface="Calibri" pitchFamily="34" charset="0"/>
                          <a:ea typeface="Calibri" pitchFamily="34" charset="-122"/>
                          <a:cs typeface="Calibri" pitchFamily="34" charset="-120"/>
                        </a:rPr>
                        <a:t>San Mateo</a:t>
                      </a:r>
                      <a:endParaRPr lang="en-US" sz="1200" dirty="0">
                        <a:latin typeface="Calibri" charset="0"/>
                        <a:ea typeface="Calibri" charset="0"/>
                        <a:cs typeface="Calibri" charset="0"/>
                      </a:endParaRPr>
                    </a:p>
                  </a:txBody>
                  <a:tcPr marT="36576" marB="36576" anchor="ctr">
                    <a:lnL w="12700" cap="flat" cmpd="sng" algn="ctr">
                      <a:solidFill>
                        <a:srgbClr val="E3E6EC"/>
                      </a:solidFill>
                      <a:prstDash val="solid"/>
                      <a:round/>
                      <a:headEnd type="none" w="med" len="med"/>
                      <a:tailEnd type="none" w="med" len="med"/>
                    </a:lnL>
                    <a:lnR w="12700" cap="flat" cmpd="sng" algn="ctr">
                      <a:solidFill>
                        <a:srgbClr val="E3E6EC"/>
                      </a:solidFill>
                      <a:prstDash val="solid"/>
                      <a:round/>
                      <a:headEnd type="none" w="med" len="med"/>
                      <a:tailEnd type="none" w="med" len="med"/>
                    </a:lnR>
                    <a:lnT w="12700" cap="flat" cmpd="sng" algn="ctr">
                      <a:solidFill>
                        <a:srgbClr val="E3E6EC"/>
                      </a:solidFill>
                      <a:prstDash val="solid"/>
                      <a:round/>
                      <a:headEnd type="none" w="med" len="med"/>
                      <a:tailEnd type="none" w="med" len="med"/>
                    </a:lnT>
                    <a:lnB w="12700" cap="flat" cmpd="sng" algn="ctr">
                      <a:solidFill>
                        <a:srgbClr val="E3E6EC"/>
                      </a:solidFill>
                      <a:prstDash val="solid"/>
                      <a:round/>
                      <a:headEnd type="none" w="med" len="med"/>
                      <a:tailEnd type="none" w="med" len="med"/>
                    </a:lnB>
                    <a:solidFill>
                      <a:srgbClr val="FFFFFF"/>
                    </a:solidFill>
                  </a:tcPr>
                </a:tc>
                <a:tc>
                  <a:txBody>
                    <a:bodyPr/>
                    <a:lstStyle/>
                    <a:p>
                      <a:pPr marL="0" indent="0">
                        <a:buNone/>
                      </a:pPr>
                      <a:r>
                        <a:rPr lang="en-US" sz="1200" dirty="0">
                          <a:solidFill>
                            <a:srgbClr val="3F4757"/>
                          </a:solidFill>
                          <a:latin typeface="Calibri" pitchFamily="34" charset="0"/>
                          <a:ea typeface="Calibri" pitchFamily="34" charset="-122"/>
                          <a:cs typeface="Calibri" pitchFamily="34" charset="-120"/>
                        </a:rPr>
                        <a:t>Traditional</a:t>
                      </a:r>
                      <a:endParaRPr lang="en-US" sz="1200" dirty="0">
                        <a:latin typeface="Calibri" charset="0"/>
                        <a:ea typeface="Calibri" charset="0"/>
                        <a:cs typeface="Calibri" charset="0"/>
                      </a:endParaRPr>
                    </a:p>
                  </a:txBody>
                  <a:tcPr marT="36576" marB="36576" anchor="ctr">
                    <a:lnL w="12700" cap="flat" cmpd="sng" algn="ctr">
                      <a:solidFill>
                        <a:srgbClr val="E3E6EC"/>
                      </a:solidFill>
                      <a:prstDash val="solid"/>
                      <a:round/>
                      <a:headEnd type="none" w="med" len="med"/>
                      <a:tailEnd type="none" w="med" len="med"/>
                    </a:lnL>
                    <a:lnR w="12700" cap="flat" cmpd="sng" algn="ctr">
                      <a:solidFill>
                        <a:srgbClr val="E3E6EC"/>
                      </a:solidFill>
                      <a:prstDash val="solid"/>
                      <a:round/>
                      <a:headEnd type="none" w="med" len="med"/>
                      <a:tailEnd type="none" w="med" len="med"/>
                    </a:lnR>
                    <a:lnT w="12700" cap="flat" cmpd="sng" algn="ctr">
                      <a:solidFill>
                        <a:srgbClr val="E3E6EC"/>
                      </a:solidFill>
                      <a:prstDash val="solid"/>
                      <a:round/>
                      <a:headEnd type="none" w="med" len="med"/>
                      <a:tailEnd type="none" w="med" len="med"/>
                    </a:lnT>
                    <a:lnB w="12700" cap="flat" cmpd="sng" algn="ctr">
                      <a:solidFill>
                        <a:srgbClr val="E3E6EC"/>
                      </a:solidFill>
                      <a:prstDash val="solid"/>
                      <a:round/>
                      <a:headEnd type="none" w="med" len="med"/>
                      <a:tailEnd type="none" w="med" len="med"/>
                    </a:lnB>
                    <a:solidFill>
                      <a:srgbClr val="FFFFFF"/>
                    </a:solidFill>
                  </a:tcPr>
                </a:tc>
                <a:tc>
                  <a:txBody>
                    <a:bodyPr/>
                    <a:lstStyle/>
                    <a:p>
                      <a:pPr marL="0" indent="0" algn="r">
                        <a:buNone/>
                      </a:pPr>
                      <a:r>
                        <a:rPr lang="en-US" sz="1200" dirty="0">
                          <a:solidFill>
                            <a:srgbClr val="3F4757"/>
                          </a:solidFill>
                          <a:latin typeface="Calibri" pitchFamily="34" charset="0"/>
                          <a:ea typeface="Calibri" pitchFamily="34" charset="-122"/>
                          <a:cs typeface="Calibri" pitchFamily="34" charset="-120"/>
                        </a:rPr>
                        <a:t>1,648</a:t>
                      </a:r>
                      <a:endParaRPr lang="en-US" sz="1200" dirty="0">
                        <a:latin typeface="Calibri" charset="0"/>
                        <a:ea typeface="Calibri" charset="0"/>
                        <a:cs typeface="Calibri" charset="0"/>
                      </a:endParaRPr>
                    </a:p>
                  </a:txBody>
                  <a:tcPr marT="36576" marB="36576" anchor="ctr">
                    <a:lnL w="12700" cap="flat" cmpd="sng" algn="ctr">
                      <a:solidFill>
                        <a:srgbClr val="E3E6EC"/>
                      </a:solidFill>
                      <a:prstDash val="solid"/>
                      <a:round/>
                      <a:headEnd type="none" w="med" len="med"/>
                      <a:tailEnd type="none" w="med" len="med"/>
                    </a:lnL>
                    <a:lnR w="12700" cap="flat" cmpd="sng" algn="ctr">
                      <a:solidFill>
                        <a:srgbClr val="E3E6EC"/>
                      </a:solidFill>
                      <a:prstDash val="solid"/>
                      <a:round/>
                      <a:headEnd type="none" w="med" len="med"/>
                      <a:tailEnd type="none" w="med" len="med"/>
                    </a:lnR>
                    <a:lnT w="12700" cap="flat" cmpd="sng" algn="ctr">
                      <a:solidFill>
                        <a:srgbClr val="E3E6EC"/>
                      </a:solidFill>
                      <a:prstDash val="solid"/>
                      <a:round/>
                      <a:headEnd type="none" w="med" len="med"/>
                      <a:tailEnd type="none" w="med" len="med"/>
                    </a:lnT>
                    <a:lnB w="12700" cap="flat" cmpd="sng" algn="ctr">
                      <a:solidFill>
                        <a:srgbClr val="E3E6E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19" name="Shape 16"/>
          <p:cNvSpPr/>
          <p:nvPr/>
        </p:nvSpPr>
        <p:spPr>
          <a:xfrm>
            <a:off x="7635240" y="3383280"/>
            <a:ext cx="3977640" cy="2286000"/>
          </a:xfrm>
          <a:prstGeom prst="roundRect">
            <a:avLst>
              <a:gd name="adj" fmla="val 2800"/>
            </a:avLst>
          </a:prstGeom>
          <a:solidFill>
            <a:srgbClr val="F6E9EA"/>
          </a:solidFill>
          <a:ln/>
          <a:effectLst>
            <a:outerShdw blurRad="101600" dist="25400" dir="5400000" algn="bl" rotWithShape="0">
              <a:srgbClr val="9AA1AE">
                <a:alpha val="22000"/>
              </a:srgbClr>
            </a:outerShdw>
          </a:effectLst>
        </p:spPr>
        <p:txBody>
          <a:bodyPr/>
          <a:lstStyle/>
          <a:p>
            <a:endParaRPr lang="en-US"/>
          </a:p>
        </p:txBody>
      </p:sp>
      <p:sp>
        <p:nvSpPr>
          <p:cNvPr id="20" name="Text 17"/>
          <p:cNvSpPr/>
          <p:nvPr/>
        </p:nvSpPr>
        <p:spPr>
          <a:xfrm>
            <a:off x="7955280" y="3611880"/>
            <a:ext cx="3337560" cy="548640"/>
          </a:xfrm>
          <a:prstGeom prst="rect">
            <a:avLst/>
          </a:prstGeom>
          <a:noFill/>
          <a:ln/>
        </p:spPr>
        <p:txBody>
          <a:bodyPr wrap="square" lIns="0" tIns="0" rIns="0" bIns="0" rtlCol="0" anchor="t"/>
          <a:lstStyle/>
          <a:p>
            <a:pPr marL="0" indent="0">
              <a:lnSpc>
                <a:spcPct val="105000"/>
              </a:lnSpc>
              <a:buNone/>
            </a:pPr>
            <a:r>
              <a:rPr lang="en-US" sz="1500" b="1" dirty="0">
                <a:solidFill>
                  <a:srgbClr val="6D1119"/>
                </a:solidFill>
                <a:latin typeface="Calibri" pitchFamily="34" charset="0"/>
                <a:ea typeface="Calibri" pitchFamily="34" charset="-122"/>
                <a:cs typeface="Calibri" pitchFamily="34" charset="-120"/>
              </a:rPr>
              <a:t>Two counties gave us a natural comparison</a:t>
            </a:r>
            <a:endParaRPr lang="en-US" sz="1500" dirty="0"/>
          </a:p>
        </p:txBody>
      </p:sp>
      <p:sp>
        <p:nvSpPr>
          <p:cNvPr id="21" name="Text 18"/>
          <p:cNvSpPr/>
          <p:nvPr/>
        </p:nvSpPr>
        <p:spPr>
          <a:xfrm>
            <a:off x="7955280" y="4251960"/>
            <a:ext cx="3337560" cy="1280160"/>
          </a:xfrm>
          <a:prstGeom prst="rect">
            <a:avLst/>
          </a:prstGeom>
          <a:noFill/>
          <a:ln/>
        </p:spPr>
        <p:txBody>
          <a:bodyPr wrap="square" lIns="0" tIns="0" rIns="0" bIns="0" rtlCol="0" anchor="t"/>
          <a:lstStyle/>
          <a:p>
            <a:pPr marL="0" indent="0">
              <a:lnSpc>
                <a:spcPct val="112000"/>
              </a:lnSpc>
              <a:buNone/>
            </a:pPr>
            <a:r>
              <a:rPr lang="en-US" sz="1200" dirty="0">
                <a:solidFill>
                  <a:srgbClr val="6D1119"/>
                </a:solidFill>
                <a:latin typeface="Calibri" pitchFamily="34" charset="0"/>
                <a:ea typeface="Calibri" pitchFamily="34" charset="-122"/>
                <a:cs typeface="Calibri" pitchFamily="34" charset="-120"/>
              </a:rPr>
              <a:t>San Francisco and Alameda each swapped a reform DA for a traditional one, or the reverse, inside the same six years. Same city, same reporters, same paper — different prosecutor.</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94360" y="329184"/>
            <a:ext cx="10972800" cy="658368"/>
          </a:xfrm>
          <a:prstGeom prst="rect">
            <a:avLst/>
          </a:prstGeom>
          <a:noFill/>
          <a:ln/>
        </p:spPr>
        <p:txBody>
          <a:bodyPr wrap="square" lIns="0" tIns="0" rIns="0" bIns="0" rtlCol="0" anchor="ctr"/>
          <a:lstStyle/>
          <a:p>
            <a:pPr marL="0" indent="0" algn="l">
              <a:buNone/>
            </a:pPr>
            <a:r>
              <a:rPr lang="en-US" sz="3400" b="1" dirty="0">
                <a:solidFill>
                  <a:srgbClr val="14161F"/>
                </a:solidFill>
                <a:latin typeface="Cambria" pitchFamily="34" charset="0"/>
                <a:ea typeface="Cambria" pitchFamily="34" charset="-122"/>
                <a:cs typeface="Cambria" pitchFamily="34" charset="-120"/>
              </a:rPr>
              <a:t>The first finding is about the question, not the answer</a:t>
            </a:r>
            <a:endParaRPr lang="en-US" sz="3400" dirty="0"/>
          </a:p>
        </p:txBody>
      </p:sp>
      <p:sp>
        <p:nvSpPr>
          <p:cNvPr id="3" name="Text 1"/>
          <p:cNvSpPr/>
          <p:nvPr/>
        </p:nvSpPr>
        <p:spPr>
          <a:xfrm>
            <a:off x="594360" y="1005840"/>
            <a:ext cx="11018520" cy="365760"/>
          </a:xfrm>
          <a:prstGeom prst="rect">
            <a:avLst/>
          </a:prstGeom>
          <a:noFill/>
          <a:ln/>
        </p:spPr>
        <p:txBody>
          <a:bodyPr wrap="square" lIns="0" tIns="0" rIns="0" bIns="0" rtlCol="0" anchor="ctr"/>
          <a:lstStyle/>
          <a:p>
            <a:pPr marL="0" indent="0">
              <a:buNone/>
            </a:pPr>
            <a:r>
              <a:rPr lang="en-US" sz="1400" dirty="0">
                <a:solidFill>
                  <a:srgbClr val="3F4757"/>
                </a:solidFill>
                <a:latin typeface="Calibri" pitchFamily="34" charset="0"/>
                <a:ea typeface="Calibri" pitchFamily="34" charset="-122"/>
                <a:cs typeface="Calibri" pitchFamily="34" charset="-120"/>
              </a:rPr>
              <a:t>We asked the same 12,827 articles three different versions of "was this coverage hostile?" — and got three different answers.</a:t>
            </a:r>
            <a:endParaRPr lang="en-US" sz="1400" dirty="0"/>
          </a:p>
        </p:txBody>
      </p:sp>
      <p:sp>
        <p:nvSpPr>
          <p:cNvPr id="4" name="Shape 2"/>
          <p:cNvSpPr/>
          <p:nvPr/>
        </p:nvSpPr>
        <p:spPr>
          <a:xfrm>
            <a:off x="594360" y="1600200"/>
            <a:ext cx="11018520" cy="1143000"/>
          </a:xfrm>
          <a:prstGeom prst="roundRect">
            <a:avLst>
              <a:gd name="adj" fmla="val 5600"/>
            </a:avLst>
          </a:prstGeom>
          <a:solidFill>
            <a:srgbClr val="F4F5F7"/>
          </a:solidFill>
          <a:ln/>
          <a:effectLst>
            <a:outerShdw blurRad="101600" dist="25400" dir="5400000" algn="bl" rotWithShape="0">
              <a:srgbClr val="9AA1AE">
                <a:alpha val="22000"/>
              </a:srgbClr>
            </a:outerShdw>
          </a:effectLst>
        </p:spPr>
        <p:txBody>
          <a:bodyPr/>
          <a:lstStyle/>
          <a:p>
            <a:endParaRPr lang="en-US"/>
          </a:p>
        </p:txBody>
      </p:sp>
      <p:sp>
        <p:nvSpPr>
          <p:cNvPr id="5" name="Text 3"/>
          <p:cNvSpPr/>
          <p:nvPr/>
        </p:nvSpPr>
        <p:spPr>
          <a:xfrm>
            <a:off x="960120" y="1746504"/>
            <a:ext cx="5029200" cy="384048"/>
          </a:xfrm>
          <a:prstGeom prst="rect">
            <a:avLst/>
          </a:prstGeom>
          <a:noFill/>
          <a:ln/>
        </p:spPr>
        <p:txBody>
          <a:bodyPr wrap="square" lIns="0" tIns="0" rIns="0" bIns="0" rtlCol="0" anchor="ctr"/>
          <a:lstStyle/>
          <a:p>
            <a:pPr marL="0" indent="0">
              <a:buNone/>
            </a:pPr>
            <a:r>
              <a:rPr lang="en-US" sz="1600" b="1" dirty="0">
                <a:solidFill>
                  <a:srgbClr val="2B3A55"/>
                </a:solidFill>
                <a:latin typeface="Calibri" pitchFamily="34" charset="0"/>
                <a:ea typeface="Calibri" pitchFamily="34" charset="-122"/>
                <a:cs typeface="Calibri" pitchFamily="34" charset="-120"/>
              </a:rPr>
              <a:t>Does the article sound negative?</a:t>
            </a:r>
            <a:endParaRPr lang="en-US" sz="1600" dirty="0"/>
          </a:p>
        </p:txBody>
      </p:sp>
      <p:sp>
        <p:nvSpPr>
          <p:cNvPr id="6" name="Text 4"/>
          <p:cNvSpPr/>
          <p:nvPr/>
        </p:nvSpPr>
        <p:spPr>
          <a:xfrm>
            <a:off x="960120" y="2148840"/>
            <a:ext cx="7680960" cy="457200"/>
          </a:xfrm>
          <a:prstGeom prst="rect">
            <a:avLst/>
          </a:prstGeom>
          <a:noFill/>
          <a:ln/>
        </p:spPr>
        <p:txBody>
          <a:bodyPr wrap="square" lIns="0" tIns="0" rIns="0" bIns="0" rtlCol="0" anchor="t"/>
          <a:lstStyle/>
          <a:p>
            <a:pPr marL="0" indent="0">
              <a:lnSpc>
                <a:spcPct val="110000"/>
              </a:lnSpc>
              <a:buNone/>
            </a:pPr>
            <a:r>
              <a:rPr lang="en-US" sz="1250" dirty="0">
                <a:solidFill>
                  <a:srgbClr val="3F4757"/>
                </a:solidFill>
                <a:latin typeface="Calibri" pitchFamily="34" charset="0"/>
                <a:ea typeface="Calibri" pitchFamily="34" charset="-122"/>
                <a:cs typeface="Calibri" pitchFamily="34" charset="-120"/>
              </a:rPr>
              <a:t>Measure the mood of the writing and reform and traditional prosecutors come out nearly identical.</a:t>
            </a:r>
            <a:endParaRPr lang="en-US" sz="1250" dirty="0"/>
          </a:p>
        </p:txBody>
      </p:sp>
      <p:sp>
        <p:nvSpPr>
          <p:cNvPr id="7" name="Shape 5"/>
          <p:cNvSpPr/>
          <p:nvPr/>
        </p:nvSpPr>
        <p:spPr>
          <a:xfrm>
            <a:off x="9098280" y="1938528"/>
            <a:ext cx="2194560" cy="475488"/>
          </a:xfrm>
          <a:prstGeom prst="roundRect">
            <a:avLst>
              <a:gd name="adj" fmla="val 23077"/>
            </a:avLst>
          </a:prstGeom>
          <a:solidFill>
            <a:srgbClr val="9AA1AE"/>
          </a:solidFill>
          <a:ln/>
        </p:spPr>
        <p:txBody>
          <a:bodyPr/>
          <a:lstStyle/>
          <a:p>
            <a:endParaRPr lang="en-US"/>
          </a:p>
        </p:txBody>
      </p:sp>
      <p:sp>
        <p:nvSpPr>
          <p:cNvPr id="8" name="Text 6"/>
          <p:cNvSpPr/>
          <p:nvPr/>
        </p:nvSpPr>
        <p:spPr>
          <a:xfrm>
            <a:off x="9098280" y="1938528"/>
            <a:ext cx="2194560" cy="47548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About the same</a:t>
            </a:r>
            <a:endParaRPr lang="en-US" sz="1300" dirty="0"/>
          </a:p>
        </p:txBody>
      </p:sp>
      <p:sp>
        <p:nvSpPr>
          <p:cNvPr id="9" name="Shape 7"/>
          <p:cNvSpPr/>
          <p:nvPr/>
        </p:nvSpPr>
        <p:spPr>
          <a:xfrm>
            <a:off x="594360" y="2898648"/>
            <a:ext cx="11018520" cy="1143000"/>
          </a:xfrm>
          <a:prstGeom prst="roundRect">
            <a:avLst>
              <a:gd name="adj" fmla="val 5600"/>
            </a:avLst>
          </a:prstGeom>
          <a:solidFill>
            <a:srgbClr val="F4F5F7"/>
          </a:solidFill>
          <a:ln/>
          <a:effectLst>
            <a:outerShdw blurRad="101600" dist="25400" dir="5400000" algn="bl" rotWithShape="0">
              <a:srgbClr val="9AA1AE">
                <a:alpha val="22000"/>
              </a:srgbClr>
            </a:outerShdw>
          </a:effectLst>
        </p:spPr>
        <p:txBody>
          <a:bodyPr/>
          <a:lstStyle/>
          <a:p>
            <a:endParaRPr lang="en-US"/>
          </a:p>
        </p:txBody>
      </p:sp>
      <p:sp>
        <p:nvSpPr>
          <p:cNvPr id="10" name="Text 8"/>
          <p:cNvSpPr/>
          <p:nvPr/>
        </p:nvSpPr>
        <p:spPr>
          <a:xfrm>
            <a:off x="960120" y="3044952"/>
            <a:ext cx="5029200" cy="384048"/>
          </a:xfrm>
          <a:prstGeom prst="rect">
            <a:avLst/>
          </a:prstGeom>
          <a:noFill/>
          <a:ln/>
        </p:spPr>
        <p:txBody>
          <a:bodyPr wrap="square" lIns="0" tIns="0" rIns="0" bIns="0" rtlCol="0" anchor="ctr"/>
          <a:lstStyle/>
          <a:p>
            <a:pPr marL="0" indent="0">
              <a:buNone/>
            </a:pPr>
            <a:r>
              <a:rPr lang="en-US" sz="1600" b="1" dirty="0">
                <a:solidFill>
                  <a:srgbClr val="2B3A55"/>
                </a:solidFill>
                <a:latin typeface="Calibri" pitchFamily="34" charset="0"/>
                <a:ea typeface="Calibri" pitchFamily="34" charset="-122"/>
                <a:cs typeface="Calibri" pitchFamily="34" charset="-120"/>
              </a:rPr>
              <a:t>Is the article arguing against the DA?</a:t>
            </a:r>
            <a:endParaRPr lang="en-US" sz="1600" dirty="0"/>
          </a:p>
        </p:txBody>
      </p:sp>
      <p:sp>
        <p:nvSpPr>
          <p:cNvPr id="11" name="Text 9"/>
          <p:cNvSpPr/>
          <p:nvPr/>
        </p:nvSpPr>
        <p:spPr>
          <a:xfrm>
            <a:off x="960120" y="3447288"/>
            <a:ext cx="7680960" cy="457200"/>
          </a:xfrm>
          <a:prstGeom prst="rect">
            <a:avLst/>
          </a:prstGeom>
          <a:noFill/>
          <a:ln/>
        </p:spPr>
        <p:txBody>
          <a:bodyPr wrap="square" lIns="0" tIns="0" rIns="0" bIns="0" rtlCol="0" anchor="t"/>
          <a:lstStyle/>
          <a:p>
            <a:pPr marL="0" indent="0">
              <a:lnSpc>
                <a:spcPct val="110000"/>
              </a:lnSpc>
              <a:buNone/>
            </a:pPr>
            <a:r>
              <a:rPr lang="en-US" sz="1250" dirty="0">
                <a:solidFill>
                  <a:srgbClr val="3F4757"/>
                </a:solidFill>
                <a:latin typeface="Calibri" pitchFamily="34" charset="0"/>
                <a:ea typeface="Calibri" pitchFamily="34" charset="-122"/>
                <a:cs typeface="Calibri" pitchFamily="34" charset="-120"/>
              </a:rPr>
              <a:t>Look at whether the piece takes a position, and coverage of reform prosecutors leans against them.</a:t>
            </a:r>
            <a:endParaRPr lang="en-US" sz="1250" dirty="0"/>
          </a:p>
        </p:txBody>
      </p:sp>
      <p:sp>
        <p:nvSpPr>
          <p:cNvPr id="12" name="Shape 10"/>
          <p:cNvSpPr/>
          <p:nvPr/>
        </p:nvSpPr>
        <p:spPr>
          <a:xfrm>
            <a:off x="9098280" y="3236976"/>
            <a:ext cx="2194560" cy="475488"/>
          </a:xfrm>
          <a:prstGeom prst="roundRect">
            <a:avLst>
              <a:gd name="adj" fmla="val 23077"/>
            </a:avLst>
          </a:prstGeom>
          <a:solidFill>
            <a:srgbClr val="A31621"/>
          </a:solidFill>
          <a:ln/>
        </p:spPr>
        <p:txBody>
          <a:bodyPr/>
          <a:lstStyle/>
          <a:p>
            <a:endParaRPr lang="en-US"/>
          </a:p>
        </p:txBody>
      </p:sp>
      <p:sp>
        <p:nvSpPr>
          <p:cNvPr id="13" name="Text 11"/>
          <p:cNvSpPr/>
          <p:nvPr/>
        </p:nvSpPr>
        <p:spPr>
          <a:xfrm>
            <a:off x="9098280" y="3236976"/>
            <a:ext cx="2194560" cy="47548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Clearly more</a:t>
            </a:r>
            <a:endParaRPr lang="en-US" sz="1300" dirty="0"/>
          </a:p>
        </p:txBody>
      </p:sp>
      <p:sp>
        <p:nvSpPr>
          <p:cNvPr id="14" name="Shape 12"/>
          <p:cNvSpPr/>
          <p:nvPr/>
        </p:nvSpPr>
        <p:spPr>
          <a:xfrm>
            <a:off x="594360" y="4197096"/>
            <a:ext cx="11018520" cy="1143000"/>
          </a:xfrm>
          <a:prstGeom prst="roundRect">
            <a:avLst>
              <a:gd name="adj" fmla="val 5600"/>
            </a:avLst>
          </a:prstGeom>
          <a:solidFill>
            <a:srgbClr val="F4F5F7"/>
          </a:solidFill>
          <a:ln/>
          <a:effectLst>
            <a:outerShdw blurRad="101600" dist="25400" dir="5400000" algn="bl" rotWithShape="0">
              <a:srgbClr val="9AA1AE">
                <a:alpha val="22000"/>
              </a:srgbClr>
            </a:outerShdw>
          </a:effectLst>
        </p:spPr>
        <p:txBody>
          <a:bodyPr/>
          <a:lstStyle/>
          <a:p>
            <a:endParaRPr lang="en-US"/>
          </a:p>
        </p:txBody>
      </p:sp>
      <p:sp>
        <p:nvSpPr>
          <p:cNvPr id="15" name="Text 13"/>
          <p:cNvSpPr/>
          <p:nvPr/>
        </p:nvSpPr>
        <p:spPr>
          <a:xfrm>
            <a:off x="960120" y="4343400"/>
            <a:ext cx="5029200" cy="384048"/>
          </a:xfrm>
          <a:prstGeom prst="rect">
            <a:avLst/>
          </a:prstGeom>
          <a:noFill/>
          <a:ln/>
        </p:spPr>
        <p:txBody>
          <a:bodyPr wrap="square" lIns="0" tIns="0" rIns="0" bIns="0" rtlCol="0" anchor="ctr"/>
          <a:lstStyle/>
          <a:p>
            <a:pPr marL="0" indent="0">
              <a:buNone/>
            </a:pPr>
            <a:r>
              <a:rPr lang="en-US" sz="1600" b="1" dirty="0">
                <a:solidFill>
                  <a:srgbClr val="2B3A55"/>
                </a:solidFill>
                <a:latin typeface="Calibri" pitchFamily="34" charset="0"/>
                <a:ea typeface="Calibri" pitchFamily="34" charset="-122"/>
                <a:cs typeface="Calibri" pitchFamily="34" charset="-120"/>
              </a:rPr>
              <a:t>Do critical storylines attach to the DA by name?</a:t>
            </a:r>
            <a:endParaRPr lang="en-US" sz="1600" dirty="0"/>
          </a:p>
        </p:txBody>
      </p:sp>
      <p:sp>
        <p:nvSpPr>
          <p:cNvPr id="16" name="Text 14"/>
          <p:cNvSpPr/>
          <p:nvPr/>
        </p:nvSpPr>
        <p:spPr>
          <a:xfrm>
            <a:off x="960120" y="4745736"/>
            <a:ext cx="7680960" cy="457200"/>
          </a:xfrm>
          <a:prstGeom prst="rect">
            <a:avLst/>
          </a:prstGeom>
          <a:noFill/>
          <a:ln/>
        </p:spPr>
        <p:txBody>
          <a:bodyPr wrap="square" lIns="0" tIns="0" rIns="0" bIns="0" rtlCol="0" anchor="t"/>
          <a:lstStyle/>
          <a:p>
            <a:pPr marL="0" indent="0">
              <a:lnSpc>
                <a:spcPct val="110000"/>
              </a:lnSpc>
              <a:buNone/>
            </a:pPr>
            <a:r>
              <a:rPr lang="en-US" sz="1250" dirty="0">
                <a:solidFill>
                  <a:srgbClr val="3F4757"/>
                </a:solidFill>
                <a:latin typeface="Calibri" pitchFamily="34" charset="0"/>
                <a:ea typeface="Calibri" pitchFamily="34" charset="-122"/>
                <a:cs typeface="Calibri" pitchFamily="34" charset="-120"/>
              </a:rPr>
              <a:t>Look for “soft on crime” or “recall” sitting next to the prosecutor's name — the widest gap of the three.</a:t>
            </a:r>
            <a:endParaRPr lang="en-US" sz="1250" dirty="0"/>
          </a:p>
        </p:txBody>
      </p:sp>
      <p:sp>
        <p:nvSpPr>
          <p:cNvPr id="17" name="Shape 15"/>
          <p:cNvSpPr/>
          <p:nvPr/>
        </p:nvSpPr>
        <p:spPr>
          <a:xfrm>
            <a:off x="9098280" y="4535424"/>
            <a:ext cx="2194560" cy="475488"/>
          </a:xfrm>
          <a:prstGeom prst="roundRect">
            <a:avLst>
              <a:gd name="adj" fmla="val 23077"/>
            </a:avLst>
          </a:prstGeom>
          <a:solidFill>
            <a:srgbClr val="A31621"/>
          </a:solidFill>
          <a:ln/>
        </p:spPr>
        <p:txBody>
          <a:bodyPr/>
          <a:lstStyle/>
          <a:p>
            <a:endParaRPr lang="en-US"/>
          </a:p>
        </p:txBody>
      </p:sp>
      <p:sp>
        <p:nvSpPr>
          <p:cNvPr id="18" name="Text 16"/>
          <p:cNvSpPr/>
          <p:nvPr/>
        </p:nvSpPr>
        <p:spPr>
          <a:xfrm>
            <a:off x="9098280" y="4535424"/>
            <a:ext cx="2194560" cy="47548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Much more</a:t>
            </a:r>
            <a:endParaRPr lang="en-US" sz="1300" dirty="0"/>
          </a:p>
        </p:txBody>
      </p:sp>
      <p:sp>
        <p:nvSpPr>
          <p:cNvPr id="19" name="Text 17"/>
          <p:cNvSpPr/>
          <p:nvPr/>
        </p:nvSpPr>
        <p:spPr>
          <a:xfrm>
            <a:off x="594360" y="5623560"/>
            <a:ext cx="11018520" cy="457200"/>
          </a:xfrm>
          <a:prstGeom prst="rect">
            <a:avLst/>
          </a:prstGeom>
          <a:noFill/>
          <a:ln/>
        </p:spPr>
        <p:txBody>
          <a:bodyPr wrap="square" lIns="0" tIns="0" rIns="0" bIns="0" rtlCol="0" anchor="ctr"/>
          <a:lstStyle/>
          <a:p>
            <a:pPr marL="0" indent="0">
              <a:buNone/>
            </a:pPr>
            <a:r>
              <a:rPr lang="en-US" sz="1450" b="1" dirty="0">
                <a:solidFill>
                  <a:srgbClr val="A31621"/>
                </a:solidFill>
                <a:latin typeface="Calibri" pitchFamily="34" charset="0"/>
                <a:ea typeface="Calibri" pitchFamily="34" charset="-122"/>
                <a:cs typeface="Calibri" pitchFamily="34" charset="-120"/>
              </a:rPr>
              <a:t>Whoever chooses the measure has already chosen much of the answer. That is the part to be suspicious of — in our work and in anyone else's.</a:t>
            </a:r>
            <a:endParaRPr lang="en-US" sz="14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94360" y="329184"/>
            <a:ext cx="10972800" cy="658368"/>
          </a:xfrm>
          <a:prstGeom prst="rect">
            <a:avLst/>
          </a:prstGeom>
          <a:noFill/>
          <a:ln/>
        </p:spPr>
        <p:txBody>
          <a:bodyPr wrap="square" lIns="0" tIns="0" rIns="0" bIns="0" rtlCol="0" anchor="ctr"/>
          <a:lstStyle/>
          <a:p>
            <a:pPr marL="0" indent="0" algn="l">
              <a:buNone/>
            </a:pPr>
            <a:r>
              <a:rPr lang="en-US" sz="3400" b="1" dirty="0">
                <a:solidFill>
                  <a:srgbClr val="14161F"/>
                </a:solidFill>
                <a:latin typeface="Cambria" pitchFamily="34" charset="0"/>
                <a:ea typeface="Cambria" pitchFamily="34" charset="-122"/>
                <a:cs typeface="Cambria" pitchFamily="34" charset="-120"/>
              </a:rPr>
              <a:t>Not meaner coverage, but a different kind of story.</a:t>
            </a:r>
            <a:endParaRPr lang="en-US" sz="3400" dirty="0"/>
          </a:p>
        </p:txBody>
      </p:sp>
      <p:sp>
        <p:nvSpPr>
          <p:cNvPr id="3" name="Shape 1"/>
          <p:cNvSpPr/>
          <p:nvPr/>
        </p:nvSpPr>
        <p:spPr>
          <a:xfrm>
            <a:off x="594360" y="1325880"/>
            <a:ext cx="5349240" cy="3246120"/>
          </a:xfrm>
          <a:prstGeom prst="roundRect">
            <a:avLst>
              <a:gd name="adj" fmla="val 1972"/>
            </a:avLst>
          </a:prstGeom>
          <a:solidFill>
            <a:srgbClr val="F4F5F7"/>
          </a:solidFill>
          <a:ln/>
          <a:effectLst>
            <a:outerShdw blurRad="101600" dist="25400" dir="5400000" algn="bl" rotWithShape="0">
              <a:srgbClr val="9AA1AE">
                <a:alpha val="22000"/>
              </a:srgbClr>
            </a:outerShdw>
          </a:effectLst>
        </p:spPr>
        <p:txBody>
          <a:bodyPr/>
          <a:lstStyle/>
          <a:p>
            <a:endParaRPr lang="en-US"/>
          </a:p>
        </p:txBody>
      </p:sp>
      <p:sp>
        <p:nvSpPr>
          <p:cNvPr id="4" name="Text 2"/>
          <p:cNvSpPr/>
          <p:nvPr/>
        </p:nvSpPr>
        <p:spPr>
          <a:xfrm>
            <a:off x="914400" y="1572768"/>
            <a:ext cx="4709160" cy="320040"/>
          </a:xfrm>
          <a:prstGeom prst="rect">
            <a:avLst/>
          </a:prstGeom>
          <a:noFill/>
          <a:ln/>
        </p:spPr>
        <p:txBody>
          <a:bodyPr wrap="square" lIns="0" tIns="0" rIns="0" bIns="0" rtlCol="0" anchor="ctr"/>
          <a:lstStyle/>
          <a:p>
            <a:pPr marL="0" indent="0">
              <a:buNone/>
            </a:pPr>
            <a:r>
              <a:rPr lang="en-US" sz="1300" b="1" kern="0" spc="60" dirty="0">
                <a:solidFill>
                  <a:srgbClr val="A31621"/>
                </a:solidFill>
                <a:latin typeface="Calibri" pitchFamily="34" charset="0"/>
                <a:ea typeface="Calibri" pitchFamily="34" charset="-122"/>
                <a:cs typeface="Calibri" pitchFamily="34" charset="-120"/>
              </a:rPr>
              <a:t>When the DA was a reformer,</a:t>
            </a:r>
            <a:endParaRPr lang="en-US" sz="1300" dirty="0"/>
          </a:p>
        </p:txBody>
      </p:sp>
      <p:sp>
        <p:nvSpPr>
          <p:cNvPr id="5" name="Text 3"/>
          <p:cNvSpPr/>
          <p:nvPr/>
        </p:nvSpPr>
        <p:spPr>
          <a:xfrm>
            <a:off x="914400" y="1901952"/>
            <a:ext cx="4709160" cy="457200"/>
          </a:xfrm>
          <a:prstGeom prst="rect">
            <a:avLst/>
          </a:prstGeom>
          <a:noFill/>
          <a:ln/>
        </p:spPr>
        <p:txBody>
          <a:bodyPr wrap="square" lIns="0" tIns="0" rIns="0" bIns="0" rtlCol="0" anchor="ctr"/>
          <a:lstStyle/>
          <a:p>
            <a:pPr marL="0" indent="0">
              <a:buNone/>
            </a:pPr>
            <a:r>
              <a:rPr lang="en-US" sz="2000" b="1" dirty="0">
                <a:solidFill>
                  <a:srgbClr val="2B3A55"/>
                </a:solidFill>
                <a:latin typeface="Cambria" pitchFamily="34" charset="0"/>
                <a:ea typeface="Cambria" pitchFamily="34" charset="-122"/>
                <a:cs typeface="Cambria" pitchFamily="34" charset="-120"/>
              </a:rPr>
              <a:t>the article was usually about the DA</a:t>
            </a:r>
            <a:endParaRPr lang="en-US" sz="2000" dirty="0"/>
          </a:p>
        </p:txBody>
      </p:sp>
      <p:sp>
        <p:nvSpPr>
          <p:cNvPr id="6" name="Text 4"/>
          <p:cNvSpPr/>
          <p:nvPr/>
        </p:nvSpPr>
        <p:spPr>
          <a:xfrm>
            <a:off x="1051560" y="2514600"/>
            <a:ext cx="4572000" cy="1554480"/>
          </a:xfrm>
          <a:prstGeom prst="rect">
            <a:avLst/>
          </a:prstGeom>
          <a:noFill/>
          <a:ln/>
        </p:spPr>
        <p:txBody>
          <a:bodyPr wrap="square" lIns="0" tIns="0" rIns="0" bIns="0" rtlCol="0" anchor="ctr"/>
          <a:lstStyle/>
          <a:p>
            <a:pPr marL="342900" indent="-342900">
              <a:spcAft>
                <a:spcPts val="700"/>
              </a:spcAft>
              <a:buSzPct val="100000"/>
              <a:buChar char="•"/>
            </a:pPr>
            <a:r>
              <a:rPr lang="en-US" sz="1400" dirty="0">
                <a:solidFill>
                  <a:srgbClr val="3F4757"/>
                </a:solidFill>
                <a:latin typeface="Calibri" pitchFamily="34" charset="0"/>
                <a:ea typeface="Calibri" pitchFamily="34" charset="-122"/>
                <a:cs typeface="Calibri" pitchFamily="34" charset="-120"/>
              </a:rPr>
              <a:t>whether their approach was working</a:t>
            </a:r>
            <a:endParaRPr lang="en-US" sz="1400" dirty="0"/>
          </a:p>
          <a:p>
            <a:pPr marL="342900" indent="-342900">
              <a:spcAft>
                <a:spcPts val="700"/>
              </a:spcAft>
              <a:buSzPct val="100000"/>
              <a:buChar char="•"/>
            </a:pPr>
            <a:r>
              <a:rPr lang="en-US" sz="1400" dirty="0">
                <a:solidFill>
                  <a:srgbClr val="3F4757"/>
                </a:solidFill>
                <a:latin typeface="Calibri" pitchFamily="34" charset="0"/>
                <a:ea typeface="Calibri" pitchFamily="34" charset="-122"/>
                <a:cs typeface="Calibri" pitchFamily="34" charset="-120"/>
              </a:rPr>
              <a:t>whether the office was in trouble</a:t>
            </a:r>
            <a:endParaRPr lang="en-US" sz="1400" dirty="0"/>
          </a:p>
          <a:p>
            <a:pPr marL="342900" indent="-342900">
              <a:spcAft>
                <a:spcPts val="700"/>
              </a:spcAft>
              <a:buSzPct val="100000"/>
              <a:buChar char="•"/>
            </a:pPr>
            <a:r>
              <a:rPr lang="en-US" sz="1400" dirty="0">
                <a:solidFill>
                  <a:srgbClr val="3F4757"/>
                </a:solidFill>
                <a:latin typeface="Calibri" pitchFamily="34" charset="0"/>
                <a:ea typeface="Calibri" pitchFamily="34" charset="-122"/>
                <a:cs typeface="Calibri" pitchFamily="34" charset="-120"/>
              </a:rPr>
              <a:t>the campaign to remove them</a:t>
            </a:r>
            <a:endParaRPr lang="en-US" sz="1400" dirty="0"/>
          </a:p>
          <a:p>
            <a:pPr marL="342900" indent="-342900">
              <a:spcAft>
                <a:spcPts val="700"/>
              </a:spcAft>
              <a:buSzPct val="100000"/>
              <a:buChar char="•"/>
            </a:pPr>
            <a:r>
              <a:rPr lang="en-US" sz="1400" dirty="0">
                <a:solidFill>
                  <a:srgbClr val="3F4757"/>
                </a:solidFill>
                <a:latin typeface="Calibri" pitchFamily="34" charset="0"/>
                <a:ea typeface="Calibri" pitchFamily="34" charset="-122"/>
                <a:cs typeface="Calibri" pitchFamily="34" charset="-120"/>
              </a:rPr>
              <a:t>what their critics said about them</a:t>
            </a:r>
            <a:endParaRPr lang="en-US" sz="1400" dirty="0"/>
          </a:p>
        </p:txBody>
      </p:sp>
      <p:sp>
        <p:nvSpPr>
          <p:cNvPr id="7" name="Text 5"/>
          <p:cNvSpPr/>
          <p:nvPr/>
        </p:nvSpPr>
        <p:spPr>
          <a:xfrm>
            <a:off x="914400" y="4114800"/>
            <a:ext cx="4709160" cy="365760"/>
          </a:xfrm>
          <a:prstGeom prst="rect">
            <a:avLst/>
          </a:prstGeom>
          <a:noFill/>
          <a:ln/>
        </p:spPr>
        <p:txBody>
          <a:bodyPr wrap="square" lIns="0" tIns="0" rIns="0" bIns="0" rtlCol="0" anchor="ctr"/>
          <a:lstStyle/>
          <a:p>
            <a:pPr marL="0" indent="0">
              <a:buNone/>
            </a:pPr>
            <a:r>
              <a:rPr lang="en-US" sz="1350" i="1" dirty="0">
                <a:solidFill>
                  <a:srgbClr val="6B7280"/>
                </a:solidFill>
                <a:latin typeface="Calibri" pitchFamily="34" charset="0"/>
                <a:ea typeface="Calibri" pitchFamily="34" charset="-122"/>
                <a:cs typeface="Calibri" pitchFamily="34" charset="-120"/>
              </a:rPr>
              <a:t>A controversy to be adjudicated.</a:t>
            </a:r>
            <a:endParaRPr lang="en-US" sz="1350" dirty="0"/>
          </a:p>
        </p:txBody>
      </p:sp>
      <p:sp>
        <p:nvSpPr>
          <p:cNvPr id="8" name="Shape 6"/>
          <p:cNvSpPr/>
          <p:nvPr/>
        </p:nvSpPr>
        <p:spPr>
          <a:xfrm>
            <a:off x="6263640" y="1325880"/>
            <a:ext cx="5349240" cy="3246120"/>
          </a:xfrm>
          <a:prstGeom prst="roundRect">
            <a:avLst>
              <a:gd name="adj" fmla="val 1972"/>
            </a:avLst>
          </a:prstGeom>
          <a:solidFill>
            <a:srgbClr val="F4F5F7"/>
          </a:solidFill>
          <a:ln/>
          <a:effectLst>
            <a:outerShdw blurRad="101600" dist="25400" dir="5400000" algn="bl" rotWithShape="0">
              <a:srgbClr val="9AA1AE">
                <a:alpha val="22000"/>
              </a:srgbClr>
            </a:outerShdw>
          </a:effectLst>
        </p:spPr>
        <p:txBody>
          <a:bodyPr/>
          <a:lstStyle/>
          <a:p>
            <a:endParaRPr lang="en-US"/>
          </a:p>
        </p:txBody>
      </p:sp>
      <p:sp>
        <p:nvSpPr>
          <p:cNvPr id="9" name="Text 7"/>
          <p:cNvSpPr/>
          <p:nvPr/>
        </p:nvSpPr>
        <p:spPr>
          <a:xfrm>
            <a:off x="6583680" y="1572768"/>
            <a:ext cx="4709160" cy="320040"/>
          </a:xfrm>
          <a:prstGeom prst="rect">
            <a:avLst/>
          </a:prstGeom>
          <a:noFill/>
          <a:ln/>
        </p:spPr>
        <p:txBody>
          <a:bodyPr wrap="square" lIns="0" tIns="0" rIns="0" bIns="0" rtlCol="0" anchor="ctr"/>
          <a:lstStyle/>
          <a:p>
            <a:pPr marL="0" indent="0">
              <a:buNone/>
            </a:pPr>
            <a:r>
              <a:rPr lang="en-US" sz="1300" b="1" kern="0" spc="60" dirty="0">
                <a:solidFill>
                  <a:srgbClr val="2B3A55"/>
                </a:solidFill>
                <a:latin typeface="Calibri" pitchFamily="34" charset="0"/>
                <a:ea typeface="Calibri" pitchFamily="34" charset="-122"/>
                <a:cs typeface="Calibri" pitchFamily="34" charset="-120"/>
              </a:rPr>
              <a:t>When the DA was traditional,</a:t>
            </a:r>
            <a:endParaRPr lang="en-US" sz="1300" dirty="0"/>
          </a:p>
        </p:txBody>
      </p:sp>
      <p:sp>
        <p:nvSpPr>
          <p:cNvPr id="10" name="Text 8"/>
          <p:cNvSpPr/>
          <p:nvPr/>
        </p:nvSpPr>
        <p:spPr>
          <a:xfrm>
            <a:off x="6583680" y="1901952"/>
            <a:ext cx="4709160" cy="457200"/>
          </a:xfrm>
          <a:prstGeom prst="rect">
            <a:avLst/>
          </a:prstGeom>
          <a:noFill/>
          <a:ln/>
        </p:spPr>
        <p:txBody>
          <a:bodyPr wrap="square" lIns="0" tIns="0" rIns="0" bIns="0" rtlCol="0" anchor="ctr"/>
          <a:lstStyle/>
          <a:p>
            <a:pPr marL="0" indent="0">
              <a:buNone/>
            </a:pPr>
            <a:r>
              <a:rPr lang="en-US" sz="2000" b="1" dirty="0">
                <a:solidFill>
                  <a:srgbClr val="2B3A55"/>
                </a:solidFill>
                <a:latin typeface="Cambria" pitchFamily="34" charset="0"/>
                <a:ea typeface="Cambria" pitchFamily="34" charset="-122"/>
                <a:cs typeface="Cambria" pitchFamily="34" charset="-120"/>
              </a:rPr>
              <a:t>the article was usually about a case</a:t>
            </a:r>
            <a:endParaRPr lang="en-US" sz="2000" dirty="0"/>
          </a:p>
        </p:txBody>
      </p:sp>
      <p:sp>
        <p:nvSpPr>
          <p:cNvPr id="11" name="Text 9"/>
          <p:cNvSpPr/>
          <p:nvPr/>
        </p:nvSpPr>
        <p:spPr>
          <a:xfrm>
            <a:off x="6720840" y="2514600"/>
            <a:ext cx="4572000" cy="1554480"/>
          </a:xfrm>
          <a:prstGeom prst="rect">
            <a:avLst/>
          </a:prstGeom>
          <a:noFill/>
          <a:ln/>
        </p:spPr>
        <p:txBody>
          <a:bodyPr wrap="square" lIns="0" tIns="0" rIns="0" bIns="0" rtlCol="0" anchor="ctr"/>
          <a:lstStyle/>
          <a:p>
            <a:pPr marL="342900" indent="-342900">
              <a:spcAft>
                <a:spcPts val="700"/>
              </a:spcAft>
              <a:buSzPct val="100000"/>
              <a:buChar char="•"/>
            </a:pPr>
            <a:r>
              <a:rPr lang="en-US" sz="1400" dirty="0">
                <a:solidFill>
                  <a:srgbClr val="3F4757"/>
                </a:solidFill>
                <a:latin typeface="Calibri" pitchFamily="34" charset="0"/>
                <a:ea typeface="Calibri" pitchFamily="34" charset="-122"/>
                <a:cs typeface="Calibri" pitchFamily="34" charset="-120"/>
              </a:rPr>
              <a:t>a specific crime and a specific victim</a:t>
            </a:r>
            <a:endParaRPr lang="en-US" sz="1400" dirty="0"/>
          </a:p>
          <a:p>
            <a:pPr marL="342900" indent="-342900">
              <a:spcAft>
                <a:spcPts val="700"/>
              </a:spcAft>
              <a:buSzPct val="100000"/>
              <a:buChar char="•"/>
            </a:pPr>
            <a:r>
              <a:rPr lang="en-US" sz="1400" dirty="0">
                <a:solidFill>
                  <a:srgbClr val="3F4757"/>
                </a:solidFill>
                <a:latin typeface="Calibri" pitchFamily="34" charset="0"/>
                <a:ea typeface="Calibri" pitchFamily="34" charset="-122"/>
                <a:cs typeface="Calibri" pitchFamily="34" charset="-120"/>
              </a:rPr>
              <a:t>an arrest, a charge, a sentence</a:t>
            </a:r>
            <a:endParaRPr lang="en-US" sz="1400" dirty="0"/>
          </a:p>
          <a:p>
            <a:pPr marL="342900" indent="-342900">
              <a:spcAft>
                <a:spcPts val="700"/>
              </a:spcAft>
              <a:buSzPct val="100000"/>
              <a:buChar char="•"/>
            </a:pPr>
            <a:r>
              <a:rPr lang="en-US" sz="1400" dirty="0">
                <a:solidFill>
                  <a:srgbClr val="3F4757"/>
                </a:solidFill>
                <a:latin typeface="Calibri" pitchFamily="34" charset="0"/>
                <a:ea typeface="Calibri" pitchFamily="34" charset="-122"/>
                <a:cs typeface="Calibri" pitchFamily="34" charset="-120"/>
              </a:rPr>
              <a:t>a task force or a new initiative</a:t>
            </a:r>
            <a:endParaRPr lang="en-US" sz="1400" dirty="0"/>
          </a:p>
          <a:p>
            <a:pPr marL="342900" indent="-342900">
              <a:spcAft>
                <a:spcPts val="700"/>
              </a:spcAft>
              <a:buSzPct val="100000"/>
              <a:buChar char="•"/>
            </a:pPr>
            <a:r>
              <a:rPr lang="en-US" sz="1400" dirty="0">
                <a:solidFill>
                  <a:srgbClr val="3F4757"/>
                </a:solidFill>
                <a:latin typeface="Calibri" pitchFamily="34" charset="0"/>
                <a:ea typeface="Calibri" pitchFamily="34" charset="-122"/>
                <a:cs typeface="Calibri" pitchFamily="34" charset="-120"/>
              </a:rPr>
              <a:t>the office as a source, not a subject</a:t>
            </a:r>
            <a:endParaRPr lang="en-US" sz="1400" dirty="0"/>
          </a:p>
        </p:txBody>
      </p:sp>
      <p:sp>
        <p:nvSpPr>
          <p:cNvPr id="12" name="Text 10"/>
          <p:cNvSpPr/>
          <p:nvPr/>
        </p:nvSpPr>
        <p:spPr>
          <a:xfrm>
            <a:off x="6583680" y="4114800"/>
            <a:ext cx="4709160" cy="365760"/>
          </a:xfrm>
          <a:prstGeom prst="rect">
            <a:avLst/>
          </a:prstGeom>
          <a:noFill/>
          <a:ln/>
        </p:spPr>
        <p:txBody>
          <a:bodyPr wrap="square" lIns="0" tIns="0" rIns="0" bIns="0" rtlCol="0" anchor="ctr"/>
          <a:lstStyle/>
          <a:p>
            <a:pPr marL="0" indent="0">
              <a:buNone/>
            </a:pPr>
            <a:r>
              <a:rPr lang="en-US" sz="1350" i="1" dirty="0">
                <a:solidFill>
                  <a:srgbClr val="6B7280"/>
                </a:solidFill>
                <a:latin typeface="Calibri" pitchFamily="34" charset="0"/>
                <a:ea typeface="Calibri" pitchFamily="34" charset="-122"/>
                <a:cs typeface="Calibri" pitchFamily="34" charset="-120"/>
              </a:rPr>
              <a:t>An official doing a job.</a:t>
            </a:r>
            <a:endParaRPr lang="en-US" sz="1350" dirty="0"/>
          </a:p>
        </p:txBody>
      </p:sp>
      <p:sp>
        <p:nvSpPr>
          <p:cNvPr id="13" name="Shape 11"/>
          <p:cNvSpPr/>
          <p:nvPr/>
        </p:nvSpPr>
        <p:spPr>
          <a:xfrm>
            <a:off x="594360" y="4892040"/>
            <a:ext cx="11018520" cy="1051560"/>
          </a:xfrm>
          <a:prstGeom prst="roundRect">
            <a:avLst>
              <a:gd name="adj" fmla="val 6087"/>
            </a:avLst>
          </a:prstGeom>
          <a:solidFill>
            <a:srgbClr val="F6E9EA"/>
          </a:solidFill>
          <a:ln/>
          <a:effectLst>
            <a:outerShdw blurRad="101600" dist="25400" dir="5400000" algn="bl" rotWithShape="0">
              <a:srgbClr val="9AA1AE">
                <a:alpha val="22000"/>
              </a:srgbClr>
            </a:outerShdw>
          </a:effectLst>
        </p:spPr>
        <p:txBody>
          <a:bodyPr/>
          <a:lstStyle/>
          <a:p>
            <a:endParaRPr lang="en-US"/>
          </a:p>
        </p:txBody>
      </p:sp>
      <p:sp>
        <p:nvSpPr>
          <p:cNvPr id="14" name="Text 12"/>
          <p:cNvSpPr/>
          <p:nvPr/>
        </p:nvSpPr>
        <p:spPr>
          <a:xfrm>
            <a:off x="960120" y="4892040"/>
            <a:ext cx="10332720" cy="1051560"/>
          </a:xfrm>
          <a:prstGeom prst="rect">
            <a:avLst/>
          </a:prstGeom>
          <a:noFill/>
          <a:ln/>
        </p:spPr>
        <p:txBody>
          <a:bodyPr wrap="square" lIns="0" tIns="0" rIns="0" bIns="0" rtlCol="0" anchor="ctr"/>
          <a:lstStyle/>
          <a:p>
            <a:pPr marL="0" indent="0">
              <a:buNone/>
            </a:pPr>
            <a:r>
              <a:rPr lang="en-US" sz="1450" dirty="0">
                <a:solidFill>
                  <a:srgbClr val="6D1119"/>
                </a:solidFill>
                <a:latin typeface="Calibri" pitchFamily="34" charset="0"/>
                <a:ea typeface="Calibri" pitchFamily="34" charset="-122"/>
                <a:cs typeface="Calibri" pitchFamily="34" charset="-120"/>
              </a:rPr>
              <a:t>That difference does not show up if you only measure whether the words were harsh.</a:t>
            </a:r>
            <a:endParaRPr lang="en-US" sz="14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94360" y="329184"/>
            <a:ext cx="10972800" cy="658368"/>
          </a:xfrm>
          <a:prstGeom prst="rect">
            <a:avLst/>
          </a:prstGeom>
          <a:noFill/>
          <a:ln/>
        </p:spPr>
        <p:txBody>
          <a:bodyPr wrap="square" lIns="0" tIns="0" rIns="0" bIns="0" rtlCol="0" anchor="ctr"/>
          <a:lstStyle/>
          <a:p>
            <a:pPr marL="0" indent="0" algn="l">
              <a:buNone/>
            </a:pPr>
            <a:r>
              <a:rPr lang="en-US" sz="3400" b="1" dirty="0">
                <a:solidFill>
                  <a:srgbClr val="14161F"/>
                </a:solidFill>
                <a:latin typeface="Cambria" pitchFamily="34" charset="0"/>
                <a:ea typeface="Cambria" pitchFamily="34" charset="-122"/>
                <a:cs typeface="Cambria" pitchFamily="34" charset="-120"/>
              </a:rPr>
              <a:t>Certain storylines came with a name attached</a:t>
            </a:r>
            <a:endParaRPr lang="en-US" sz="3400" dirty="0"/>
          </a:p>
        </p:txBody>
      </p:sp>
      <p:pic>
        <p:nvPicPr>
          <p:cNvPr id="3" name="Image 0" descr="C:\Users\dviry\AppData\Local\Temp\claude\G--My-Drive-Papers-and-ClassReading-Berkeley-postdoc-media-media-bias-python\25b9c88b-7822-4300-9b08-389123fdd540\scratchpad\deck\img\themes.png"/>
          <p:cNvPicPr>
            <a:picLocks noChangeAspect="1"/>
          </p:cNvPicPr>
          <p:nvPr/>
        </p:nvPicPr>
        <p:blipFill>
          <a:blip r:embed="rId3"/>
          <a:stretch>
            <a:fillRect/>
          </a:stretch>
        </p:blipFill>
        <p:spPr>
          <a:xfrm>
            <a:off x="502920" y="1143000"/>
            <a:ext cx="7040880" cy="3172968"/>
          </a:xfrm>
          <a:prstGeom prst="rect">
            <a:avLst/>
          </a:prstGeom>
        </p:spPr>
      </p:pic>
      <p:sp>
        <p:nvSpPr>
          <p:cNvPr id="4" name="Text 1"/>
          <p:cNvSpPr/>
          <p:nvPr/>
        </p:nvSpPr>
        <p:spPr>
          <a:xfrm>
            <a:off x="502920" y="4370832"/>
            <a:ext cx="7040880" cy="274320"/>
          </a:xfrm>
          <a:prstGeom prst="rect">
            <a:avLst/>
          </a:prstGeom>
          <a:noFill/>
          <a:ln/>
        </p:spPr>
        <p:txBody>
          <a:bodyPr wrap="square" lIns="0" tIns="0" rIns="0" bIns="0" rtlCol="0" anchor="ctr"/>
          <a:lstStyle/>
          <a:p>
            <a:pPr marL="0" indent="0">
              <a:buNone/>
            </a:pPr>
            <a:r>
              <a:rPr lang="en-US" sz="1050" i="1" dirty="0">
                <a:solidFill>
                  <a:srgbClr val="6B7280"/>
                </a:solidFill>
                <a:latin typeface="Calibri" pitchFamily="34" charset="0"/>
                <a:ea typeface="Calibri" pitchFamily="34" charset="-122"/>
                <a:cs typeface="Calibri" pitchFamily="34" charset="-120"/>
              </a:rPr>
              <a:t>Share of each prosecutor's coverage in which the storyline appears next to their name.</a:t>
            </a:r>
            <a:endParaRPr lang="en-US" sz="1050" dirty="0"/>
          </a:p>
        </p:txBody>
      </p:sp>
      <p:sp>
        <p:nvSpPr>
          <p:cNvPr id="5" name="Text 2"/>
          <p:cNvSpPr/>
          <p:nvPr/>
        </p:nvSpPr>
        <p:spPr>
          <a:xfrm>
            <a:off x="7772400" y="1143000"/>
            <a:ext cx="3840480" cy="365760"/>
          </a:xfrm>
          <a:prstGeom prst="rect">
            <a:avLst/>
          </a:prstGeom>
          <a:noFill/>
          <a:ln/>
        </p:spPr>
        <p:txBody>
          <a:bodyPr wrap="square" lIns="0" tIns="0" rIns="0" bIns="0" rtlCol="0" anchor="ctr"/>
          <a:lstStyle/>
          <a:p>
            <a:pPr marL="0" indent="0">
              <a:buNone/>
            </a:pPr>
            <a:r>
              <a:rPr lang="en-US" sz="1650" b="1" dirty="0">
                <a:solidFill>
                  <a:srgbClr val="2B3A55"/>
                </a:solidFill>
                <a:latin typeface="Calibri" pitchFamily="34" charset="0"/>
                <a:ea typeface="Calibri" pitchFamily="34" charset="-122"/>
                <a:cs typeface="Calibri" pitchFamily="34" charset="-120"/>
              </a:rPr>
              <a:t>What the gaps look like</a:t>
            </a:r>
            <a:endParaRPr lang="en-US" sz="1650" dirty="0"/>
          </a:p>
        </p:txBody>
      </p:sp>
      <p:sp>
        <p:nvSpPr>
          <p:cNvPr id="6" name="Text 3"/>
          <p:cNvSpPr/>
          <p:nvPr/>
        </p:nvSpPr>
        <p:spPr>
          <a:xfrm>
            <a:off x="7772400" y="1600200"/>
            <a:ext cx="3840480" cy="2148840"/>
          </a:xfrm>
          <a:prstGeom prst="rect">
            <a:avLst/>
          </a:prstGeom>
          <a:noFill/>
          <a:ln/>
        </p:spPr>
        <p:txBody>
          <a:bodyPr wrap="square" lIns="0" tIns="0" rIns="0" bIns="0" rtlCol="0" anchor="t"/>
          <a:lstStyle/>
          <a:p>
            <a:pPr marL="0" indent="0">
              <a:lnSpc>
                <a:spcPct val="110000"/>
              </a:lnSpc>
              <a:buNone/>
            </a:pPr>
            <a:r>
              <a:rPr lang="en-US" sz="1250" b="1" dirty="0">
                <a:solidFill>
                  <a:srgbClr val="3F4757"/>
                </a:solidFill>
                <a:latin typeface="Calibri" pitchFamily="34" charset="0"/>
                <a:ea typeface="Calibri" pitchFamily="34" charset="-122"/>
                <a:cs typeface="Calibri" pitchFamily="34" charset="-120"/>
              </a:rPr>
              <a:t>“Recall”</a:t>
            </a:r>
            <a:r>
              <a:rPr lang="en-US" sz="1250" dirty="0">
                <a:solidFill>
                  <a:srgbClr val="3F4757"/>
                </a:solidFill>
                <a:latin typeface="Calibri" pitchFamily="34" charset="0"/>
                <a:ea typeface="Calibri" pitchFamily="34" charset="-122"/>
                <a:cs typeface="Calibri" pitchFamily="34" charset="-120"/>
              </a:rPr>
              <a:t> — about 3 to 4 times more often around reform DAs, and the single widest gap.</a:t>
            </a:r>
            <a:endParaRPr lang="en-US" sz="1250" dirty="0"/>
          </a:p>
          <a:p>
            <a:pPr marL="0" indent="0">
              <a:lnSpc>
                <a:spcPct val="110000"/>
              </a:lnSpc>
              <a:buNone/>
            </a:pPr>
            <a:r>
              <a:rPr lang="en-US" sz="1250" b="1" dirty="0">
                <a:solidFill>
                  <a:srgbClr val="3F4757"/>
                </a:solidFill>
                <a:latin typeface="Calibri" pitchFamily="34" charset="0"/>
                <a:ea typeface="Calibri" pitchFamily="34" charset="-122"/>
                <a:cs typeface="Calibri" pitchFamily="34" charset="-120"/>
              </a:rPr>
              <a:t>“Soft on crime”, “crime is rising”, “public safety failure”</a:t>
            </a:r>
            <a:r>
              <a:rPr lang="en-US" sz="1250" dirty="0">
                <a:solidFill>
                  <a:srgbClr val="3F4757"/>
                </a:solidFill>
                <a:latin typeface="Calibri" pitchFamily="34" charset="0"/>
                <a:ea typeface="Calibri" pitchFamily="34" charset="-122"/>
                <a:cs typeface="Calibri" pitchFamily="34" charset="-120"/>
              </a:rPr>
              <a:t> — each roughly two to four times more often.</a:t>
            </a:r>
            <a:endParaRPr lang="en-US" sz="1250" dirty="0"/>
          </a:p>
          <a:p>
            <a:pPr marL="0" indent="0">
              <a:lnSpc>
                <a:spcPct val="110000"/>
              </a:lnSpc>
              <a:buNone/>
            </a:pPr>
            <a:r>
              <a:rPr lang="en-US" sz="1250" b="1" dirty="0">
                <a:solidFill>
                  <a:srgbClr val="3F4757"/>
                </a:solidFill>
                <a:latin typeface="Calibri" pitchFamily="34" charset="0"/>
                <a:ea typeface="Calibri" pitchFamily="34" charset="-122"/>
                <a:cs typeface="Calibri" pitchFamily="34" charset="-120"/>
              </a:rPr>
              <a:t>“Releasing criminals”</a:t>
            </a:r>
            <a:r>
              <a:rPr lang="en-US" sz="1250" dirty="0">
                <a:solidFill>
                  <a:srgbClr val="3F4757"/>
                </a:solidFill>
                <a:latin typeface="Calibri" pitchFamily="34" charset="0"/>
                <a:ea typeface="Calibri" pitchFamily="34" charset="-122"/>
                <a:cs typeface="Calibri" pitchFamily="34" charset="-120"/>
              </a:rPr>
              <a:t> — slightly more common around the traditional DAs. This one runs the other way.</a:t>
            </a:r>
            <a:endParaRPr lang="en-US" sz="1250" dirty="0"/>
          </a:p>
        </p:txBody>
      </p:sp>
      <p:sp>
        <p:nvSpPr>
          <p:cNvPr id="7" name="Shape 4"/>
          <p:cNvSpPr/>
          <p:nvPr/>
        </p:nvSpPr>
        <p:spPr>
          <a:xfrm>
            <a:off x="7772400" y="3291840"/>
            <a:ext cx="3840480" cy="1371600"/>
          </a:xfrm>
          <a:prstGeom prst="roundRect">
            <a:avLst>
              <a:gd name="adj" fmla="val 4667"/>
            </a:avLst>
          </a:prstGeom>
          <a:solidFill>
            <a:srgbClr val="F6E9EA"/>
          </a:solidFill>
          <a:ln/>
          <a:effectLst>
            <a:outerShdw blurRad="101600" dist="25400" dir="5400000" algn="bl" rotWithShape="0">
              <a:srgbClr val="9AA1AE">
                <a:alpha val="22000"/>
              </a:srgbClr>
            </a:outerShdw>
          </a:effectLst>
        </p:spPr>
        <p:txBody>
          <a:bodyPr/>
          <a:lstStyle/>
          <a:p>
            <a:endParaRPr lang="en-US"/>
          </a:p>
        </p:txBody>
      </p:sp>
      <p:sp>
        <p:nvSpPr>
          <p:cNvPr id="8" name="Text 5"/>
          <p:cNvSpPr/>
          <p:nvPr/>
        </p:nvSpPr>
        <p:spPr>
          <a:xfrm>
            <a:off x="8065008" y="3291840"/>
            <a:ext cx="3255264" cy="1371600"/>
          </a:xfrm>
          <a:prstGeom prst="rect">
            <a:avLst/>
          </a:prstGeom>
          <a:noFill/>
          <a:ln/>
        </p:spPr>
        <p:txBody>
          <a:bodyPr wrap="square" lIns="0" tIns="0" rIns="0" bIns="0" rtlCol="0" anchor="ctr"/>
          <a:lstStyle/>
          <a:p>
            <a:pPr marL="0" indent="0">
              <a:lnSpc>
                <a:spcPct val="112000"/>
              </a:lnSpc>
              <a:buNone/>
            </a:pPr>
            <a:r>
              <a:rPr lang="en-US" sz="1150" b="1" dirty="0">
                <a:solidFill>
                  <a:srgbClr val="6D1119"/>
                </a:solidFill>
                <a:latin typeface="Calibri" pitchFamily="34" charset="0"/>
                <a:ea typeface="Calibri" pitchFamily="34" charset="-122"/>
                <a:cs typeface="Calibri" pitchFamily="34" charset="-120"/>
              </a:rPr>
              <a:t>This is the closest thing we have to what people mean by “the press was against them”</a:t>
            </a:r>
            <a:endParaRPr lang="en-US" sz="1150" dirty="0"/>
          </a:p>
          <a:p>
            <a:pPr marL="0" indent="0">
              <a:lnSpc>
                <a:spcPct val="112000"/>
              </a:lnSpc>
              <a:buNone/>
            </a:pPr>
            <a:r>
              <a:rPr lang="en-US" sz="1150" dirty="0">
                <a:solidFill>
                  <a:srgbClr val="6D1119"/>
                </a:solidFill>
                <a:latin typeface="Calibri" pitchFamily="34" charset="0"/>
                <a:ea typeface="Calibri" pitchFamily="34" charset="-122"/>
                <a:cs typeface="Calibri" pitchFamily="34" charset="-120"/>
              </a:rPr>
              <a:t>— not harsh words, but a critical narrative pinned to a specific person.</a:t>
            </a:r>
            <a:endParaRPr lang="en-US" sz="1150" dirty="0"/>
          </a:p>
        </p:txBody>
      </p:sp>
      <p:sp>
        <p:nvSpPr>
          <p:cNvPr id="9" name="Shape 6"/>
          <p:cNvSpPr/>
          <p:nvPr/>
        </p:nvSpPr>
        <p:spPr>
          <a:xfrm>
            <a:off x="594360" y="4846320"/>
            <a:ext cx="11018520" cy="1143000"/>
          </a:xfrm>
          <a:prstGeom prst="roundRect">
            <a:avLst>
              <a:gd name="adj" fmla="val 5600"/>
            </a:avLst>
          </a:prstGeom>
          <a:solidFill>
            <a:srgbClr val="14161F"/>
          </a:solidFill>
          <a:ln/>
          <a:effectLst>
            <a:outerShdw blurRad="101600" dist="25400" dir="5400000" algn="bl" rotWithShape="0">
              <a:srgbClr val="9AA1AE">
                <a:alpha val="22000"/>
              </a:srgbClr>
            </a:outerShdw>
          </a:effectLst>
        </p:spPr>
        <p:txBody>
          <a:bodyPr/>
          <a:lstStyle/>
          <a:p>
            <a:endParaRPr lang="en-US"/>
          </a:p>
        </p:txBody>
      </p:sp>
      <p:sp>
        <p:nvSpPr>
          <p:cNvPr id="10" name="Text 7"/>
          <p:cNvSpPr/>
          <p:nvPr/>
        </p:nvSpPr>
        <p:spPr>
          <a:xfrm>
            <a:off x="960120" y="4846320"/>
            <a:ext cx="10332720" cy="1143000"/>
          </a:xfrm>
          <a:prstGeom prst="rect">
            <a:avLst/>
          </a:prstGeom>
          <a:noFill/>
          <a:ln/>
        </p:spPr>
        <p:txBody>
          <a:bodyPr wrap="square" lIns="0" tIns="0" rIns="0" bIns="0" rtlCol="0" anchor="ctr"/>
          <a:lstStyle/>
          <a:p>
            <a:pPr marL="0" indent="0">
              <a:lnSpc>
                <a:spcPct val="120000"/>
              </a:lnSpc>
              <a:buNone/>
            </a:pPr>
            <a:r>
              <a:rPr lang="en-US" sz="1600" b="1" dirty="0">
                <a:solidFill>
                  <a:srgbClr val="FFFFFF"/>
                </a:solidFill>
                <a:latin typeface="Calibri" pitchFamily="34" charset="0"/>
                <a:ea typeface="Calibri" pitchFamily="34" charset="-122"/>
                <a:cs typeface="Calibri" pitchFamily="34" charset="-120"/>
              </a:rPr>
              <a:t>Pay attention to the bar that goes the wrong way.</a:t>
            </a:r>
            <a:endParaRPr lang="en-US" sz="1600" dirty="0"/>
          </a:p>
          <a:p>
            <a:pPr marL="0" indent="0">
              <a:lnSpc>
                <a:spcPct val="120000"/>
              </a:lnSpc>
              <a:buNone/>
            </a:pPr>
            <a:r>
              <a:rPr lang="en-US" sz="1300" dirty="0">
                <a:solidFill>
                  <a:srgbClr val="C3C9D6"/>
                </a:solidFill>
                <a:latin typeface="Calibri" pitchFamily="34" charset="0"/>
                <a:ea typeface="Calibri" pitchFamily="34" charset="-122"/>
                <a:cs typeface="Calibri" pitchFamily="34" charset="-120"/>
              </a:rPr>
              <a:t>A method that only ever finds what you expected is a method you should not believe.</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94360" y="329184"/>
            <a:ext cx="10972800" cy="658368"/>
          </a:xfrm>
          <a:prstGeom prst="rect">
            <a:avLst/>
          </a:prstGeom>
          <a:noFill/>
          <a:ln/>
        </p:spPr>
        <p:txBody>
          <a:bodyPr wrap="square" lIns="0" tIns="0" rIns="0" bIns="0" rtlCol="0" anchor="ctr"/>
          <a:lstStyle/>
          <a:p>
            <a:pPr marL="0" indent="0" algn="l">
              <a:buNone/>
            </a:pPr>
            <a:r>
              <a:rPr lang="en-US" sz="3400" b="1" dirty="0">
                <a:solidFill>
                  <a:srgbClr val="14161F"/>
                </a:solidFill>
                <a:latin typeface="Cambria" pitchFamily="34" charset="0"/>
                <a:ea typeface="Cambria" pitchFamily="34" charset="-122"/>
                <a:cs typeface="Cambria" pitchFamily="34" charset="-120"/>
              </a:rPr>
              <a:t>What that looks like in print</a:t>
            </a:r>
            <a:endParaRPr lang="en-US" sz="3400" dirty="0"/>
          </a:p>
        </p:txBody>
      </p:sp>
      <p:sp>
        <p:nvSpPr>
          <p:cNvPr id="3" name="Shape 1"/>
          <p:cNvSpPr/>
          <p:nvPr/>
        </p:nvSpPr>
        <p:spPr>
          <a:xfrm>
            <a:off x="594360" y="1325880"/>
            <a:ext cx="3566160" cy="3429000"/>
          </a:xfrm>
          <a:prstGeom prst="roundRect">
            <a:avLst>
              <a:gd name="adj" fmla="val 1867"/>
            </a:avLst>
          </a:prstGeom>
          <a:solidFill>
            <a:srgbClr val="F6E9EA"/>
          </a:solidFill>
          <a:ln/>
          <a:effectLst>
            <a:outerShdw blurRad="101600" dist="25400" dir="5400000" algn="bl" rotWithShape="0">
              <a:srgbClr val="9AA1AE">
                <a:alpha val="22000"/>
              </a:srgbClr>
            </a:outerShdw>
          </a:effectLst>
        </p:spPr>
        <p:txBody>
          <a:bodyPr/>
          <a:lstStyle/>
          <a:p>
            <a:endParaRPr lang="en-US"/>
          </a:p>
        </p:txBody>
      </p:sp>
      <p:sp>
        <p:nvSpPr>
          <p:cNvPr id="4" name="Text 2"/>
          <p:cNvSpPr/>
          <p:nvPr/>
        </p:nvSpPr>
        <p:spPr>
          <a:xfrm>
            <a:off x="886968" y="1554480"/>
            <a:ext cx="2980944" cy="1005840"/>
          </a:xfrm>
          <a:prstGeom prst="rect">
            <a:avLst/>
          </a:prstGeom>
          <a:noFill/>
          <a:ln/>
        </p:spPr>
        <p:txBody>
          <a:bodyPr wrap="square" lIns="0" tIns="0" rIns="0" bIns="0" rtlCol="0" anchor="t"/>
          <a:lstStyle/>
          <a:p>
            <a:pPr marL="0" indent="0">
              <a:lnSpc>
                <a:spcPct val="108000"/>
              </a:lnSpc>
              <a:buNone/>
            </a:pPr>
            <a:r>
              <a:rPr lang="en-US" sz="1650" b="1" dirty="0">
                <a:solidFill>
                  <a:srgbClr val="6D1119"/>
                </a:solidFill>
                <a:latin typeface="Cambria" pitchFamily="34" charset="0"/>
                <a:ea typeface="Cambria" pitchFamily="34" charset="-122"/>
                <a:cs typeface="Cambria" pitchFamily="34" charset="-120"/>
              </a:rPr>
              <a:t>“Boudin might be in trouble if poll holds”</a:t>
            </a:r>
            <a:endParaRPr lang="en-US" sz="1650" dirty="0"/>
          </a:p>
        </p:txBody>
      </p:sp>
      <p:sp>
        <p:nvSpPr>
          <p:cNvPr id="5" name="Text 3"/>
          <p:cNvSpPr/>
          <p:nvPr/>
        </p:nvSpPr>
        <p:spPr>
          <a:xfrm>
            <a:off x="886968" y="2633472"/>
            <a:ext cx="2980944" cy="274320"/>
          </a:xfrm>
          <a:prstGeom prst="rect">
            <a:avLst/>
          </a:prstGeom>
          <a:noFill/>
          <a:ln/>
        </p:spPr>
        <p:txBody>
          <a:bodyPr wrap="square" lIns="0" tIns="0" rIns="0" bIns="0" rtlCol="0" anchor="ctr"/>
          <a:lstStyle/>
          <a:p>
            <a:pPr marL="0" indent="0">
              <a:buNone/>
            </a:pPr>
            <a:r>
              <a:rPr lang="en-US" sz="1100" b="1" dirty="0">
                <a:solidFill>
                  <a:srgbClr val="9C4A50"/>
                </a:solidFill>
                <a:latin typeface="Calibri" pitchFamily="34" charset="0"/>
                <a:ea typeface="Calibri" pitchFamily="34" charset="-122"/>
                <a:cs typeface="Calibri" pitchFamily="34" charset="-120"/>
              </a:rPr>
              <a:t>San Francisco Chronicle · March 2022</a:t>
            </a:r>
            <a:endParaRPr lang="en-US" sz="1100" dirty="0"/>
          </a:p>
        </p:txBody>
      </p:sp>
      <p:sp>
        <p:nvSpPr>
          <p:cNvPr id="6" name="Text 4"/>
          <p:cNvSpPr/>
          <p:nvPr/>
        </p:nvSpPr>
        <p:spPr>
          <a:xfrm>
            <a:off x="886968" y="3017520"/>
            <a:ext cx="2980944" cy="1463040"/>
          </a:xfrm>
          <a:prstGeom prst="rect">
            <a:avLst/>
          </a:prstGeom>
          <a:noFill/>
          <a:ln/>
        </p:spPr>
        <p:txBody>
          <a:bodyPr wrap="square" lIns="0" tIns="0" rIns="0" bIns="0" rtlCol="0" anchor="t"/>
          <a:lstStyle/>
          <a:p>
            <a:pPr marL="0" indent="0">
              <a:lnSpc>
                <a:spcPct val="114000"/>
              </a:lnSpc>
              <a:buNone/>
            </a:pPr>
            <a:r>
              <a:rPr lang="en-US" sz="1200" dirty="0">
                <a:solidFill>
                  <a:srgbClr val="6D1119"/>
                </a:solidFill>
                <a:latin typeface="Calibri" pitchFamily="34" charset="0"/>
                <a:ea typeface="Calibri" pitchFamily="34" charset="-122"/>
                <a:cs typeface="Calibri" pitchFamily="34" charset="-120"/>
              </a:rPr>
              <a:t>A poll story, commissioned by the recall campaign. Crime, dismissals and the recall all in one piece, all attached to him.</a:t>
            </a:r>
            <a:endParaRPr lang="en-US" sz="1200" dirty="0"/>
          </a:p>
        </p:txBody>
      </p:sp>
      <p:sp>
        <p:nvSpPr>
          <p:cNvPr id="7" name="Shape 5"/>
          <p:cNvSpPr/>
          <p:nvPr/>
        </p:nvSpPr>
        <p:spPr>
          <a:xfrm>
            <a:off x="4370832" y="1325880"/>
            <a:ext cx="3566160" cy="3429000"/>
          </a:xfrm>
          <a:prstGeom prst="roundRect">
            <a:avLst>
              <a:gd name="adj" fmla="val 1867"/>
            </a:avLst>
          </a:prstGeom>
          <a:solidFill>
            <a:srgbClr val="F6E9EA"/>
          </a:solidFill>
          <a:ln/>
          <a:effectLst>
            <a:outerShdw blurRad="101600" dist="25400" dir="5400000" algn="bl" rotWithShape="0">
              <a:srgbClr val="9AA1AE">
                <a:alpha val="22000"/>
              </a:srgbClr>
            </a:outerShdw>
          </a:effectLst>
        </p:spPr>
        <p:txBody>
          <a:bodyPr/>
          <a:lstStyle/>
          <a:p>
            <a:endParaRPr lang="en-US"/>
          </a:p>
        </p:txBody>
      </p:sp>
      <p:sp>
        <p:nvSpPr>
          <p:cNvPr id="8" name="Text 6"/>
          <p:cNvSpPr/>
          <p:nvPr/>
        </p:nvSpPr>
        <p:spPr>
          <a:xfrm>
            <a:off x="4663440" y="1554480"/>
            <a:ext cx="2980944" cy="1005840"/>
          </a:xfrm>
          <a:prstGeom prst="rect">
            <a:avLst/>
          </a:prstGeom>
          <a:noFill/>
          <a:ln/>
        </p:spPr>
        <p:txBody>
          <a:bodyPr wrap="square" lIns="0" tIns="0" rIns="0" bIns="0" rtlCol="0" anchor="t"/>
          <a:lstStyle/>
          <a:p>
            <a:pPr marL="0" indent="0">
              <a:lnSpc>
                <a:spcPct val="108000"/>
              </a:lnSpc>
              <a:buNone/>
            </a:pPr>
            <a:r>
              <a:rPr lang="en-US" sz="1650" b="1" dirty="0">
                <a:solidFill>
                  <a:srgbClr val="6D1119"/>
                </a:solidFill>
                <a:latin typeface="Cambria" pitchFamily="34" charset="0"/>
                <a:ea typeface="Cambria" pitchFamily="34" charset="-122"/>
                <a:cs typeface="Cambria" pitchFamily="34" charset="-120"/>
              </a:rPr>
              <a:t>“'Boudin Blunders': SF DA's downfall leading up to recall”</a:t>
            </a:r>
            <a:endParaRPr lang="en-US" sz="1650" dirty="0"/>
          </a:p>
        </p:txBody>
      </p:sp>
      <p:sp>
        <p:nvSpPr>
          <p:cNvPr id="9" name="Text 7"/>
          <p:cNvSpPr/>
          <p:nvPr/>
        </p:nvSpPr>
        <p:spPr>
          <a:xfrm>
            <a:off x="4663440" y="2633472"/>
            <a:ext cx="2980944" cy="274320"/>
          </a:xfrm>
          <a:prstGeom prst="rect">
            <a:avLst/>
          </a:prstGeom>
          <a:noFill/>
          <a:ln/>
        </p:spPr>
        <p:txBody>
          <a:bodyPr wrap="square" lIns="0" tIns="0" rIns="0" bIns="0" rtlCol="0" anchor="ctr"/>
          <a:lstStyle/>
          <a:p>
            <a:pPr marL="0" indent="0">
              <a:buNone/>
            </a:pPr>
            <a:r>
              <a:rPr lang="en-US" sz="1100" b="1" dirty="0">
                <a:solidFill>
                  <a:srgbClr val="9C4A50"/>
                </a:solidFill>
                <a:latin typeface="Calibri" pitchFamily="34" charset="0"/>
                <a:ea typeface="Calibri" pitchFamily="34" charset="-122"/>
                <a:cs typeface="Calibri" pitchFamily="34" charset="-120"/>
              </a:rPr>
              <a:t>KRON4 · June 2022</a:t>
            </a:r>
            <a:endParaRPr lang="en-US" sz="1100" dirty="0"/>
          </a:p>
        </p:txBody>
      </p:sp>
      <p:sp>
        <p:nvSpPr>
          <p:cNvPr id="10" name="Text 8"/>
          <p:cNvSpPr/>
          <p:nvPr/>
        </p:nvSpPr>
        <p:spPr>
          <a:xfrm>
            <a:off x="4663440" y="3017520"/>
            <a:ext cx="2980944" cy="1463040"/>
          </a:xfrm>
          <a:prstGeom prst="rect">
            <a:avLst/>
          </a:prstGeom>
          <a:noFill/>
          <a:ln/>
        </p:spPr>
        <p:txBody>
          <a:bodyPr wrap="square" lIns="0" tIns="0" rIns="0" bIns="0" rtlCol="0" anchor="t"/>
          <a:lstStyle/>
          <a:p>
            <a:pPr marL="0" indent="0">
              <a:lnSpc>
                <a:spcPct val="114000"/>
              </a:lnSpc>
              <a:buNone/>
            </a:pPr>
            <a:r>
              <a:rPr lang="en-US" sz="1200" dirty="0">
                <a:solidFill>
                  <a:srgbClr val="6D1119"/>
                </a:solidFill>
                <a:latin typeface="Calibri" pitchFamily="34" charset="0"/>
                <a:ea typeface="Calibri" pitchFamily="34" charset="-122"/>
                <a:cs typeface="Calibri" pitchFamily="34" charset="-120"/>
              </a:rPr>
              <a:t>The highest score in the whole corpus. Five critical storylines, each tied to his name — “prosecutors who viewed him as soft on crime.”</a:t>
            </a:r>
            <a:endParaRPr lang="en-US" sz="1200" dirty="0"/>
          </a:p>
        </p:txBody>
      </p:sp>
      <p:sp>
        <p:nvSpPr>
          <p:cNvPr id="11" name="Shape 9"/>
          <p:cNvSpPr/>
          <p:nvPr/>
        </p:nvSpPr>
        <p:spPr>
          <a:xfrm>
            <a:off x="8147304" y="1325880"/>
            <a:ext cx="3566160" cy="3429000"/>
          </a:xfrm>
          <a:prstGeom prst="roundRect">
            <a:avLst>
              <a:gd name="adj" fmla="val 1867"/>
            </a:avLst>
          </a:prstGeom>
          <a:solidFill>
            <a:srgbClr val="F4F5F7"/>
          </a:solidFill>
          <a:ln/>
          <a:effectLst>
            <a:outerShdw blurRad="101600" dist="25400" dir="5400000" algn="bl" rotWithShape="0">
              <a:srgbClr val="9AA1AE">
                <a:alpha val="22000"/>
              </a:srgbClr>
            </a:outerShdw>
          </a:effectLst>
        </p:spPr>
        <p:txBody>
          <a:bodyPr/>
          <a:lstStyle/>
          <a:p>
            <a:endParaRPr lang="en-US"/>
          </a:p>
        </p:txBody>
      </p:sp>
      <p:sp>
        <p:nvSpPr>
          <p:cNvPr id="12" name="Text 10"/>
          <p:cNvSpPr/>
          <p:nvPr/>
        </p:nvSpPr>
        <p:spPr>
          <a:xfrm>
            <a:off x="8439912" y="1554480"/>
            <a:ext cx="2980944" cy="1005840"/>
          </a:xfrm>
          <a:prstGeom prst="rect">
            <a:avLst/>
          </a:prstGeom>
          <a:noFill/>
          <a:ln/>
        </p:spPr>
        <p:txBody>
          <a:bodyPr wrap="square" lIns="0" tIns="0" rIns="0" bIns="0" rtlCol="0" anchor="t"/>
          <a:lstStyle/>
          <a:p>
            <a:pPr marL="0" indent="0">
              <a:lnSpc>
                <a:spcPct val="108000"/>
              </a:lnSpc>
              <a:buNone/>
            </a:pPr>
            <a:r>
              <a:rPr lang="en-US" sz="1650" b="1" dirty="0">
                <a:solidFill>
                  <a:srgbClr val="2B3A55"/>
                </a:solidFill>
                <a:latin typeface="Cambria" pitchFamily="34" charset="0"/>
                <a:ea typeface="Cambria" pitchFamily="34" charset="-122"/>
                <a:cs typeface="Cambria" pitchFamily="34" charset="-120"/>
              </a:rPr>
              <a:t>“Newsom, SF leaders to form joint task force to battle fentanyl crisis”</a:t>
            </a:r>
            <a:endParaRPr lang="en-US" sz="1650" dirty="0"/>
          </a:p>
        </p:txBody>
      </p:sp>
      <p:sp>
        <p:nvSpPr>
          <p:cNvPr id="13" name="Text 11"/>
          <p:cNvSpPr/>
          <p:nvPr/>
        </p:nvSpPr>
        <p:spPr>
          <a:xfrm>
            <a:off x="8439912" y="2633472"/>
            <a:ext cx="2980944" cy="274320"/>
          </a:xfrm>
          <a:prstGeom prst="rect">
            <a:avLst/>
          </a:prstGeom>
          <a:noFill/>
          <a:ln/>
        </p:spPr>
        <p:txBody>
          <a:bodyPr wrap="square" lIns="0" tIns="0" rIns="0" bIns="0" rtlCol="0" anchor="ctr"/>
          <a:lstStyle/>
          <a:p>
            <a:pPr marL="0" indent="0">
              <a:buNone/>
            </a:pPr>
            <a:r>
              <a:rPr lang="en-US" sz="1100" b="1" dirty="0">
                <a:solidFill>
                  <a:srgbClr val="6B7280"/>
                </a:solidFill>
                <a:latin typeface="Calibri" pitchFamily="34" charset="0"/>
                <a:ea typeface="Calibri" pitchFamily="34" charset="-122"/>
                <a:cs typeface="Calibri" pitchFamily="34" charset="-120"/>
              </a:rPr>
              <a:t>NBC Bay Area · October 2023</a:t>
            </a:r>
            <a:endParaRPr lang="en-US" sz="1100" dirty="0"/>
          </a:p>
        </p:txBody>
      </p:sp>
      <p:sp>
        <p:nvSpPr>
          <p:cNvPr id="14" name="Text 12"/>
          <p:cNvSpPr/>
          <p:nvPr/>
        </p:nvSpPr>
        <p:spPr>
          <a:xfrm>
            <a:off x="8439912" y="3017520"/>
            <a:ext cx="2980944" cy="1463040"/>
          </a:xfrm>
          <a:prstGeom prst="rect">
            <a:avLst/>
          </a:prstGeom>
          <a:noFill/>
          <a:ln/>
        </p:spPr>
        <p:txBody>
          <a:bodyPr wrap="square" lIns="0" tIns="0" rIns="0" bIns="0" rtlCol="0" anchor="t"/>
          <a:lstStyle/>
          <a:p>
            <a:pPr marL="0" indent="0">
              <a:lnSpc>
                <a:spcPct val="114000"/>
              </a:lnSpc>
              <a:buNone/>
            </a:pPr>
            <a:r>
              <a:rPr lang="en-US" sz="1200" dirty="0">
                <a:solidFill>
                  <a:srgbClr val="3F4757"/>
                </a:solidFill>
                <a:latin typeface="Calibri" pitchFamily="34" charset="0"/>
                <a:ea typeface="Calibri" pitchFamily="34" charset="-122"/>
                <a:cs typeface="Calibri" pitchFamily="34" charset="-120"/>
              </a:rPr>
              <a:t>Also crime coverage, also names the DA's office — as one participant among several. No storyline attaches to the prosecutor at all.</a:t>
            </a:r>
            <a:endParaRPr lang="en-US" sz="1200" dirty="0"/>
          </a:p>
        </p:txBody>
      </p:sp>
      <p:sp>
        <p:nvSpPr>
          <p:cNvPr id="15" name="Text 13"/>
          <p:cNvSpPr/>
          <p:nvPr/>
        </p:nvSpPr>
        <p:spPr>
          <a:xfrm>
            <a:off x="594360" y="5029200"/>
            <a:ext cx="11018520" cy="457200"/>
          </a:xfrm>
          <a:prstGeom prst="rect">
            <a:avLst/>
          </a:prstGeom>
          <a:noFill/>
          <a:ln/>
        </p:spPr>
        <p:txBody>
          <a:bodyPr wrap="square" lIns="0" tIns="0" rIns="0" bIns="0" rtlCol="0" anchor="ctr"/>
          <a:lstStyle/>
          <a:p>
            <a:pPr marL="0" indent="0">
              <a:buNone/>
            </a:pPr>
            <a:r>
              <a:rPr lang="en-US" sz="1450" b="1" dirty="0">
                <a:solidFill>
                  <a:srgbClr val="2B3A55"/>
                </a:solidFill>
                <a:latin typeface="Calibri" pitchFamily="34" charset="0"/>
                <a:ea typeface="Calibri" pitchFamily="34" charset="-122"/>
                <a:cs typeface="Calibri" pitchFamily="34" charset="-120"/>
              </a:rPr>
              <a:t>The first two are about a person. The third is about a problem. All three are crime reporting in the same market in the same years.</a:t>
            </a:r>
            <a:endParaRPr lang="en-US" sz="1450" dirty="0"/>
          </a:p>
        </p:txBody>
      </p:sp>
      <p:sp>
        <p:nvSpPr>
          <p:cNvPr id="16" name="Text 14"/>
          <p:cNvSpPr/>
          <p:nvPr/>
        </p:nvSpPr>
        <p:spPr>
          <a:xfrm>
            <a:off x="594360" y="6355080"/>
            <a:ext cx="10972800" cy="274320"/>
          </a:xfrm>
          <a:prstGeom prst="rect">
            <a:avLst/>
          </a:prstGeom>
          <a:noFill/>
          <a:ln/>
        </p:spPr>
        <p:txBody>
          <a:bodyPr wrap="square" lIns="0" tIns="0" rIns="0" bIns="0" rtlCol="0" anchor="ctr"/>
          <a:lstStyle/>
          <a:p>
            <a:pPr marL="0" indent="0" algn="l">
              <a:buNone/>
            </a:pPr>
            <a:r>
              <a:rPr lang="en-US" sz="950" i="1" dirty="0">
                <a:solidFill>
                  <a:srgbClr val="6B7280"/>
                </a:solidFill>
                <a:latin typeface="Calibri" pitchFamily="34" charset="0"/>
                <a:ea typeface="Calibri" pitchFamily="34" charset="-122"/>
                <a:cs typeface="Calibri" pitchFamily="34" charset="-120"/>
              </a:rPr>
              <a:t>Real articles from the corpus. Full text and scores in Appendix C of the paper.</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94360" y="329184"/>
            <a:ext cx="10972800" cy="658368"/>
          </a:xfrm>
          <a:prstGeom prst="rect">
            <a:avLst/>
          </a:prstGeom>
          <a:noFill/>
          <a:ln/>
        </p:spPr>
        <p:txBody>
          <a:bodyPr wrap="square" lIns="0" tIns="0" rIns="0" bIns="0" rtlCol="0" anchor="ctr"/>
          <a:lstStyle/>
          <a:p>
            <a:pPr marL="0" indent="0" algn="l">
              <a:buNone/>
            </a:pPr>
            <a:r>
              <a:rPr lang="en-US" sz="3400" b="1" dirty="0">
                <a:solidFill>
                  <a:srgbClr val="14161F"/>
                </a:solidFill>
                <a:latin typeface="Cambria" pitchFamily="34" charset="0"/>
                <a:ea typeface="Cambria" pitchFamily="34" charset="-122"/>
                <a:cs typeface="Cambria" pitchFamily="34" charset="-120"/>
              </a:rPr>
              <a:t>Two articles that should keep you honest</a:t>
            </a:r>
            <a:endParaRPr lang="en-US" sz="3400" dirty="0"/>
          </a:p>
        </p:txBody>
      </p:sp>
      <p:sp>
        <p:nvSpPr>
          <p:cNvPr id="3" name="Shape 1"/>
          <p:cNvSpPr/>
          <p:nvPr/>
        </p:nvSpPr>
        <p:spPr>
          <a:xfrm>
            <a:off x="594360" y="1325880"/>
            <a:ext cx="5349240" cy="3200400"/>
          </a:xfrm>
          <a:prstGeom prst="roundRect">
            <a:avLst>
              <a:gd name="adj" fmla="val 2000"/>
            </a:avLst>
          </a:prstGeom>
          <a:solidFill>
            <a:srgbClr val="F4F5F7"/>
          </a:solidFill>
          <a:ln/>
          <a:effectLst>
            <a:outerShdw blurRad="101600" dist="25400" dir="5400000" algn="bl" rotWithShape="0">
              <a:srgbClr val="9AA1AE">
                <a:alpha val="22000"/>
              </a:srgbClr>
            </a:outerShdw>
          </a:effectLst>
        </p:spPr>
        <p:txBody>
          <a:bodyPr/>
          <a:lstStyle/>
          <a:p>
            <a:endParaRPr lang="en-US"/>
          </a:p>
        </p:txBody>
      </p:sp>
      <p:sp>
        <p:nvSpPr>
          <p:cNvPr id="4" name="Shape 2"/>
          <p:cNvSpPr/>
          <p:nvPr/>
        </p:nvSpPr>
        <p:spPr>
          <a:xfrm>
            <a:off x="914400" y="1572768"/>
            <a:ext cx="384048" cy="384048"/>
          </a:xfrm>
          <a:prstGeom prst="ellipse">
            <a:avLst/>
          </a:prstGeom>
          <a:solidFill>
            <a:srgbClr val="A31621"/>
          </a:solidFill>
          <a:ln/>
        </p:spPr>
        <p:txBody>
          <a:bodyPr/>
          <a:lstStyle/>
          <a:p>
            <a:endParaRPr lang="en-US"/>
          </a:p>
        </p:txBody>
      </p:sp>
      <p:sp>
        <p:nvSpPr>
          <p:cNvPr id="5" name="Text 3"/>
          <p:cNvSpPr/>
          <p:nvPr/>
        </p:nvSpPr>
        <p:spPr>
          <a:xfrm>
            <a:off x="914400" y="1572768"/>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6" name="Text 4"/>
          <p:cNvSpPr/>
          <p:nvPr/>
        </p:nvSpPr>
        <p:spPr>
          <a:xfrm>
            <a:off x="914400" y="2084832"/>
            <a:ext cx="4709160" cy="731520"/>
          </a:xfrm>
          <a:prstGeom prst="rect">
            <a:avLst/>
          </a:prstGeom>
          <a:noFill/>
          <a:ln/>
        </p:spPr>
        <p:txBody>
          <a:bodyPr wrap="square" lIns="0" tIns="0" rIns="0" bIns="0" rtlCol="0" anchor="t"/>
          <a:lstStyle/>
          <a:p>
            <a:pPr marL="0" indent="0">
              <a:lnSpc>
                <a:spcPct val="106000"/>
              </a:lnSpc>
              <a:buNone/>
            </a:pPr>
            <a:r>
              <a:rPr lang="en-US" sz="1800" b="1" dirty="0">
                <a:solidFill>
                  <a:srgbClr val="2B3A55"/>
                </a:solidFill>
                <a:latin typeface="Cambria" pitchFamily="34" charset="0"/>
                <a:ea typeface="Cambria" pitchFamily="34" charset="-122"/>
                <a:cs typeface="Cambria" pitchFamily="34" charset="-120"/>
              </a:rPr>
              <a:t>“Don't blame Alameda DA Price for crime”</a:t>
            </a:r>
            <a:endParaRPr lang="en-US" sz="1800" dirty="0"/>
          </a:p>
        </p:txBody>
      </p:sp>
      <p:sp>
        <p:nvSpPr>
          <p:cNvPr id="7" name="Text 5"/>
          <p:cNvSpPr/>
          <p:nvPr/>
        </p:nvSpPr>
        <p:spPr>
          <a:xfrm>
            <a:off x="914400" y="2852928"/>
            <a:ext cx="4709160" cy="274320"/>
          </a:xfrm>
          <a:prstGeom prst="rect">
            <a:avLst/>
          </a:prstGeom>
          <a:noFill/>
          <a:ln/>
        </p:spPr>
        <p:txBody>
          <a:bodyPr wrap="square" lIns="0" tIns="0" rIns="0" bIns="0" rtlCol="0" anchor="ctr"/>
          <a:lstStyle/>
          <a:p>
            <a:pPr marL="0" indent="0">
              <a:buNone/>
            </a:pPr>
            <a:r>
              <a:rPr lang="en-US" sz="1100" b="1" dirty="0">
                <a:solidFill>
                  <a:srgbClr val="6B7280"/>
                </a:solidFill>
                <a:latin typeface="Calibri" pitchFamily="34" charset="0"/>
                <a:ea typeface="Calibri" pitchFamily="34" charset="-122"/>
                <a:cs typeface="Calibri" pitchFamily="34" charset="-120"/>
              </a:rPr>
              <a:t>San Francisco Chronicle op-ed · August 2023</a:t>
            </a:r>
            <a:endParaRPr lang="en-US" sz="1100" dirty="0"/>
          </a:p>
        </p:txBody>
      </p:sp>
      <p:sp>
        <p:nvSpPr>
          <p:cNvPr id="8" name="Text 6"/>
          <p:cNvSpPr/>
          <p:nvPr/>
        </p:nvSpPr>
        <p:spPr>
          <a:xfrm>
            <a:off x="914400" y="3200400"/>
            <a:ext cx="4709160" cy="1234440"/>
          </a:xfrm>
          <a:prstGeom prst="rect">
            <a:avLst/>
          </a:prstGeom>
          <a:noFill/>
          <a:ln/>
        </p:spPr>
        <p:txBody>
          <a:bodyPr wrap="square" lIns="0" tIns="0" rIns="0" bIns="0" rtlCol="0" anchor="t"/>
          <a:lstStyle/>
          <a:p>
            <a:pPr marL="0" indent="0">
              <a:lnSpc>
                <a:spcPct val="115000"/>
              </a:lnSpc>
              <a:buNone/>
            </a:pPr>
            <a:r>
              <a:rPr lang="en-US" sz="1300" dirty="0">
                <a:solidFill>
                  <a:srgbClr val="3F4757"/>
                </a:solidFill>
                <a:latin typeface="Calibri" pitchFamily="34" charset="0"/>
                <a:ea typeface="Calibri" pitchFamily="34" charset="-122"/>
                <a:cs typeface="Calibri" pitchFamily="34" charset="-120"/>
              </a:rPr>
              <a:t>Our most hostile score in the entire corpus. It is a defence of her, written by a city council member. The words around her name were about crime and failure; the argument was the opposite.</a:t>
            </a:r>
            <a:endParaRPr lang="en-US" sz="1300" dirty="0"/>
          </a:p>
        </p:txBody>
      </p:sp>
      <p:sp>
        <p:nvSpPr>
          <p:cNvPr id="9" name="Shape 7"/>
          <p:cNvSpPr/>
          <p:nvPr/>
        </p:nvSpPr>
        <p:spPr>
          <a:xfrm>
            <a:off x="6263640" y="1325880"/>
            <a:ext cx="5349240" cy="3200400"/>
          </a:xfrm>
          <a:prstGeom prst="roundRect">
            <a:avLst>
              <a:gd name="adj" fmla="val 2000"/>
            </a:avLst>
          </a:prstGeom>
          <a:solidFill>
            <a:srgbClr val="F4F5F7"/>
          </a:solidFill>
          <a:ln/>
          <a:effectLst>
            <a:outerShdw blurRad="101600" dist="25400" dir="5400000" algn="bl" rotWithShape="0">
              <a:srgbClr val="9AA1AE">
                <a:alpha val="22000"/>
              </a:srgbClr>
            </a:outerShdw>
          </a:effectLst>
        </p:spPr>
        <p:txBody>
          <a:bodyPr/>
          <a:lstStyle/>
          <a:p>
            <a:endParaRPr lang="en-US"/>
          </a:p>
        </p:txBody>
      </p:sp>
      <p:sp>
        <p:nvSpPr>
          <p:cNvPr id="10" name="Shape 8"/>
          <p:cNvSpPr/>
          <p:nvPr/>
        </p:nvSpPr>
        <p:spPr>
          <a:xfrm>
            <a:off x="6583680" y="1572768"/>
            <a:ext cx="384048" cy="384048"/>
          </a:xfrm>
          <a:prstGeom prst="ellipse">
            <a:avLst/>
          </a:prstGeom>
          <a:solidFill>
            <a:srgbClr val="A31621"/>
          </a:solidFill>
          <a:ln/>
        </p:spPr>
        <p:txBody>
          <a:bodyPr/>
          <a:lstStyle/>
          <a:p>
            <a:endParaRPr lang="en-US"/>
          </a:p>
        </p:txBody>
      </p:sp>
      <p:sp>
        <p:nvSpPr>
          <p:cNvPr id="11" name="Text 9"/>
          <p:cNvSpPr/>
          <p:nvPr/>
        </p:nvSpPr>
        <p:spPr>
          <a:xfrm>
            <a:off x="6583680" y="1572768"/>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p:nvPr/>
        </p:nvSpPr>
        <p:spPr>
          <a:xfrm>
            <a:off x="6583680" y="2084832"/>
            <a:ext cx="4709160" cy="731520"/>
          </a:xfrm>
          <a:prstGeom prst="rect">
            <a:avLst/>
          </a:prstGeom>
          <a:noFill/>
          <a:ln/>
        </p:spPr>
        <p:txBody>
          <a:bodyPr wrap="square" lIns="0" tIns="0" rIns="0" bIns="0" rtlCol="0" anchor="t"/>
          <a:lstStyle/>
          <a:p>
            <a:pPr marL="0" indent="0">
              <a:lnSpc>
                <a:spcPct val="106000"/>
              </a:lnSpc>
              <a:buNone/>
            </a:pPr>
            <a:r>
              <a:rPr lang="en-US" sz="1800" b="1" dirty="0">
                <a:solidFill>
                  <a:srgbClr val="2B3A55"/>
                </a:solidFill>
                <a:latin typeface="Cambria" pitchFamily="34" charset="0"/>
                <a:ea typeface="Cambria" pitchFamily="34" charset="-122"/>
                <a:cs typeface="Cambria" pitchFamily="34" charset="-120"/>
              </a:rPr>
              <a:t>“Suspected mom of newborn left in Wisconsin field arrested”</a:t>
            </a:r>
            <a:endParaRPr lang="en-US" sz="1800" dirty="0"/>
          </a:p>
        </p:txBody>
      </p:sp>
      <p:sp>
        <p:nvSpPr>
          <p:cNvPr id="13" name="Text 11"/>
          <p:cNvSpPr/>
          <p:nvPr/>
        </p:nvSpPr>
        <p:spPr>
          <a:xfrm>
            <a:off x="6583680" y="2852928"/>
            <a:ext cx="4709160" cy="274320"/>
          </a:xfrm>
          <a:prstGeom prst="rect">
            <a:avLst/>
          </a:prstGeom>
          <a:noFill/>
          <a:ln/>
        </p:spPr>
        <p:txBody>
          <a:bodyPr wrap="square" lIns="0" tIns="0" rIns="0" bIns="0" rtlCol="0" anchor="ctr"/>
          <a:lstStyle/>
          <a:p>
            <a:pPr marL="0" indent="0">
              <a:buNone/>
            </a:pPr>
            <a:r>
              <a:rPr lang="en-US" sz="1100" b="1" dirty="0">
                <a:solidFill>
                  <a:srgbClr val="6B7280"/>
                </a:solidFill>
                <a:latin typeface="Calibri" pitchFamily="34" charset="0"/>
                <a:ea typeface="Calibri" pitchFamily="34" charset="-122"/>
                <a:cs typeface="Calibri" pitchFamily="34" charset="-120"/>
              </a:rPr>
              <a:t>sfgate.com · March 2023</a:t>
            </a:r>
            <a:endParaRPr lang="en-US" sz="1100" dirty="0"/>
          </a:p>
        </p:txBody>
      </p:sp>
      <p:sp>
        <p:nvSpPr>
          <p:cNvPr id="14" name="Text 12"/>
          <p:cNvSpPr/>
          <p:nvPr/>
        </p:nvSpPr>
        <p:spPr>
          <a:xfrm>
            <a:off x="6583680" y="3200400"/>
            <a:ext cx="4709160" cy="1234440"/>
          </a:xfrm>
          <a:prstGeom prst="rect">
            <a:avLst/>
          </a:prstGeom>
          <a:noFill/>
          <a:ln/>
        </p:spPr>
        <p:txBody>
          <a:bodyPr wrap="square" lIns="0" tIns="0" rIns="0" bIns="0" rtlCol="0" anchor="t"/>
          <a:lstStyle/>
          <a:p>
            <a:pPr marL="0" indent="0">
              <a:lnSpc>
                <a:spcPct val="115000"/>
              </a:lnSpc>
              <a:buNone/>
            </a:pPr>
            <a:r>
              <a:rPr lang="en-US" sz="1300" dirty="0">
                <a:solidFill>
                  <a:srgbClr val="3F4757"/>
                </a:solidFill>
                <a:latin typeface="Calibri" pitchFamily="34" charset="0"/>
                <a:ea typeface="Calibri" pitchFamily="34" charset="-122"/>
                <a:cs typeface="Calibri" pitchFamily="34" charset="-120"/>
              </a:rPr>
              <a:t>Filed in our data under a San Francisco district attorney. It is about Wisconsin. It got in because it contains the phrase “district attorney's office.”</a:t>
            </a:r>
            <a:endParaRPr lang="en-US" sz="1300" dirty="0"/>
          </a:p>
        </p:txBody>
      </p:sp>
      <p:sp>
        <p:nvSpPr>
          <p:cNvPr id="15" name="Shape 13"/>
          <p:cNvSpPr/>
          <p:nvPr/>
        </p:nvSpPr>
        <p:spPr>
          <a:xfrm>
            <a:off x="594360" y="4846320"/>
            <a:ext cx="11018520" cy="1188720"/>
          </a:xfrm>
          <a:prstGeom prst="roundRect">
            <a:avLst>
              <a:gd name="adj" fmla="val 5385"/>
            </a:avLst>
          </a:prstGeom>
          <a:solidFill>
            <a:srgbClr val="14161F"/>
          </a:solidFill>
          <a:ln/>
          <a:effectLst>
            <a:outerShdw blurRad="101600" dist="25400" dir="5400000" algn="bl" rotWithShape="0">
              <a:srgbClr val="9AA1AE">
                <a:alpha val="22000"/>
              </a:srgbClr>
            </a:outerShdw>
          </a:effectLst>
        </p:spPr>
        <p:txBody>
          <a:bodyPr/>
          <a:lstStyle/>
          <a:p>
            <a:endParaRPr lang="en-US"/>
          </a:p>
        </p:txBody>
      </p:sp>
      <p:sp>
        <p:nvSpPr>
          <p:cNvPr id="16" name="Text 14"/>
          <p:cNvSpPr/>
          <p:nvPr/>
        </p:nvSpPr>
        <p:spPr>
          <a:xfrm>
            <a:off x="960120" y="4846320"/>
            <a:ext cx="10332720" cy="1188720"/>
          </a:xfrm>
          <a:prstGeom prst="rect">
            <a:avLst/>
          </a:prstGeom>
          <a:noFill/>
          <a:ln/>
        </p:spPr>
        <p:txBody>
          <a:bodyPr wrap="square" lIns="0" tIns="0" rIns="0" bIns="0" rtlCol="0" anchor="ctr"/>
          <a:lstStyle/>
          <a:p>
            <a:pPr marL="0" indent="0">
              <a:lnSpc>
                <a:spcPct val="120000"/>
              </a:lnSpc>
              <a:buNone/>
            </a:pPr>
            <a:r>
              <a:rPr lang="en-US" sz="1650" b="1" dirty="0">
                <a:solidFill>
                  <a:srgbClr val="FFFFFF"/>
                </a:solidFill>
                <a:latin typeface="Calibri" pitchFamily="34" charset="0"/>
                <a:ea typeface="Calibri" pitchFamily="34" charset="-122"/>
                <a:cs typeface="Calibri" pitchFamily="34" charset="-120"/>
              </a:rPr>
              <a:t>Across thousands of articles these mistakes cancel out. In any single article they do not.</a:t>
            </a:r>
            <a:endParaRPr lang="en-US" sz="1650" dirty="0"/>
          </a:p>
          <a:p>
            <a:pPr marL="0" indent="0">
              <a:lnSpc>
                <a:spcPct val="120000"/>
              </a:lnSpc>
              <a:buNone/>
            </a:pPr>
            <a:r>
              <a:rPr lang="en-US" sz="1300" dirty="0">
                <a:solidFill>
                  <a:srgbClr val="C3C9D6"/>
                </a:solidFill>
                <a:latin typeface="Calibri" pitchFamily="34" charset="0"/>
                <a:ea typeface="Calibri" pitchFamily="34" charset="-122"/>
                <a:cs typeface="Calibri" pitchFamily="34" charset="-120"/>
              </a:rPr>
              <a:t>That one sentence is the whole rule for using this kind of evidence.</a:t>
            </a:r>
            <a:endParaRPr lang="en-US" sz="16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94360" y="329184"/>
            <a:ext cx="10972800" cy="658368"/>
          </a:xfrm>
          <a:prstGeom prst="rect">
            <a:avLst/>
          </a:prstGeom>
          <a:noFill/>
          <a:ln/>
        </p:spPr>
        <p:txBody>
          <a:bodyPr wrap="square" lIns="0" tIns="0" rIns="0" bIns="0" rtlCol="0" anchor="ctr"/>
          <a:lstStyle/>
          <a:p>
            <a:pPr marL="0" indent="0" algn="l">
              <a:buNone/>
            </a:pPr>
            <a:r>
              <a:rPr lang="en-US" sz="3400" b="1" dirty="0">
                <a:solidFill>
                  <a:srgbClr val="14161F"/>
                </a:solidFill>
                <a:latin typeface="Cambria" pitchFamily="34" charset="0"/>
                <a:ea typeface="Cambria" pitchFamily="34" charset="-122"/>
                <a:cs typeface="Cambria" pitchFamily="34" charset="-120"/>
              </a:rPr>
              <a:t>Four questions for anyone who hands you a media study</a:t>
            </a:r>
            <a:endParaRPr lang="en-US" sz="3400" dirty="0"/>
          </a:p>
        </p:txBody>
      </p:sp>
      <p:sp>
        <p:nvSpPr>
          <p:cNvPr id="3" name="Shape 1"/>
          <p:cNvSpPr/>
          <p:nvPr/>
        </p:nvSpPr>
        <p:spPr>
          <a:xfrm>
            <a:off x="594360" y="1280160"/>
            <a:ext cx="5303520" cy="1600200"/>
          </a:xfrm>
          <a:prstGeom prst="roundRect">
            <a:avLst>
              <a:gd name="adj" fmla="val 4000"/>
            </a:avLst>
          </a:prstGeom>
          <a:solidFill>
            <a:srgbClr val="F4F5F7"/>
          </a:solidFill>
          <a:ln/>
          <a:effectLst>
            <a:outerShdw blurRad="101600" dist="25400" dir="5400000" algn="bl" rotWithShape="0">
              <a:srgbClr val="9AA1AE">
                <a:alpha val="22000"/>
              </a:srgbClr>
            </a:outerShdw>
          </a:effectLst>
        </p:spPr>
        <p:txBody>
          <a:bodyPr/>
          <a:lstStyle/>
          <a:p>
            <a:endParaRPr lang="en-US"/>
          </a:p>
        </p:txBody>
      </p:sp>
      <p:sp>
        <p:nvSpPr>
          <p:cNvPr id="4" name="Shape 2"/>
          <p:cNvSpPr/>
          <p:nvPr/>
        </p:nvSpPr>
        <p:spPr>
          <a:xfrm>
            <a:off x="868680" y="1517904"/>
            <a:ext cx="384048" cy="384048"/>
          </a:xfrm>
          <a:prstGeom prst="ellipse">
            <a:avLst/>
          </a:prstGeom>
          <a:solidFill>
            <a:srgbClr val="A31621"/>
          </a:solidFill>
          <a:ln/>
        </p:spPr>
        <p:txBody>
          <a:bodyPr/>
          <a:lstStyle/>
          <a:p>
            <a:endParaRPr lang="en-US"/>
          </a:p>
        </p:txBody>
      </p:sp>
      <p:sp>
        <p:nvSpPr>
          <p:cNvPr id="5" name="Text 3"/>
          <p:cNvSpPr/>
          <p:nvPr/>
        </p:nvSpPr>
        <p:spPr>
          <a:xfrm>
            <a:off x="868680" y="1517904"/>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6" name="Text 4"/>
          <p:cNvSpPr/>
          <p:nvPr/>
        </p:nvSpPr>
        <p:spPr>
          <a:xfrm>
            <a:off x="1435608" y="1463040"/>
            <a:ext cx="4160520" cy="347472"/>
          </a:xfrm>
          <a:prstGeom prst="rect">
            <a:avLst/>
          </a:prstGeom>
          <a:noFill/>
          <a:ln/>
        </p:spPr>
        <p:txBody>
          <a:bodyPr wrap="square" lIns="0" tIns="0" rIns="0" bIns="0" rtlCol="0" anchor="ctr"/>
          <a:lstStyle/>
          <a:p>
            <a:pPr marL="0" indent="0">
              <a:buNone/>
            </a:pPr>
            <a:r>
              <a:rPr lang="en-US" sz="1600" b="1" dirty="0">
                <a:solidFill>
                  <a:srgbClr val="A31621"/>
                </a:solidFill>
                <a:latin typeface="Calibri" pitchFamily="34" charset="0"/>
                <a:ea typeface="Calibri" pitchFamily="34" charset="-122"/>
                <a:cs typeface="Calibri" pitchFamily="34" charset="-120"/>
              </a:rPr>
              <a:t>What exactly did you count?</a:t>
            </a:r>
            <a:endParaRPr lang="en-US" sz="1600" dirty="0"/>
          </a:p>
        </p:txBody>
      </p:sp>
      <p:sp>
        <p:nvSpPr>
          <p:cNvPr id="7" name="Text 5"/>
          <p:cNvSpPr/>
          <p:nvPr/>
        </p:nvSpPr>
        <p:spPr>
          <a:xfrm>
            <a:off x="868680" y="1920240"/>
            <a:ext cx="4754880" cy="868680"/>
          </a:xfrm>
          <a:prstGeom prst="rect">
            <a:avLst/>
          </a:prstGeom>
          <a:noFill/>
          <a:ln/>
        </p:spPr>
        <p:txBody>
          <a:bodyPr wrap="square" lIns="0" tIns="0" rIns="0" bIns="0" rtlCol="0" anchor="t"/>
          <a:lstStyle/>
          <a:p>
            <a:pPr marL="0" indent="0">
              <a:lnSpc>
                <a:spcPct val="114000"/>
              </a:lnSpc>
              <a:buNone/>
            </a:pPr>
            <a:r>
              <a:rPr lang="en-US" sz="1200" dirty="0">
                <a:solidFill>
                  <a:srgbClr val="3F4757"/>
                </a:solidFill>
                <a:latin typeface="Calibri" pitchFamily="34" charset="0"/>
                <a:ea typeface="Calibri" pitchFamily="34" charset="-122"/>
                <a:cs typeface="Calibri" pitchFamily="34" charset="-120"/>
              </a:rPr>
              <a:t>Tone, argument, and storyline gave three different answers on the same articles. The choice of measure is most of the finding.</a:t>
            </a:r>
            <a:endParaRPr lang="en-US" sz="1200" dirty="0"/>
          </a:p>
        </p:txBody>
      </p:sp>
      <p:sp>
        <p:nvSpPr>
          <p:cNvPr id="8" name="Shape 6"/>
          <p:cNvSpPr/>
          <p:nvPr/>
        </p:nvSpPr>
        <p:spPr>
          <a:xfrm>
            <a:off x="6309360" y="1280160"/>
            <a:ext cx="5303520" cy="1600200"/>
          </a:xfrm>
          <a:prstGeom prst="roundRect">
            <a:avLst>
              <a:gd name="adj" fmla="val 4000"/>
            </a:avLst>
          </a:prstGeom>
          <a:solidFill>
            <a:srgbClr val="F4F5F7"/>
          </a:solidFill>
          <a:ln/>
          <a:effectLst>
            <a:outerShdw blurRad="101600" dist="25400" dir="5400000" algn="bl" rotWithShape="0">
              <a:srgbClr val="9AA1AE">
                <a:alpha val="22000"/>
              </a:srgbClr>
            </a:outerShdw>
          </a:effectLst>
        </p:spPr>
        <p:txBody>
          <a:bodyPr/>
          <a:lstStyle/>
          <a:p>
            <a:endParaRPr lang="en-US"/>
          </a:p>
        </p:txBody>
      </p:sp>
      <p:sp>
        <p:nvSpPr>
          <p:cNvPr id="9" name="Shape 7"/>
          <p:cNvSpPr/>
          <p:nvPr/>
        </p:nvSpPr>
        <p:spPr>
          <a:xfrm>
            <a:off x="6583680" y="1517904"/>
            <a:ext cx="384048" cy="384048"/>
          </a:xfrm>
          <a:prstGeom prst="ellipse">
            <a:avLst/>
          </a:prstGeom>
          <a:solidFill>
            <a:srgbClr val="A31621"/>
          </a:solidFill>
          <a:ln/>
        </p:spPr>
        <p:txBody>
          <a:bodyPr/>
          <a:lstStyle/>
          <a:p>
            <a:endParaRPr lang="en-US"/>
          </a:p>
        </p:txBody>
      </p:sp>
      <p:sp>
        <p:nvSpPr>
          <p:cNvPr id="10" name="Text 8"/>
          <p:cNvSpPr/>
          <p:nvPr/>
        </p:nvSpPr>
        <p:spPr>
          <a:xfrm>
            <a:off x="6583680" y="1517904"/>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1" name="Text 9"/>
          <p:cNvSpPr/>
          <p:nvPr/>
        </p:nvSpPr>
        <p:spPr>
          <a:xfrm>
            <a:off x="7150608" y="1463040"/>
            <a:ext cx="4160520" cy="347472"/>
          </a:xfrm>
          <a:prstGeom prst="rect">
            <a:avLst/>
          </a:prstGeom>
          <a:noFill/>
          <a:ln/>
        </p:spPr>
        <p:txBody>
          <a:bodyPr wrap="square" lIns="0" tIns="0" rIns="0" bIns="0" rtlCol="0" anchor="ctr"/>
          <a:lstStyle/>
          <a:p>
            <a:pPr marL="0" indent="0">
              <a:buNone/>
            </a:pPr>
            <a:r>
              <a:rPr lang="en-US" sz="1600" b="1" dirty="0">
                <a:solidFill>
                  <a:srgbClr val="A31621"/>
                </a:solidFill>
                <a:latin typeface="Calibri" pitchFamily="34" charset="0"/>
                <a:ea typeface="Calibri" pitchFamily="34" charset="-122"/>
                <a:cs typeface="Calibri" pitchFamily="34" charset="-120"/>
              </a:rPr>
              <a:t>Did a human check it?</a:t>
            </a:r>
            <a:endParaRPr lang="en-US" sz="1600" dirty="0"/>
          </a:p>
        </p:txBody>
      </p:sp>
      <p:sp>
        <p:nvSpPr>
          <p:cNvPr id="12" name="Text 10"/>
          <p:cNvSpPr/>
          <p:nvPr/>
        </p:nvSpPr>
        <p:spPr>
          <a:xfrm>
            <a:off x="6583680" y="1920240"/>
            <a:ext cx="4754880" cy="868680"/>
          </a:xfrm>
          <a:prstGeom prst="rect">
            <a:avLst/>
          </a:prstGeom>
          <a:noFill/>
          <a:ln/>
        </p:spPr>
        <p:txBody>
          <a:bodyPr wrap="square" lIns="0" tIns="0" rIns="0" bIns="0" rtlCol="0" anchor="t"/>
          <a:lstStyle/>
          <a:p>
            <a:pPr marL="0" indent="0">
              <a:lnSpc>
                <a:spcPct val="114000"/>
              </a:lnSpc>
              <a:buNone/>
            </a:pPr>
            <a:r>
              <a:rPr lang="en-US" sz="1200" dirty="0">
                <a:solidFill>
                  <a:srgbClr val="3F4757"/>
                </a:solidFill>
                <a:latin typeface="Calibri" pitchFamily="34" charset="0"/>
                <a:ea typeface="Calibri" pitchFamily="34" charset="-122"/>
                <a:cs typeface="Calibri" pitchFamily="34" charset="-120"/>
              </a:rPr>
              <a:t>Ask for the sample and the error rate. If nobody hand-read a few hundred articles, there is no finding — there is an output.</a:t>
            </a:r>
            <a:endParaRPr lang="en-US" sz="1200" dirty="0"/>
          </a:p>
        </p:txBody>
      </p:sp>
      <p:sp>
        <p:nvSpPr>
          <p:cNvPr id="13" name="Shape 11"/>
          <p:cNvSpPr/>
          <p:nvPr/>
        </p:nvSpPr>
        <p:spPr>
          <a:xfrm>
            <a:off x="594360" y="3108960"/>
            <a:ext cx="5303520" cy="1600200"/>
          </a:xfrm>
          <a:prstGeom prst="roundRect">
            <a:avLst>
              <a:gd name="adj" fmla="val 4000"/>
            </a:avLst>
          </a:prstGeom>
          <a:solidFill>
            <a:srgbClr val="F4F5F7"/>
          </a:solidFill>
          <a:ln/>
          <a:effectLst>
            <a:outerShdw blurRad="101600" dist="25400" dir="5400000" algn="bl" rotWithShape="0">
              <a:srgbClr val="9AA1AE">
                <a:alpha val="22000"/>
              </a:srgbClr>
            </a:outerShdw>
          </a:effectLst>
        </p:spPr>
        <p:txBody>
          <a:bodyPr/>
          <a:lstStyle/>
          <a:p>
            <a:endParaRPr lang="en-US"/>
          </a:p>
        </p:txBody>
      </p:sp>
      <p:sp>
        <p:nvSpPr>
          <p:cNvPr id="14" name="Shape 12"/>
          <p:cNvSpPr/>
          <p:nvPr/>
        </p:nvSpPr>
        <p:spPr>
          <a:xfrm>
            <a:off x="868680" y="3346704"/>
            <a:ext cx="384048" cy="384048"/>
          </a:xfrm>
          <a:prstGeom prst="ellipse">
            <a:avLst/>
          </a:prstGeom>
          <a:solidFill>
            <a:srgbClr val="A31621"/>
          </a:solidFill>
          <a:ln/>
        </p:spPr>
        <p:txBody>
          <a:bodyPr/>
          <a:lstStyle/>
          <a:p>
            <a:endParaRPr lang="en-US"/>
          </a:p>
        </p:txBody>
      </p:sp>
      <p:sp>
        <p:nvSpPr>
          <p:cNvPr id="15" name="Text 13"/>
          <p:cNvSpPr/>
          <p:nvPr/>
        </p:nvSpPr>
        <p:spPr>
          <a:xfrm>
            <a:off x="868680" y="3346704"/>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6" name="Text 14"/>
          <p:cNvSpPr/>
          <p:nvPr/>
        </p:nvSpPr>
        <p:spPr>
          <a:xfrm>
            <a:off x="1435608" y="3291840"/>
            <a:ext cx="4160520" cy="347472"/>
          </a:xfrm>
          <a:prstGeom prst="rect">
            <a:avLst/>
          </a:prstGeom>
          <a:noFill/>
          <a:ln/>
        </p:spPr>
        <p:txBody>
          <a:bodyPr wrap="square" lIns="0" tIns="0" rIns="0" bIns="0" rtlCol="0" anchor="ctr"/>
          <a:lstStyle/>
          <a:p>
            <a:pPr marL="0" indent="0">
              <a:buNone/>
            </a:pPr>
            <a:r>
              <a:rPr lang="en-US" sz="1600" b="1" dirty="0">
                <a:solidFill>
                  <a:srgbClr val="A31621"/>
                </a:solidFill>
                <a:latin typeface="Calibri" pitchFamily="34" charset="0"/>
                <a:ea typeface="Calibri" pitchFamily="34" charset="-122"/>
                <a:cs typeface="Calibri" pitchFamily="34" charset="-120"/>
              </a:rPr>
              <a:t>What is not in your sample?</a:t>
            </a:r>
            <a:endParaRPr lang="en-US" sz="1600" dirty="0"/>
          </a:p>
        </p:txBody>
      </p:sp>
      <p:sp>
        <p:nvSpPr>
          <p:cNvPr id="17" name="Text 15"/>
          <p:cNvSpPr/>
          <p:nvPr/>
        </p:nvSpPr>
        <p:spPr>
          <a:xfrm>
            <a:off x="868680" y="3749040"/>
            <a:ext cx="4754880" cy="868680"/>
          </a:xfrm>
          <a:prstGeom prst="rect">
            <a:avLst/>
          </a:prstGeom>
          <a:noFill/>
          <a:ln/>
        </p:spPr>
        <p:txBody>
          <a:bodyPr wrap="square" lIns="0" tIns="0" rIns="0" bIns="0" rtlCol="0" anchor="t"/>
          <a:lstStyle/>
          <a:p>
            <a:pPr marL="0" indent="0">
              <a:lnSpc>
                <a:spcPct val="114000"/>
              </a:lnSpc>
              <a:buNone/>
            </a:pPr>
            <a:r>
              <a:rPr lang="en-US" sz="1200" dirty="0">
                <a:solidFill>
                  <a:srgbClr val="3F4757"/>
                </a:solidFill>
                <a:latin typeface="Calibri" pitchFamily="34" charset="0"/>
                <a:ea typeface="Calibri" pitchFamily="34" charset="-122"/>
                <a:cs typeface="Calibri" pitchFamily="34" charset="-120"/>
              </a:rPr>
              <a:t>Broadcast, Spanish-language and neighbourhood outlets fall out of most databases. Ask what the sample cannot see.</a:t>
            </a:r>
            <a:endParaRPr lang="en-US" sz="1200" dirty="0"/>
          </a:p>
        </p:txBody>
      </p:sp>
      <p:sp>
        <p:nvSpPr>
          <p:cNvPr id="18" name="Shape 16"/>
          <p:cNvSpPr/>
          <p:nvPr/>
        </p:nvSpPr>
        <p:spPr>
          <a:xfrm>
            <a:off x="6309360" y="3108960"/>
            <a:ext cx="5303520" cy="1600200"/>
          </a:xfrm>
          <a:prstGeom prst="roundRect">
            <a:avLst>
              <a:gd name="adj" fmla="val 4000"/>
            </a:avLst>
          </a:prstGeom>
          <a:solidFill>
            <a:srgbClr val="F4F5F7"/>
          </a:solidFill>
          <a:ln/>
          <a:effectLst>
            <a:outerShdw blurRad="101600" dist="25400" dir="5400000" algn="bl" rotWithShape="0">
              <a:srgbClr val="9AA1AE">
                <a:alpha val="22000"/>
              </a:srgbClr>
            </a:outerShdw>
          </a:effectLst>
        </p:spPr>
        <p:txBody>
          <a:bodyPr/>
          <a:lstStyle/>
          <a:p>
            <a:endParaRPr lang="en-US"/>
          </a:p>
        </p:txBody>
      </p:sp>
      <p:sp>
        <p:nvSpPr>
          <p:cNvPr id="19" name="Shape 17"/>
          <p:cNvSpPr/>
          <p:nvPr/>
        </p:nvSpPr>
        <p:spPr>
          <a:xfrm>
            <a:off x="6583680" y="3346704"/>
            <a:ext cx="384048" cy="384048"/>
          </a:xfrm>
          <a:prstGeom prst="ellipse">
            <a:avLst/>
          </a:prstGeom>
          <a:solidFill>
            <a:srgbClr val="A31621"/>
          </a:solidFill>
          <a:ln/>
        </p:spPr>
        <p:txBody>
          <a:bodyPr/>
          <a:lstStyle/>
          <a:p>
            <a:endParaRPr lang="en-US"/>
          </a:p>
        </p:txBody>
      </p:sp>
      <p:sp>
        <p:nvSpPr>
          <p:cNvPr id="20" name="Text 18"/>
          <p:cNvSpPr/>
          <p:nvPr/>
        </p:nvSpPr>
        <p:spPr>
          <a:xfrm>
            <a:off x="6583680" y="3346704"/>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1" name="Text 19"/>
          <p:cNvSpPr/>
          <p:nvPr/>
        </p:nvSpPr>
        <p:spPr>
          <a:xfrm>
            <a:off x="7150608" y="3291840"/>
            <a:ext cx="4160520" cy="347472"/>
          </a:xfrm>
          <a:prstGeom prst="rect">
            <a:avLst/>
          </a:prstGeom>
          <a:noFill/>
          <a:ln/>
        </p:spPr>
        <p:txBody>
          <a:bodyPr wrap="square" lIns="0" tIns="0" rIns="0" bIns="0" rtlCol="0" anchor="ctr"/>
          <a:lstStyle/>
          <a:p>
            <a:pPr marL="0" indent="0">
              <a:buNone/>
            </a:pPr>
            <a:r>
              <a:rPr lang="en-US" sz="1600" b="1" dirty="0">
                <a:solidFill>
                  <a:srgbClr val="A31621"/>
                </a:solidFill>
                <a:latin typeface="Calibri" pitchFamily="34" charset="0"/>
                <a:ea typeface="Calibri" pitchFamily="34" charset="-122"/>
                <a:cs typeface="Calibri" pitchFamily="34" charset="-120"/>
              </a:rPr>
              <a:t>Does anything run against your story?</a:t>
            </a:r>
            <a:endParaRPr lang="en-US" sz="1600" dirty="0"/>
          </a:p>
        </p:txBody>
      </p:sp>
      <p:sp>
        <p:nvSpPr>
          <p:cNvPr id="22" name="Text 20"/>
          <p:cNvSpPr/>
          <p:nvPr/>
        </p:nvSpPr>
        <p:spPr>
          <a:xfrm>
            <a:off x="6583680" y="3749040"/>
            <a:ext cx="4754880" cy="868680"/>
          </a:xfrm>
          <a:prstGeom prst="rect">
            <a:avLst/>
          </a:prstGeom>
          <a:noFill/>
          <a:ln/>
        </p:spPr>
        <p:txBody>
          <a:bodyPr wrap="square" lIns="0" tIns="0" rIns="0" bIns="0" rtlCol="0" anchor="t"/>
          <a:lstStyle/>
          <a:p>
            <a:pPr marL="0" indent="0">
              <a:lnSpc>
                <a:spcPct val="114000"/>
              </a:lnSpc>
              <a:buNone/>
            </a:pPr>
            <a:r>
              <a:rPr lang="en-US" sz="1200" dirty="0">
                <a:solidFill>
                  <a:srgbClr val="3F4757"/>
                </a:solidFill>
                <a:latin typeface="Calibri" pitchFamily="34" charset="0"/>
                <a:ea typeface="Calibri" pitchFamily="34" charset="-122"/>
                <a:cs typeface="Calibri" pitchFamily="34" charset="-120"/>
              </a:rPr>
              <a:t>One of our storylines pointed the other way. A study in which everything confirms is a study that only looked one place.</a:t>
            </a:r>
            <a:endParaRPr lang="en-US" sz="1200" dirty="0"/>
          </a:p>
        </p:txBody>
      </p:sp>
      <p:sp>
        <p:nvSpPr>
          <p:cNvPr id="23" name="Shape 21"/>
          <p:cNvSpPr/>
          <p:nvPr/>
        </p:nvSpPr>
        <p:spPr>
          <a:xfrm>
            <a:off x="594360" y="4983480"/>
            <a:ext cx="11018520" cy="1051560"/>
          </a:xfrm>
          <a:prstGeom prst="roundRect">
            <a:avLst>
              <a:gd name="adj" fmla="val 6087"/>
            </a:avLst>
          </a:prstGeom>
          <a:solidFill>
            <a:srgbClr val="F6E9EA"/>
          </a:solidFill>
          <a:ln/>
          <a:effectLst>
            <a:outerShdw blurRad="101600" dist="25400" dir="5400000" algn="bl" rotWithShape="0">
              <a:srgbClr val="9AA1AE">
                <a:alpha val="22000"/>
              </a:srgbClr>
            </a:outerShdw>
          </a:effectLst>
        </p:spPr>
        <p:txBody>
          <a:bodyPr/>
          <a:lstStyle/>
          <a:p>
            <a:endParaRPr lang="en-US"/>
          </a:p>
        </p:txBody>
      </p:sp>
      <p:sp>
        <p:nvSpPr>
          <p:cNvPr id="24" name="Text 22"/>
          <p:cNvSpPr/>
          <p:nvPr/>
        </p:nvSpPr>
        <p:spPr>
          <a:xfrm>
            <a:off x="960120" y="4983480"/>
            <a:ext cx="10332720" cy="1051560"/>
          </a:xfrm>
          <a:prstGeom prst="rect">
            <a:avLst/>
          </a:prstGeom>
          <a:noFill/>
          <a:ln/>
        </p:spPr>
        <p:txBody>
          <a:bodyPr wrap="square" lIns="0" tIns="0" rIns="0" bIns="0" rtlCol="0" anchor="ctr"/>
          <a:lstStyle/>
          <a:p>
            <a:pPr marL="0" indent="0">
              <a:buNone/>
            </a:pPr>
            <a:r>
              <a:rPr lang="en-US" sz="1450" b="1" dirty="0">
                <a:solidFill>
                  <a:srgbClr val="6D1119"/>
                </a:solidFill>
                <a:latin typeface="Calibri" pitchFamily="34" charset="0"/>
                <a:ea typeface="Calibri" pitchFamily="34" charset="-122"/>
                <a:cs typeface="Calibri" pitchFamily="34" charset="-120"/>
              </a:rPr>
              <a:t>These are the questions I would want asked of my own work. </a:t>
            </a:r>
            <a:r>
              <a:rPr lang="en-US" sz="1450" dirty="0">
                <a:solidFill>
                  <a:srgbClr val="6D1119"/>
                </a:solidFill>
                <a:latin typeface="Calibri" pitchFamily="34" charset="0"/>
                <a:ea typeface="Calibri" pitchFamily="34" charset="-122"/>
                <a:cs typeface="Calibri" pitchFamily="34" charset="-120"/>
              </a:rPr>
              <a:t>A study that can answer all four is usable. One that cannot is a press release.</a:t>
            </a:r>
            <a:endParaRPr lang="en-US" sz="14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4161F"/>
        </a:solidFill>
        <a:effectLst/>
      </p:bgPr>
    </p:bg>
    <p:spTree>
      <p:nvGrpSpPr>
        <p:cNvPr id="1" name=""/>
        <p:cNvGrpSpPr/>
        <p:nvPr/>
      </p:nvGrpSpPr>
      <p:grpSpPr>
        <a:xfrm>
          <a:off x="0" y="0"/>
          <a:ext cx="0" cy="0"/>
          <a:chOff x="0" y="0"/>
          <a:chExt cx="0" cy="0"/>
        </a:xfrm>
      </p:grpSpPr>
      <p:sp>
        <p:nvSpPr>
          <p:cNvPr id="2" name="Shape 0"/>
          <p:cNvSpPr/>
          <p:nvPr/>
        </p:nvSpPr>
        <p:spPr>
          <a:xfrm>
            <a:off x="9052560" y="-1371600"/>
            <a:ext cx="4937760" cy="4937760"/>
          </a:xfrm>
          <a:prstGeom prst="ellipse">
            <a:avLst/>
          </a:prstGeom>
          <a:solidFill>
            <a:srgbClr val="A31621">
              <a:alpha val="12000"/>
            </a:srgbClr>
          </a:solidFill>
          <a:ln w="12700">
            <a:solidFill>
              <a:srgbClr val="A31621">
                <a:alpha val="28000"/>
              </a:srgbClr>
            </a:solidFill>
            <a:prstDash val="solid"/>
          </a:ln>
        </p:spPr>
        <p:txBody>
          <a:bodyPr/>
          <a:lstStyle/>
          <a:p>
            <a:endParaRPr lang="en-US"/>
          </a:p>
        </p:txBody>
      </p:sp>
      <p:sp>
        <p:nvSpPr>
          <p:cNvPr id="3" name="Shape 1"/>
          <p:cNvSpPr/>
          <p:nvPr/>
        </p:nvSpPr>
        <p:spPr>
          <a:xfrm>
            <a:off x="10424160" y="4206240"/>
            <a:ext cx="3108960" cy="3108960"/>
          </a:xfrm>
          <a:prstGeom prst="ellipse">
            <a:avLst/>
          </a:prstGeom>
          <a:solidFill>
            <a:srgbClr val="A31621">
              <a:alpha val="8000"/>
            </a:srgbClr>
          </a:solidFill>
          <a:ln/>
        </p:spPr>
        <p:txBody>
          <a:bodyPr/>
          <a:lstStyle/>
          <a:p>
            <a:endParaRPr lang="en-US"/>
          </a:p>
        </p:txBody>
      </p:sp>
      <p:sp>
        <p:nvSpPr>
          <p:cNvPr id="4" name="Text 2"/>
          <p:cNvSpPr/>
          <p:nvPr/>
        </p:nvSpPr>
        <p:spPr>
          <a:xfrm>
            <a:off x="594360" y="1234440"/>
            <a:ext cx="5486400" cy="274320"/>
          </a:xfrm>
          <a:prstGeom prst="rect">
            <a:avLst/>
          </a:prstGeom>
          <a:noFill/>
          <a:ln/>
        </p:spPr>
        <p:txBody>
          <a:bodyPr wrap="square" lIns="0" tIns="0" rIns="0" bIns="0" rtlCol="0" anchor="ctr"/>
          <a:lstStyle/>
          <a:p>
            <a:pPr marL="0" indent="0" algn="l">
              <a:buNone/>
            </a:pPr>
            <a:r>
              <a:rPr lang="en-US" sz="1100" b="1" kern="0" spc="240" dirty="0">
                <a:solidFill>
                  <a:srgbClr val="E0757F"/>
                </a:solidFill>
                <a:latin typeface="Calibri" pitchFamily="34" charset="0"/>
                <a:ea typeface="Calibri" pitchFamily="34" charset="-122"/>
                <a:cs typeface="Calibri" pitchFamily="34" charset="-120"/>
              </a:rPr>
              <a:t>WHAT WE STILL CAN'T ANSWER</a:t>
            </a:r>
            <a:endParaRPr lang="en-US" sz="1100" dirty="0"/>
          </a:p>
        </p:txBody>
      </p:sp>
      <p:sp>
        <p:nvSpPr>
          <p:cNvPr id="5" name="Text 3"/>
          <p:cNvSpPr/>
          <p:nvPr/>
        </p:nvSpPr>
        <p:spPr>
          <a:xfrm>
            <a:off x="594360" y="1645920"/>
            <a:ext cx="8412480" cy="1691640"/>
          </a:xfrm>
          <a:prstGeom prst="rect">
            <a:avLst/>
          </a:prstGeom>
          <a:noFill/>
          <a:ln/>
        </p:spPr>
        <p:txBody>
          <a:bodyPr wrap="square" lIns="0" tIns="0" rIns="0" bIns="0" rtlCol="0" anchor="ctr"/>
          <a:lstStyle/>
          <a:p>
            <a:pPr marL="0" indent="0">
              <a:lnSpc>
                <a:spcPct val="112000"/>
              </a:lnSpc>
              <a:buNone/>
            </a:pPr>
            <a:r>
              <a:rPr lang="en-US" sz="3400" b="1" dirty="0">
                <a:solidFill>
                  <a:srgbClr val="FFFFFF"/>
                </a:solidFill>
                <a:latin typeface="Cambria" pitchFamily="34" charset="0"/>
                <a:ea typeface="Cambria" pitchFamily="34" charset="-122"/>
                <a:cs typeface="Cambria" pitchFamily="34" charset="-120"/>
              </a:rPr>
              <a:t>We can tell you the coverage was critical.</a:t>
            </a:r>
            <a:endParaRPr lang="en-US" sz="3400" dirty="0"/>
          </a:p>
          <a:p>
            <a:pPr marL="0" indent="0">
              <a:lnSpc>
                <a:spcPct val="112000"/>
              </a:lnSpc>
              <a:buNone/>
            </a:pPr>
            <a:r>
              <a:rPr lang="en-US" sz="3400" b="1" dirty="0">
                <a:solidFill>
                  <a:srgbClr val="FFFFFF"/>
                </a:solidFill>
                <a:latin typeface="Cambria" pitchFamily="34" charset="0"/>
                <a:ea typeface="Cambria" pitchFamily="34" charset="-122"/>
                <a:cs typeface="Cambria" pitchFamily="34" charset="-120"/>
              </a:rPr>
              <a:t>We can't tell you when it became the story.</a:t>
            </a:r>
            <a:endParaRPr lang="en-US" sz="3400" dirty="0"/>
          </a:p>
        </p:txBody>
      </p:sp>
      <p:sp>
        <p:nvSpPr>
          <p:cNvPr id="6" name="Text 4"/>
          <p:cNvSpPr/>
          <p:nvPr/>
        </p:nvSpPr>
        <p:spPr>
          <a:xfrm>
            <a:off x="594360" y="3611880"/>
            <a:ext cx="8046720" cy="1097280"/>
          </a:xfrm>
          <a:prstGeom prst="rect">
            <a:avLst/>
          </a:prstGeom>
          <a:noFill/>
          <a:ln/>
        </p:spPr>
        <p:txBody>
          <a:bodyPr wrap="square" lIns="0" tIns="0" rIns="0" bIns="0" rtlCol="0" anchor="t"/>
          <a:lstStyle/>
          <a:p>
            <a:pPr marL="0" indent="0">
              <a:lnSpc>
                <a:spcPct val="120000"/>
              </a:lnSpc>
              <a:buNone/>
            </a:pPr>
            <a:r>
              <a:rPr lang="en-US" sz="1600" dirty="0">
                <a:solidFill>
                  <a:srgbClr val="C3C9D6"/>
                </a:solidFill>
                <a:latin typeface="Calibri" pitchFamily="34" charset="0"/>
                <a:ea typeface="Calibri" pitchFamily="34" charset="-122"/>
                <a:cs typeface="Calibri" pitchFamily="34" charset="-120"/>
              </a:rPr>
              <a:t>Somewhere between January and June 2022, coverage of one district attorney went from routine to inescapable. That tipping point is what actually matters — for showing cause and effect, and for anyone deciding when to respond.</a:t>
            </a:r>
            <a:endParaRPr lang="en-US" sz="1600" dirty="0"/>
          </a:p>
        </p:txBody>
      </p:sp>
      <p:sp>
        <p:nvSpPr>
          <p:cNvPr id="7" name="Text 5"/>
          <p:cNvSpPr/>
          <p:nvPr/>
        </p:nvSpPr>
        <p:spPr>
          <a:xfrm>
            <a:off x="594360" y="4846320"/>
            <a:ext cx="8046720" cy="365760"/>
          </a:xfrm>
          <a:prstGeom prst="rect">
            <a:avLst/>
          </a:prstGeom>
          <a:noFill/>
          <a:ln/>
        </p:spPr>
        <p:txBody>
          <a:bodyPr wrap="square" lIns="0" tIns="0" rIns="0" bIns="0" rtlCol="0" anchor="ctr"/>
          <a:lstStyle/>
          <a:p>
            <a:pPr marL="0" indent="0">
              <a:buNone/>
            </a:pPr>
            <a:endParaRPr lang="en-US" sz="1400" dirty="0"/>
          </a:p>
        </p:txBody>
      </p:sp>
      <p:sp>
        <p:nvSpPr>
          <p:cNvPr id="8" name="Text 6"/>
          <p:cNvSpPr/>
          <p:nvPr/>
        </p:nvSpPr>
        <p:spPr>
          <a:xfrm>
            <a:off x="594360" y="5486400"/>
            <a:ext cx="8046720" cy="457200"/>
          </a:xfrm>
          <a:prstGeom prst="rect">
            <a:avLst/>
          </a:prstGeom>
          <a:noFill/>
          <a:ln/>
        </p:spPr>
        <p:txBody>
          <a:bodyPr wrap="square" lIns="0" tIns="0" rIns="0" bIns="0" rtlCol="0" anchor="ctr"/>
          <a:lstStyle/>
          <a:p>
            <a:pPr marL="0" indent="0">
              <a:buNone/>
            </a:pPr>
            <a:r>
              <a:rPr lang="en-US" sz="1700" b="1" dirty="0">
                <a:solidFill>
                  <a:srgbClr val="E0757F"/>
                </a:solidFill>
                <a:latin typeface="Calibri" pitchFamily="34" charset="0"/>
                <a:ea typeface="Calibri" pitchFamily="34" charset="-122"/>
                <a:cs typeface="Calibri" pitchFamily="34" charset="-120"/>
              </a:rPr>
              <a:t>There is a free tool built for exactly this.</a:t>
            </a:r>
            <a:endParaRPr lang="en-US" sz="1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94360" y="329184"/>
            <a:ext cx="10972800" cy="658368"/>
          </a:xfrm>
          <a:prstGeom prst="rect">
            <a:avLst/>
          </a:prstGeom>
          <a:noFill/>
          <a:ln/>
        </p:spPr>
        <p:txBody>
          <a:bodyPr wrap="square" lIns="0" tIns="0" rIns="0" bIns="0" rtlCol="0" anchor="ctr"/>
          <a:lstStyle/>
          <a:p>
            <a:pPr marL="0" indent="0" algn="l">
              <a:buNone/>
            </a:pPr>
            <a:r>
              <a:rPr lang="en-US" sz="3400" b="1" dirty="0">
                <a:solidFill>
                  <a:srgbClr val="14161F"/>
                </a:solidFill>
                <a:latin typeface="Cambria" pitchFamily="34" charset="0"/>
                <a:ea typeface="Cambria" pitchFamily="34" charset="-122"/>
                <a:cs typeface="Cambria" pitchFamily="34" charset="-120"/>
              </a:rPr>
              <a:t>GDELT, in one slide</a:t>
            </a:r>
            <a:endParaRPr lang="en-US" sz="3400" dirty="0"/>
          </a:p>
        </p:txBody>
      </p:sp>
      <p:sp>
        <p:nvSpPr>
          <p:cNvPr id="3" name="Text 1"/>
          <p:cNvSpPr/>
          <p:nvPr/>
        </p:nvSpPr>
        <p:spPr>
          <a:xfrm>
            <a:off x="594360" y="987552"/>
            <a:ext cx="11018520" cy="594360"/>
          </a:xfrm>
          <a:prstGeom prst="rect">
            <a:avLst/>
          </a:prstGeom>
          <a:noFill/>
          <a:ln/>
        </p:spPr>
        <p:txBody>
          <a:bodyPr wrap="square" lIns="0" tIns="0" rIns="0" bIns="0" rtlCol="0" anchor="t"/>
          <a:lstStyle/>
          <a:p>
            <a:pPr marL="0" indent="0">
              <a:lnSpc>
                <a:spcPct val="115000"/>
              </a:lnSpc>
              <a:buNone/>
            </a:pPr>
            <a:r>
              <a:rPr lang="en-US" sz="1450" dirty="0">
                <a:solidFill>
                  <a:srgbClr val="3F4757"/>
                </a:solidFill>
                <a:latin typeface="Calibri" pitchFamily="34" charset="0"/>
                <a:ea typeface="Calibri" pitchFamily="34" charset="-122"/>
                <a:cs typeface="Calibri" pitchFamily="34" charset="-120"/>
              </a:rPr>
              <a:t>A free public project that watches the world's news — thousands of outlets in 65 languages — and records, every fifteen minutes, what is being covered, where, and in what tone. No fee, no licence, no login.</a:t>
            </a:r>
            <a:endParaRPr lang="en-US" sz="1450" dirty="0"/>
          </a:p>
        </p:txBody>
      </p:sp>
      <p:sp>
        <p:nvSpPr>
          <p:cNvPr id="4" name="Shape 2"/>
          <p:cNvSpPr/>
          <p:nvPr/>
        </p:nvSpPr>
        <p:spPr>
          <a:xfrm>
            <a:off x="594360" y="1737360"/>
            <a:ext cx="3566160" cy="1737360"/>
          </a:xfrm>
          <a:prstGeom prst="roundRect">
            <a:avLst>
              <a:gd name="adj" fmla="val 3684"/>
            </a:avLst>
          </a:prstGeom>
          <a:solidFill>
            <a:srgbClr val="F4F5F7"/>
          </a:solidFill>
          <a:ln/>
          <a:effectLst>
            <a:outerShdw blurRad="101600" dist="25400" dir="5400000" algn="bl" rotWithShape="0">
              <a:srgbClr val="9AA1AE">
                <a:alpha val="22000"/>
              </a:srgbClr>
            </a:outerShdw>
          </a:effectLst>
        </p:spPr>
        <p:txBody>
          <a:bodyPr/>
          <a:lstStyle/>
          <a:p>
            <a:endParaRPr lang="en-US"/>
          </a:p>
        </p:txBody>
      </p:sp>
      <p:sp>
        <p:nvSpPr>
          <p:cNvPr id="5" name="Text 3"/>
          <p:cNvSpPr/>
          <p:nvPr/>
        </p:nvSpPr>
        <p:spPr>
          <a:xfrm>
            <a:off x="886968" y="1920240"/>
            <a:ext cx="2980944" cy="320040"/>
          </a:xfrm>
          <a:prstGeom prst="rect">
            <a:avLst/>
          </a:prstGeom>
          <a:noFill/>
          <a:ln/>
        </p:spPr>
        <p:txBody>
          <a:bodyPr wrap="square" lIns="0" tIns="0" rIns="0" bIns="0" rtlCol="0" anchor="ctr"/>
          <a:lstStyle/>
          <a:p>
            <a:pPr marL="0" indent="0">
              <a:buNone/>
            </a:pPr>
            <a:r>
              <a:rPr lang="en-US" sz="1700" b="1" dirty="0">
                <a:solidFill>
                  <a:srgbClr val="2B3A55"/>
                </a:solidFill>
                <a:latin typeface="Cambria" pitchFamily="34" charset="0"/>
                <a:ea typeface="Cambria" pitchFamily="34" charset="-122"/>
                <a:cs typeface="Cambria" pitchFamily="34" charset="-120"/>
              </a:rPr>
              <a:t>How much is being said</a:t>
            </a:r>
            <a:endParaRPr lang="en-US" sz="1700" dirty="0"/>
          </a:p>
        </p:txBody>
      </p:sp>
      <p:sp>
        <p:nvSpPr>
          <p:cNvPr id="6" name="Text 4"/>
          <p:cNvSpPr/>
          <p:nvPr/>
        </p:nvSpPr>
        <p:spPr>
          <a:xfrm>
            <a:off x="886968" y="2286000"/>
            <a:ext cx="2980944" cy="1051560"/>
          </a:xfrm>
          <a:prstGeom prst="rect">
            <a:avLst/>
          </a:prstGeom>
          <a:noFill/>
          <a:ln/>
        </p:spPr>
        <p:txBody>
          <a:bodyPr wrap="square" lIns="0" tIns="0" rIns="0" bIns="0" rtlCol="0" anchor="t"/>
          <a:lstStyle/>
          <a:p>
            <a:pPr marL="0" indent="0">
              <a:lnSpc>
                <a:spcPct val="114000"/>
              </a:lnSpc>
              <a:buNone/>
            </a:pPr>
            <a:r>
              <a:rPr lang="en-US" sz="1250" dirty="0">
                <a:solidFill>
                  <a:srgbClr val="3F4757"/>
                </a:solidFill>
                <a:latin typeface="Calibri" pitchFamily="34" charset="0"/>
                <a:ea typeface="Calibri" pitchFamily="34" charset="-122"/>
                <a:cs typeface="Calibri" pitchFamily="34" charset="-120"/>
              </a:rPr>
              <a:t>Coverage of any topic, person or place, counted by day or by hour, going back years.</a:t>
            </a:r>
            <a:endParaRPr lang="en-US" sz="1250" dirty="0"/>
          </a:p>
        </p:txBody>
      </p:sp>
      <p:sp>
        <p:nvSpPr>
          <p:cNvPr id="7" name="Shape 5"/>
          <p:cNvSpPr/>
          <p:nvPr/>
        </p:nvSpPr>
        <p:spPr>
          <a:xfrm>
            <a:off x="4370832" y="1737360"/>
            <a:ext cx="3566160" cy="1737360"/>
          </a:xfrm>
          <a:prstGeom prst="roundRect">
            <a:avLst>
              <a:gd name="adj" fmla="val 3684"/>
            </a:avLst>
          </a:prstGeom>
          <a:solidFill>
            <a:srgbClr val="F4F5F7"/>
          </a:solidFill>
          <a:ln/>
          <a:effectLst>
            <a:outerShdw blurRad="101600" dist="25400" dir="5400000" algn="bl" rotWithShape="0">
              <a:srgbClr val="9AA1AE">
                <a:alpha val="22000"/>
              </a:srgbClr>
            </a:outerShdw>
          </a:effectLst>
        </p:spPr>
        <p:txBody>
          <a:bodyPr/>
          <a:lstStyle/>
          <a:p>
            <a:endParaRPr lang="en-US"/>
          </a:p>
        </p:txBody>
      </p:sp>
      <p:sp>
        <p:nvSpPr>
          <p:cNvPr id="8" name="Text 6"/>
          <p:cNvSpPr/>
          <p:nvPr/>
        </p:nvSpPr>
        <p:spPr>
          <a:xfrm>
            <a:off x="4663440" y="1920240"/>
            <a:ext cx="2980944" cy="320040"/>
          </a:xfrm>
          <a:prstGeom prst="rect">
            <a:avLst/>
          </a:prstGeom>
          <a:noFill/>
          <a:ln/>
        </p:spPr>
        <p:txBody>
          <a:bodyPr wrap="square" lIns="0" tIns="0" rIns="0" bIns="0" rtlCol="0" anchor="ctr"/>
          <a:lstStyle/>
          <a:p>
            <a:pPr marL="0" indent="0">
              <a:buNone/>
            </a:pPr>
            <a:r>
              <a:rPr lang="en-US" sz="1700" b="1" dirty="0">
                <a:solidFill>
                  <a:srgbClr val="2B3A55"/>
                </a:solidFill>
                <a:latin typeface="Cambria" pitchFamily="34" charset="0"/>
                <a:ea typeface="Cambria" pitchFamily="34" charset="-122"/>
                <a:cs typeface="Cambria" pitchFamily="34" charset="-120"/>
              </a:rPr>
              <a:t>How it is changing</a:t>
            </a:r>
            <a:endParaRPr lang="en-US" sz="1700" dirty="0"/>
          </a:p>
        </p:txBody>
      </p:sp>
      <p:sp>
        <p:nvSpPr>
          <p:cNvPr id="9" name="Text 7"/>
          <p:cNvSpPr/>
          <p:nvPr/>
        </p:nvSpPr>
        <p:spPr>
          <a:xfrm>
            <a:off x="4663440" y="2286000"/>
            <a:ext cx="2980944" cy="1051560"/>
          </a:xfrm>
          <a:prstGeom prst="rect">
            <a:avLst/>
          </a:prstGeom>
          <a:noFill/>
          <a:ln/>
        </p:spPr>
        <p:txBody>
          <a:bodyPr wrap="square" lIns="0" tIns="0" rIns="0" bIns="0" rtlCol="0" anchor="t"/>
          <a:lstStyle/>
          <a:p>
            <a:pPr marL="0" indent="0">
              <a:lnSpc>
                <a:spcPct val="114000"/>
              </a:lnSpc>
              <a:buNone/>
            </a:pPr>
            <a:r>
              <a:rPr lang="en-US" sz="1250" dirty="0">
                <a:solidFill>
                  <a:srgbClr val="3F4757"/>
                </a:solidFill>
                <a:latin typeface="Calibri" pitchFamily="34" charset="0"/>
                <a:ea typeface="Calibri" pitchFamily="34" charset="-122"/>
                <a:cs typeface="Calibri" pitchFamily="34" charset="-120"/>
              </a:rPr>
              <a:t>Whether attention and tone are rising or falling — so you can see a story build or break.</a:t>
            </a:r>
            <a:endParaRPr lang="en-US" sz="1250" dirty="0"/>
          </a:p>
        </p:txBody>
      </p:sp>
      <p:sp>
        <p:nvSpPr>
          <p:cNvPr id="10" name="Shape 8"/>
          <p:cNvSpPr/>
          <p:nvPr/>
        </p:nvSpPr>
        <p:spPr>
          <a:xfrm>
            <a:off x="8147304" y="1737360"/>
            <a:ext cx="3566160" cy="1737360"/>
          </a:xfrm>
          <a:prstGeom prst="roundRect">
            <a:avLst>
              <a:gd name="adj" fmla="val 3684"/>
            </a:avLst>
          </a:prstGeom>
          <a:solidFill>
            <a:srgbClr val="F4F5F7"/>
          </a:solidFill>
          <a:ln/>
          <a:effectLst>
            <a:outerShdw blurRad="101600" dist="25400" dir="5400000" algn="bl" rotWithShape="0">
              <a:srgbClr val="9AA1AE">
                <a:alpha val="22000"/>
              </a:srgbClr>
            </a:outerShdw>
          </a:effectLst>
        </p:spPr>
        <p:txBody>
          <a:bodyPr/>
          <a:lstStyle/>
          <a:p>
            <a:endParaRPr lang="en-US"/>
          </a:p>
        </p:txBody>
      </p:sp>
      <p:sp>
        <p:nvSpPr>
          <p:cNvPr id="11" name="Text 9"/>
          <p:cNvSpPr/>
          <p:nvPr/>
        </p:nvSpPr>
        <p:spPr>
          <a:xfrm>
            <a:off x="8439912" y="1920240"/>
            <a:ext cx="2980944" cy="320040"/>
          </a:xfrm>
          <a:prstGeom prst="rect">
            <a:avLst/>
          </a:prstGeom>
          <a:noFill/>
          <a:ln/>
        </p:spPr>
        <p:txBody>
          <a:bodyPr wrap="square" lIns="0" tIns="0" rIns="0" bIns="0" rtlCol="0" anchor="ctr"/>
          <a:lstStyle/>
          <a:p>
            <a:pPr marL="0" indent="0">
              <a:buNone/>
            </a:pPr>
            <a:r>
              <a:rPr lang="en-US" sz="1700" b="1" dirty="0">
                <a:solidFill>
                  <a:srgbClr val="2B3A55"/>
                </a:solidFill>
                <a:latin typeface="Cambria" pitchFamily="34" charset="0"/>
                <a:ea typeface="Cambria" pitchFamily="34" charset="-122"/>
                <a:cs typeface="Cambria" pitchFamily="34" charset="-120"/>
              </a:rPr>
              <a:t>Where it is spreading</a:t>
            </a:r>
            <a:endParaRPr lang="en-US" sz="1700" dirty="0"/>
          </a:p>
        </p:txBody>
      </p:sp>
      <p:sp>
        <p:nvSpPr>
          <p:cNvPr id="12" name="Text 10"/>
          <p:cNvSpPr/>
          <p:nvPr/>
        </p:nvSpPr>
        <p:spPr>
          <a:xfrm>
            <a:off x="8439912" y="2286000"/>
            <a:ext cx="2980944" cy="1051560"/>
          </a:xfrm>
          <a:prstGeom prst="rect">
            <a:avLst/>
          </a:prstGeom>
          <a:noFill/>
          <a:ln/>
        </p:spPr>
        <p:txBody>
          <a:bodyPr wrap="square" lIns="0" tIns="0" rIns="0" bIns="0" rtlCol="0" anchor="t"/>
          <a:lstStyle/>
          <a:p>
            <a:pPr marL="0" indent="0">
              <a:lnSpc>
                <a:spcPct val="114000"/>
              </a:lnSpc>
              <a:buNone/>
            </a:pPr>
            <a:r>
              <a:rPr lang="en-US" sz="1250" dirty="0">
                <a:solidFill>
                  <a:srgbClr val="3F4757"/>
                </a:solidFill>
                <a:latin typeface="Calibri" pitchFamily="34" charset="0"/>
                <a:ea typeface="Calibri" pitchFamily="34" charset="-122"/>
                <a:cs typeface="Calibri" pitchFamily="34" charset="-120"/>
              </a:rPr>
              <a:t>Which outlets, which countries, which languages. Including US local television back to 2009, searchable by what was said on air.</a:t>
            </a:r>
            <a:endParaRPr lang="en-US" sz="1250" dirty="0"/>
          </a:p>
        </p:txBody>
      </p:sp>
      <p:sp>
        <p:nvSpPr>
          <p:cNvPr id="15" name="Text 13"/>
          <p:cNvSpPr/>
          <p:nvPr/>
        </p:nvSpPr>
        <p:spPr>
          <a:xfrm>
            <a:off x="960120" y="4114800"/>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17" name="Text 15"/>
          <p:cNvSpPr/>
          <p:nvPr/>
        </p:nvSpPr>
        <p:spPr>
          <a:xfrm>
            <a:off x="594360" y="5394960"/>
            <a:ext cx="11018520" cy="411480"/>
          </a:xfrm>
          <a:prstGeom prst="rect">
            <a:avLst/>
          </a:prstGeom>
          <a:noFill/>
          <a:ln/>
        </p:spPr>
        <p:txBody>
          <a:bodyPr wrap="square" lIns="0" tIns="0" rIns="0" bIns="0" rtlCol="0" anchor="ctr"/>
          <a:lstStyle/>
          <a:p>
            <a:pPr marL="0" indent="0">
              <a:buNone/>
            </a:pPr>
            <a:r>
              <a:rPr lang="en-US" sz="1350" b="1" dirty="0">
                <a:solidFill>
                  <a:srgbClr val="2B3A55"/>
                </a:solidFill>
                <a:latin typeface="Calibri" pitchFamily="34" charset="0"/>
                <a:ea typeface="Calibri" pitchFamily="34" charset="-122"/>
                <a:cs typeface="Calibri" pitchFamily="34" charset="-120"/>
              </a:rPr>
              <a:t>Easiest way in: type a name into television.gdeltproject.org and look at the chart. No code, no account.</a:t>
            </a:r>
            <a:endParaRPr lang="en-US" sz="13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94360" y="329184"/>
            <a:ext cx="10972800" cy="658368"/>
          </a:xfrm>
          <a:prstGeom prst="rect">
            <a:avLst/>
          </a:prstGeom>
          <a:noFill/>
          <a:ln/>
        </p:spPr>
        <p:txBody>
          <a:bodyPr wrap="square" lIns="0" tIns="0" rIns="0" bIns="0" rtlCol="0" anchor="ctr"/>
          <a:lstStyle/>
          <a:p>
            <a:pPr marL="0" indent="0" algn="l">
              <a:buNone/>
            </a:pPr>
            <a:r>
              <a:rPr lang="en-US" sz="3400" b="1" dirty="0">
                <a:solidFill>
                  <a:srgbClr val="14161F"/>
                </a:solidFill>
                <a:latin typeface="Cambria" pitchFamily="34" charset="0"/>
                <a:ea typeface="Cambria" pitchFamily="34" charset="-122"/>
                <a:cs typeface="Cambria" pitchFamily="34" charset="-120"/>
              </a:rPr>
              <a:t>So I ran it</a:t>
            </a:r>
            <a:endParaRPr lang="en-US" sz="3400" dirty="0"/>
          </a:p>
        </p:txBody>
      </p:sp>
      <p:sp>
        <p:nvSpPr>
          <p:cNvPr id="3" name="Text 1"/>
          <p:cNvSpPr/>
          <p:nvPr/>
        </p:nvSpPr>
        <p:spPr>
          <a:xfrm>
            <a:off x="594360" y="969264"/>
            <a:ext cx="11018520" cy="320040"/>
          </a:xfrm>
          <a:prstGeom prst="rect">
            <a:avLst/>
          </a:prstGeom>
          <a:noFill/>
          <a:ln/>
        </p:spPr>
        <p:txBody>
          <a:bodyPr wrap="square" lIns="0" tIns="0" rIns="0" bIns="0" rtlCol="0" anchor="ctr"/>
          <a:lstStyle/>
          <a:p>
            <a:pPr marL="0" indent="0">
              <a:buNone/>
            </a:pPr>
            <a:r>
              <a:rPr lang="en-US" sz="1350" dirty="0">
                <a:solidFill>
                  <a:srgbClr val="3F4757"/>
                </a:solidFill>
                <a:latin typeface="Calibri" pitchFamily="34" charset="0"/>
                <a:ea typeface="Calibri" pitchFamily="34" charset="-122"/>
                <a:cs typeface="Calibri" pitchFamily="34" charset="-120"/>
              </a:rPr>
              <a:t>Two queries and one article pull, on a free public index. About twenty minutes of work.</a:t>
            </a:r>
            <a:endParaRPr lang="en-US" sz="1350" dirty="0"/>
          </a:p>
        </p:txBody>
      </p:sp>
      <p:pic>
        <p:nvPicPr>
          <p:cNvPr id="4" name="Image 0" descr="C:\Users\dviry\AppData\Local\Temp\claude\G--My-Drive-Papers-and-ClassReading-Berkeley-postdoc-media-media-bias-python\25b9c88b-7822-4300-9b08-389123fdd540\scratchpad\deck\img\salience.png"/>
          <p:cNvPicPr>
            <a:picLocks noChangeAspect="1"/>
          </p:cNvPicPr>
          <p:nvPr/>
        </p:nvPicPr>
        <p:blipFill>
          <a:blip r:embed="rId3"/>
          <a:stretch>
            <a:fillRect/>
          </a:stretch>
        </p:blipFill>
        <p:spPr>
          <a:xfrm>
            <a:off x="548640" y="1325880"/>
            <a:ext cx="7818120" cy="4489704"/>
          </a:xfrm>
          <a:prstGeom prst="rect">
            <a:avLst/>
          </a:prstGeom>
        </p:spPr>
      </p:pic>
      <p:sp>
        <p:nvSpPr>
          <p:cNvPr id="5" name="Shape 2"/>
          <p:cNvSpPr/>
          <p:nvPr/>
        </p:nvSpPr>
        <p:spPr>
          <a:xfrm>
            <a:off x="8595360" y="1371600"/>
            <a:ext cx="3017520" cy="1051560"/>
          </a:xfrm>
          <a:prstGeom prst="roundRect">
            <a:avLst>
              <a:gd name="adj" fmla="val 6087"/>
            </a:avLst>
          </a:prstGeom>
          <a:solidFill>
            <a:srgbClr val="F4F5F7"/>
          </a:solidFill>
          <a:ln/>
          <a:effectLst>
            <a:outerShdw blurRad="101600" dist="25400" dir="5400000" algn="bl" rotWithShape="0">
              <a:srgbClr val="9AA1AE">
                <a:alpha val="22000"/>
              </a:srgbClr>
            </a:outerShdw>
          </a:effectLst>
        </p:spPr>
        <p:txBody>
          <a:bodyPr/>
          <a:lstStyle/>
          <a:p>
            <a:endParaRPr lang="en-US"/>
          </a:p>
        </p:txBody>
      </p:sp>
      <p:sp>
        <p:nvSpPr>
          <p:cNvPr id="6" name="Text 3"/>
          <p:cNvSpPr/>
          <p:nvPr/>
        </p:nvSpPr>
        <p:spPr>
          <a:xfrm>
            <a:off x="8796528" y="1371600"/>
            <a:ext cx="2615184" cy="1051560"/>
          </a:xfrm>
          <a:prstGeom prst="rect">
            <a:avLst/>
          </a:prstGeom>
          <a:noFill/>
          <a:ln/>
        </p:spPr>
        <p:txBody>
          <a:bodyPr wrap="square" lIns="0" tIns="0" rIns="0" bIns="0" rtlCol="0" anchor="ctr"/>
          <a:lstStyle/>
          <a:p>
            <a:pPr marL="0" indent="0">
              <a:lnSpc>
                <a:spcPct val="110000"/>
              </a:lnSpc>
              <a:buNone/>
            </a:pPr>
            <a:r>
              <a:rPr lang="en-US" sz="1050" b="1" dirty="0">
                <a:solidFill>
                  <a:srgbClr val="A31621"/>
                </a:solidFill>
                <a:latin typeface="Calibri" pitchFamily="34" charset="0"/>
                <a:ea typeface="Calibri" pitchFamily="34" charset="-122"/>
                <a:cs typeface="Calibri" pitchFamily="34" charset="-120"/>
              </a:rPr>
              <a:t>There was no ramp. </a:t>
            </a:r>
            <a:r>
              <a:rPr lang="en-US" sz="1050" dirty="0">
                <a:solidFill>
                  <a:srgbClr val="3F4757"/>
                </a:solidFill>
                <a:latin typeface="Calibri" pitchFamily="34" charset="0"/>
                <a:ea typeface="Calibri" pitchFamily="34" charset="-122"/>
                <a:cs typeface="Calibri" pitchFamily="34" charset="-120"/>
              </a:rPr>
              <a:t>March and April sat at the 2021 baseline. The story did not build toward the vote.</a:t>
            </a:r>
            <a:endParaRPr lang="en-US" sz="1050" dirty="0"/>
          </a:p>
        </p:txBody>
      </p:sp>
      <p:sp>
        <p:nvSpPr>
          <p:cNvPr id="7" name="Shape 4"/>
          <p:cNvSpPr/>
          <p:nvPr/>
        </p:nvSpPr>
        <p:spPr>
          <a:xfrm>
            <a:off x="8595360" y="2523744"/>
            <a:ext cx="3017520" cy="1051560"/>
          </a:xfrm>
          <a:prstGeom prst="roundRect">
            <a:avLst>
              <a:gd name="adj" fmla="val 6087"/>
            </a:avLst>
          </a:prstGeom>
          <a:solidFill>
            <a:srgbClr val="F4F5F7"/>
          </a:solidFill>
          <a:ln/>
          <a:effectLst>
            <a:outerShdw blurRad="101600" dist="25400" dir="5400000" algn="bl" rotWithShape="0">
              <a:srgbClr val="9AA1AE">
                <a:alpha val="22000"/>
              </a:srgbClr>
            </a:outerShdw>
          </a:effectLst>
        </p:spPr>
        <p:txBody>
          <a:bodyPr/>
          <a:lstStyle/>
          <a:p>
            <a:endParaRPr lang="en-US"/>
          </a:p>
        </p:txBody>
      </p:sp>
      <p:sp>
        <p:nvSpPr>
          <p:cNvPr id="8" name="Text 5"/>
          <p:cNvSpPr/>
          <p:nvPr/>
        </p:nvSpPr>
        <p:spPr>
          <a:xfrm>
            <a:off x="8796528" y="2523744"/>
            <a:ext cx="2615184" cy="1051560"/>
          </a:xfrm>
          <a:prstGeom prst="rect">
            <a:avLst/>
          </a:prstGeom>
          <a:noFill/>
          <a:ln/>
        </p:spPr>
        <p:txBody>
          <a:bodyPr wrap="square" lIns="0" tIns="0" rIns="0" bIns="0" rtlCol="0" anchor="ctr"/>
          <a:lstStyle/>
          <a:p>
            <a:pPr marL="0" indent="0">
              <a:lnSpc>
                <a:spcPct val="110000"/>
              </a:lnSpc>
              <a:buNone/>
            </a:pPr>
            <a:r>
              <a:rPr lang="en-US" sz="1050" b="1" dirty="0">
                <a:solidFill>
                  <a:srgbClr val="A31621"/>
                </a:solidFill>
                <a:latin typeface="Calibri" pitchFamily="34" charset="0"/>
                <a:ea typeface="Calibri" pitchFamily="34" charset="-122"/>
                <a:cs typeface="Calibri" pitchFamily="34" charset="-120"/>
              </a:rPr>
              <a:t>It peaked the day after. </a:t>
            </a:r>
            <a:r>
              <a:rPr lang="en-US" sz="1050" dirty="0">
                <a:solidFill>
                  <a:srgbClr val="3F4757"/>
                </a:solidFill>
                <a:latin typeface="Calibri" pitchFamily="34" charset="0"/>
                <a:ea typeface="Calibri" pitchFamily="34" charset="-122"/>
                <a:cs typeface="Calibri" pitchFamily="34" charset="-120"/>
              </a:rPr>
              <a:t>8 June: 500 articles, 0.58% of all US coverage that day.</a:t>
            </a:r>
            <a:endParaRPr lang="en-US" sz="1050" dirty="0"/>
          </a:p>
        </p:txBody>
      </p:sp>
      <p:sp>
        <p:nvSpPr>
          <p:cNvPr id="9" name="Shape 6"/>
          <p:cNvSpPr/>
          <p:nvPr/>
        </p:nvSpPr>
        <p:spPr>
          <a:xfrm>
            <a:off x="8595360" y="3675888"/>
            <a:ext cx="3017520" cy="1051560"/>
          </a:xfrm>
          <a:prstGeom prst="roundRect">
            <a:avLst>
              <a:gd name="adj" fmla="val 6087"/>
            </a:avLst>
          </a:prstGeom>
          <a:solidFill>
            <a:srgbClr val="F4F5F7"/>
          </a:solidFill>
          <a:ln/>
          <a:effectLst>
            <a:outerShdw blurRad="101600" dist="25400" dir="5400000" algn="bl" rotWithShape="0">
              <a:srgbClr val="9AA1AE">
                <a:alpha val="22000"/>
              </a:srgbClr>
            </a:outerShdw>
          </a:effectLst>
        </p:spPr>
        <p:txBody>
          <a:bodyPr/>
          <a:lstStyle/>
          <a:p>
            <a:endParaRPr lang="en-US"/>
          </a:p>
        </p:txBody>
      </p:sp>
      <p:sp>
        <p:nvSpPr>
          <p:cNvPr id="10" name="Text 7"/>
          <p:cNvSpPr/>
          <p:nvPr/>
        </p:nvSpPr>
        <p:spPr>
          <a:xfrm>
            <a:off x="8796528" y="3675888"/>
            <a:ext cx="2615184" cy="1051560"/>
          </a:xfrm>
          <a:prstGeom prst="rect">
            <a:avLst/>
          </a:prstGeom>
          <a:noFill/>
          <a:ln/>
        </p:spPr>
        <p:txBody>
          <a:bodyPr wrap="square" lIns="0" tIns="0" rIns="0" bIns="0" rtlCol="0" anchor="ctr"/>
          <a:lstStyle/>
          <a:p>
            <a:pPr marL="0" indent="0">
              <a:lnSpc>
                <a:spcPct val="110000"/>
              </a:lnSpc>
              <a:buNone/>
            </a:pPr>
            <a:r>
              <a:rPr lang="en-US" sz="1050" b="1" dirty="0">
                <a:solidFill>
                  <a:srgbClr val="A31621"/>
                </a:solidFill>
                <a:latin typeface="Calibri" pitchFamily="34" charset="0"/>
                <a:ea typeface="Calibri" pitchFamily="34" charset="-122"/>
                <a:cs typeface="Calibri" pitchFamily="34" charset="-120"/>
              </a:rPr>
              <a:t>It escaped the market. </a:t>
            </a:r>
            <a:r>
              <a:rPr lang="en-US" sz="1050" dirty="0">
                <a:solidFill>
                  <a:srgbClr val="3F4757"/>
                </a:solidFill>
                <a:latin typeface="Calibri" pitchFamily="34" charset="0"/>
                <a:ea typeface="Calibri" pitchFamily="34" charset="-122"/>
                <a:cs typeface="Calibri" pitchFamily="34" charset="-120"/>
              </a:rPr>
              <a:t>In election week Bay Area outlets ran 12x their usual volume. Everyone else ran 76x.</a:t>
            </a:r>
            <a:endParaRPr lang="en-US" sz="1050" dirty="0"/>
          </a:p>
        </p:txBody>
      </p:sp>
      <p:sp>
        <p:nvSpPr>
          <p:cNvPr id="11" name="Shape 8"/>
          <p:cNvSpPr/>
          <p:nvPr/>
        </p:nvSpPr>
        <p:spPr>
          <a:xfrm>
            <a:off x="8595360" y="4828032"/>
            <a:ext cx="3017520" cy="1051560"/>
          </a:xfrm>
          <a:prstGeom prst="roundRect">
            <a:avLst>
              <a:gd name="adj" fmla="val 6087"/>
            </a:avLst>
          </a:prstGeom>
          <a:solidFill>
            <a:srgbClr val="F4F5F7"/>
          </a:solidFill>
          <a:ln/>
          <a:effectLst>
            <a:outerShdw blurRad="101600" dist="25400" dir="5400000" algn="bl" rotWithShape="0">
              <a:srgbClr val="9AA1AE">
                <a:alpha val="22000"/>
              </a:srgbClr>
            </a:outerShdw>
          </a:effectLst>
        </p:spPr>
        <p:txBody>
          <a:bodyPr/>
          <a:lstStyle/>
          <a:p>
            <a:endParaRPr lang="en-US"/>
          </a:p>
        </p:txBody>
      </p:sp>
      <p:sp>
        <p:nvSpPr>
          <p:cNvPr id="12" name="Text 9"/>
          <p:cNvSpPr/>
          <p:nvPr/>
        </p:nvSpPr>
        <p:spPr>
          <a:xfrm>
            <a:off x="8796528" y="4828032"/>
            <a:ext cx="2615184" cy="1051560"/>
          </a:xfrm>
          <a:prstGeom prst="rect">
            <a:avLst/>
          </a:prstGeom>
          <a:noFill/>
          <a:ln/>
        </p:spPr>
        <p:txBody>
          <a:bodyPr wrap="square" lIns="0" tIns="0" rIns="0" bIns="0" rtlCol="0" anchor="ctr"/>
          <a:lstStyle/>
          <a:p>
            <a:pPr marL="0" indent="0">
              <a:lnSpc>
                <a:spcPct val="110000"/>
              </a:lnSpc>
              <a:buNone/>
            </a:pPr>
            <a:r>
              <a:rPr lang="en-US" sz="1050" dirty="0">
                <a:solidFill>
                  <a:srgbClr val="3F4757"/>
                </a:solidFill>
                <a:latin typeface="Calibri" pitchFamily="34" charset="0"/>
                <a:ea typeface="Calibri" pitchFamily="34" charset="-122"/>
                <a:cs typeface="Calibri" pitchFamily="34" charset="-120"/>
              </a:rPr>
              <a:t>That bump is the school board recall, not his. And the police breaking with the DA on 2 Feb did nothing.</a:t>
            </a:r>
            <a:endParaRPr lang="en-US" sz="1050" dirty="0"/>
          </a:p>
        </p:txBody>
      </p:sp>
      <p:sp>
        <p:nvSpPr>
          <p:cNvPr id="13" name="Text 10"/>
          <p:cNvSpPr/>
          <p:nvPr/>
        </p:nvSpPr>
        <p:spPr>
          <a:xfrm>
            <a:off x="594360" y="5961888"/>
            <a:ext cx="11018520" cy="411480"/>
          </a:xfrm>
          <a:prstGeom prst="rect">
            <a:avLst/>
          </a:prstGeom>
          <a:noFill/>
          <a:ln/>
        </p:spPr>
        <p:txBody>
          <a:bodyPr wrap="square" lIns="0" tIns="0" rIns="0" bIns="0" rtlCol="0" anchor="ctr"/>
          <a:lstStyle/>
          <a:p>
            <a:pPr marL="0" indent="0">
              <a:buNone/>
            </a:pPr>
            <a:r>
              <a:rPr lang="en-US" sz="1200" b="1" i="1" dirty="0">
                <a:solidFill>
                  <a:srgbClr val="6B7280"/>
                </a:solidFill>
                <a:latin typeface="Calibri" pitchFamily="34" charset="0"/>
                <a:ea typeface="Calibri" pitchFamily="34" charset="-122"/>
                <a:cs typeface="Calibri" pitchFamily="34" charset="-120"/>
              </a:rPr>
              <a:t>Caveat that matters: </a:t>
            </a:r>
            <a:r>
              <a:rPr lang="en-US" sz="1200" i="1" dirty="0">
                <a:solidFill>
                  <a:srgbClr val="6B7280"/>
                </a:solidFill>
                <a:latin typeface="Calibri" pitchFamily="34" charset="0"/>
                <a:ea typeface="Calibri" pitchFamily="34" charset="-122"/>
                <a:cs typeface="Calibri" pitchFamily="34" charset="-120"/>
              </a:rPr>
              <a:t>this is US-wide coverage. A story can be deafening in San Francisco and invisible here — which is exactly why you pair it with a local corpus. And nobody yet knows what the December 2021 burst was.</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94360" y="329184"/>
            <a:ext cx="10972800" cy="658368"/>
          </a:xfrm>
          <a:prstGeom prst="rect">
            <a:avLst/>
          </a:prstGeom>
          <a:noFill/>
          <a:ln/>
        </p:spPr>
        <p:txBody>
          <a:bodyPr wrap="square" lIns="0" tIns="0" rIns="0" bIns="0" rtlCol="0" anchor="ctr"/>
          <a:lstStyle/>
          <a:p>
            <a:pPr marL="0" indent="0" algn="l">
              <a:buNone/>
            </a:pPr>
            <a:r>
              <a:rPr lang="en-US" sz="3400" b="1" dirty="0">
                <a:solidFill>
                  <a:srgbClr val="14161F"/>
                </a:solidFill>
                <a:latin typeface="Cambria" pitchFamily="34" charset="0"/>
                <a:ea typeface="Cambria" pitchFamily="34" charset="-122"/>
                <a:cs typeface="Cambria" pitchFamily="34" charset="-120"/>
              </a:rPr>
              <a:t>Six more things you could ask it</a:t>
            </a:r>
            <a:endParaRPr lang="en-US" sz="3400" dirty="0"/>
          </a:p>
        </p:txBody>
      </p:sp>
      <p:sp>
        <p:nvSpPr>
          <p:cNvPr id="3" name="Shape 1"/>
          <p:cNvSpPr/>
          <p:nvPr/>
        </p:nvSpPr>
        <p:spPr>
          <a:xfrm>
            <a:off x="594360" y="1234440"/>
            <a:ext cx="3447288" cy="1645920"/>
          </a:xfrm>
          <a:prstGeom prst="roundRect">
            <a:avLst>
              <a:gd name="adj" fmla="val 3889"/>
            </a:avLst>
          </a:prstGeom>
          <a:solidFill>
            <a:srgbClr val="F6E9EA"/>
          </a:solidFill>
          <a:ln/>
          <a:effectLst>
            <a:outerShdw blurRad="101600" dist="25400" dir="5400000" algn="bl" rotWithShape="0">
              <a:srgbClr val="9AA1AE">
                <a:alpha val="22000"/>
              </a:srgbClr>
            </a:outerShdw>
          </a:effectLst>
        </p:spPr>
        <p:txBody>
          <a:bodyPr/>
          <a:lstStyle/>
          <a:p>
            <a:endParaRPr lang="en-US"/>
          </a:p>
        </p:txBody>
      </p:sp>
      <p:sp>
        <p:nvSpPr>
          <p:cNvPr id="4" name="Shape 2"/>
          <p:cNvSpPr/>
          <p:nvPr/>
        </p:nvSpPr>
        <p:spPr>
          <a:xfrm>
            <a:off x="850392" y="1453896"/>
            <a:ext cx="329184" cy="329184"/>
          </a:xfrm>
          <a:prstGeom prst="ellipse">
            <a:avLst/>
          </a:prstGeom>
          <a:solidFill>
            <a:srgbClr val="A31621"/>
          </a:solidFill>
          <a:ln/>
        </p:spPr>
        <p:txBody>
          <a:bodyPr/>
          <a:lstStyle/>
          <a:p>
            <a:endParaRPr lang="en-US"/>
          </a:p>
        </p:txBody>
      </p:sp>
      <p:sp>
        <p:nvSpPr>
          <p:cNvPr id="5" name="Text 3"/>
          <p:cNvSpPr/>
          <p:nvPr/>
        </p:nvSpPr>
        <p:spPr>
          <a:xfrm>
            <a:off x="850392" y="1453896"/>
            <a:ext cx="329184" cy="32918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6" name="Text 4"/>
          <p:cNvSpPr/>
          <p:nvPr/>
        </p:nvSpPr>
        <p:spPr>
          <a:xfrm>
            <a:off x="1271016" y="1380744"/>
            <a:ext cx="2560320" cy="502920"/>
          </a:xfrm>
          <a:prstGeom prst="rect">
            <a:avLst/>
          </a:prstGeom>
          <a:noFill/>
          <a:ln/>
        </p:spPr>
        <p:txBody>
          <a:bodyPr wrap="square" lIns="0" tIns="0" rIns="0" bIns="0" rtlCol="0" anchor="ctr"/>
          <a:lstStyle/>
          <a:p>
            <a:pPr marL="0" indent="0">
              <a:lnSpc>
                <a:spcPct val="104000"/>
              </a:lnSpc>
              <a:buNone/>
            </a:pPr>
            <a:r>
              <a:rPr lang="en-US" sz="1350" b="1" dirty="0">
                <a:solidFill>
                  <a:srgbClr val="6D1119"/>
                </a:solidFill>
                <a:latin typeface="Calibri" pitchFamily="34" charset="0"/>
                <a:ea typeface="Calibri" pitchFamily="34" charset="-122"/>
                <a:cs typeface="Calibri" pitchFamily="34" charset="-120"/>
              </a:rPr>
              <a:t>Was the local curve the same?</a:t>
            </a:r>
            <a:endParaRPr lang="en-US" sz="1350" dirty="0"/>
          </a:p>
        </p:txBody>
      </p:sp>
      <p:sp>
        <p:nvSpPr>
          <p:cNvPr id="7" name="Text 5"/>
          <p:cNvSpPr/>
          <p:nvPr/>
        </p:nvSpPr>
        <p:spPr>
          <a:xfrm>
            <a:off x="850392" y="1947672"/>
            <a:ext cx="2971800" cy="960120"/>
          </a:xfrm>
          <a:prstGeom prst="rect">
            <a:avLst/>
          </a:prstGeom>
          <a:noFill/>
          <a:ln/>
        </p:spPr>
        <p:txBody>
          <a:bodyPr wrap="square" lIns="0" tIns="0" rIns="0" bIns="0" rtlCol="0" anchor="t"/>
          <a:lstStyle/>
          <a:p>
            <a:pPr marL="0" indent="0">
              <a:lnSpc>
                <a:spcPct val="112000"/>
              </a:lnSpc>
              <a:buNone/>
            </a:pPr>
            <a:r>
              <a:rPr lang="en-US" sz="1050" dirty="0">
                <a:solidFill>
                  <a:srgbClr val="6D1119"/>
                </a:solidFill>
                <a:latin typeface="Calibri" pitchFamily="34" charset="0"/>
                <a:ea typeface="Calibri" pitchFamily="34" charset="-122"/>
                <a:cs typeface="Calibri" pitchFamily="34" charset="-120"/>
              </a:rPr>
              <a:t>Re-run the last slide on Bay Area outlets only. If local coverage ramped when national did not, the causal story changes entirely.</a:t>
            </a:r>
            <a:endParaRPr lang="en-US" sz="1050" dirty="0"/>
          </a:p>
        </p:txBody>
      </p:sp>
      <p:sp>
        <p:nvSpPr>
          <p:cNvPr id="8" name="Shape 6"/>
          <p:cNvSpPr/>
          <p:nvPr/>
        </p:nvSpPr>
        <p:spPr>
          <a:xfrm>
            <a:off x="4370832" y="1234440"/>
            <a:ext cx="3447288" cy="1645920"/>
          </a:xfrm>
          <a:prstGeom prst="roundRect">
            <a:avLst>
              <a:gd name="adj" fmla="val 3889"/>
            </a:avLst>
          </a:prstGeom>
          <a:solidFill>
            <a:srgbClr val="F6E9EA"/>
          </a:solidFill>
          <a:ln/>
          <a:effectLst>
            <a:outerShdw blurRad="101600" dist="25400" dir="5400000" algn="bl" rotWithShape="0">
              <a:srgbClr val="9AA1AE">
                <a:alpha val="22000"/>
              </a:srgbClr>
            </a:outerShdw>
          </a:effectLst>
        </p:spPr>
        <p:txBody>
          <a:bodyPr/>
          <a:lstStyle/>
          <a:p>
            <a:endParaRPr lang="en-US"/>
          </a:p>
        </p:txBody>
      </p:sp>
      <p:sp>
        <p:nvSpPr>
          <p:cNvPr id="9" name="Shape 7"/>
          <p:cNvSpPr/>
          <p:nvPr/>
        </p:nvSpPr>
        <p:spPr>
          <a:xfrm>
            <a:off x="4626864" y="1453896"/>
            <a:ext cx="329184" cy="329184"/>
          </a:xfrm>
          <a:prstGeom prst="ellipse">
            <a:avLst/>
          </a:prstGeom>
          <a:solidFill>
            <a:srgbClr val="A31621"/>
          </a:solidFill>
          <a:ln/>
        </p:spPr>
        <p:txBody>
          <a:bodyPr/>
          <a:lstStyle/>
          <a:p>
            <a:endParaRPr lang="en-US"/>
          </a:p>
        </p:txBody>
      </p:sp>
      <p:sp>
        <p:nvSpPr>
          <p:cNvPr id="10" name="Text 8"/>
          <p:cNvSpPr/>
          <p:nvPr/>
        </p:nvSpPr>
        <p:spPr>
          <a:xfrm>
            <a:off x="4626864" y="1453896"/>
            <a:ext cx="329184" cy="32918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1" name="Text 9"/>
          <p:cNvSpPr/>
          <p:nvPr/>
        </p:nvSpPr>
        <p:spPr>
          <a:xfrm>
            <a:off x="5047488" y="1380744"/>
            <a:ext cx="2560320" cy="502920"/>
          </a:xfrm>
          <a:prstGeom prst="rect">
            <a:avLst/>
          </a:prstGeom>
          <a:noFill/>
          <a:ln/>
        </p:spPr>
        <p:txBody>
          <a:bodyPr wrap="square" lIns="0" tIns="0" rIns="0" bIns="0" rtlCol="0" anchor="ctr"/>
          <a:lstStyle/>
          <a:p>
            <a:pPr marL="0" indent="0">
              <a:lnSpc>
                <a:spcPct val="104000"/>
              </a:lnSpc>
              <a:buNone/>
            </a:pPr>
            <a:r>
              <a:rPr lang="en-US" sz="1350" b="1" dirty="0">
                <a:solidFill>
                  <a:srgbClr val="6D1119"/>
                </a:solidFill>
                <a:latin typeface="Calibri" pitchFamily="34" charset="0"/>
                <a:ea typeface="Calibri" pitchFamily="34" charset="-122"/>
                <a:cs typeface="Calibri" pitchFamily="34" charset="-120"/>
              </a:rPr>
              <a:t>What was that December burst?</a:t>
            </a:r>
            <a:endParaRPr lang="en-US" sz="1350" dirty="0"/>
          </a:p>
        </p:txBody>
      </p:sp>
      <p:sp>
        <p:nvSpPr>
          <p:cNvPr id="12" name="Text 10"/>
          <p:cNvSpPr/>
          <p:nvPr/>
        </p:nvSpPr>
        <p:spPr>
          <a:xfrm>
            <a:off x="4626864" y="1947672"/>
            <a:ext cx="2971800" cy="960120"/>
          </a:xfrm>
          <a:prstGeom prst="rect">
            <a:avLst/>
          </a:prstGeom>
          <a:noFill/>
          <a:ln/>
        </p:spPr>
        <p:txBody>
          <a:bodyPr wrap="square" lIns="0" tIns="0" rIns="0" bIns="0" rtlCol="0" anchor="t"/>
          <a:lstStyle/>
          <a:p>
            <a:pPr marL="0" indent="0">
              <a:lnSpc>
                <a:spcPct val="112000"/>
              </a:lnSpc>
              <a:buNone/>
            </a:pPr>
            <a:r>
              <a:rPr lang="en-US" sz="1050" dirty="0">
                <a:solidFill>
                  <a:srgbClr val="6D1119"/>
                </a:solidFill>
                <a:latin typeface="Calibri" pitchFamily="34" charset="0"/>
                <a:ea typeface="Calibri" pitchFamily="34" charset="-122"/>
                <a:cs typeface="Calibri" pitchFamily="34" charset="-120"/>
              </a:rPr>
              <a:t>About 230 articles over two days, and none of us knows why. Pull them and read a sample — after the school-board lesson, assume nothing until you have.</a:t>
            </a:r>
            <a:endParaRPr lang="en-US" sz="1050" dirty="0"/>
          </a:p>
        </p:txBody>
      </p:sp>
      <p:sp>
        <p:nvSpPr>
          <p:cNvPr id="13" name="Shape 11"/>
          <p:cNvSpPr/>
          <p:nvPr/>
        </p:nvSpPr>
        <p:spPr>
          <a:xfrm>
            <a:off x="8147304" y="1234440"/>
            <a:ext cx="3447288" cy="1645920"/>
          </a:xfrm>
          <a:prstGeom prst="roundRect">
            <a:avLst>
              <a:gd name="adj" fmla="val 3889"/>
            </a:avLst>
          </a:prstGeom>
          <a:solidFill>
            <a:srgbClr val="F4F5F7"/>
          </a:solidFill>
          <a:ln/>
          <a:effectLst>
            <a:outerShdw blurRad="101600" dist="25400" dir="5400000" algn="bl" rotWithShape="0">
              <a:srgbClr val="9AA1AE">
                <a:alpha val="22000"/>
              </a:srgbClr>
            </a:outerShdw>
          </a:effectLst>
        </p:spPr>
        <p:txBody>
          <a:bodyPr/>
          <a:lstStyle/>
          <a:p>
            <a:endParaRPr lang="en-US"/>
          </a:p>
        </p:txBody>
      </p:sp>
      <p:sp>
        <p:nvSpPr>
          <p:cNvPr id="14" name="Shape 12"/>
          <p:cNvSpPr/>
          <p:nvPr/>
        </p:nvSpPr>
        <p:spPr>
          <a:xfrm>
            <a:off x="8403336" y="1453896"/>
            <a:ext cx="329184" cy="329184"/>
          </a:xfrm>
          <a:prstGeom prst="ellipse">
            <a:avLst/>
          </a:prstGeom>
          <a:solidFill>
            <a:srgbClr val="A31621"/>
          </a:solidFill>
          <a:ln/>
        </p:spPr>
        <p:txBody>
          <a:bodyPr/>
          <a:lstStyle/>
          <a:p>
            <a:endParaRPr lang="en-US"/>
          </a:p>
        </p:txBody>
      </p:sp>
      <p:sp>
        <p:nvSpPr>
          <p:cNvPr id="15" name="Text 13"/>
          <p:cNvSpPr/>
          <p:nvPr/>
        </p:nvSpPr>
        <p:spPr>
          <a:xfrm>
            <a:off x="8403336" y="1453896"/>
            <a:ext cx="329184" cy="32918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6" name="Text 14"/>
          <p:cNvSpPr/>
          <p:nvPr/>
        </p:nvSpPr>
        <p:spPr>
          <a:xfrm>
            <a:off x="8823960" y="1380744"/>
            <a:ext cx="2560320" cy="502920"/>
          </a:xfrm>
          <a:prstGeom prst="rect">
            <a:avLst/>
          </a:prstGeom>
          <a:noFill/>
          <a:ln/>
        </p:spPr>
        <p:txBody>
          <a:bodyPr wrap="square" lIns="0" tIns="0" rIns="0" bIns="0" rtlCol="0" anchor="ctr"/>
          <a:lstStyle/>
          <a:p>
            <a:pPr marL="0" indent="0">
              <a:lnSpc>
                <a:spcPct val="104000"/>
              </a:lnSpc>
              <a:buNone/>
            </a:pPr>
            <a:r>
              <a:rPr lang="en-US" sz="1350" b="1" dirty="0">
                <a:solidFill>
                  <a:srgbClr val="2B3A55"/>
                </a:solidFill>
                <a:latin typeface="Calibri" pitchFamily="34" charset="0"/>
                <a:ea typeface="Calibri" pitchFamily="34" charset="-122"/>
                <a:cs typeface="Calibri" pitchFamily="34" charset="-120"/>
              </a:rPr>
              <a:t>How saturated is this county?</a:t>
            </a:r>
            <a:endParaRPr lang="en-US" sz="1350" dirty="0"/>
          </a:p>
        </p:txBody>
      </p:sp>
      <p:sp>
        <p:nvSpPr>
          <p:cNvPr id="17" name="Text 15"/>
          <p:cNvSpPr/>
          <p:nvPr/>
        </p:nvSpPr>
        <p:spPr>
          <a:xfrm>
            <a:off x="8403336" y="1947672"/>
            <a:ext cx="2971800" cy="960120"/>
          </a:xfrm>
          <a:prstGeom prst="rect">
            <a:avLst/>
          </a:prstGeom>
          <a:noFill/>
          <a:ln/>
        </p:spPr>
        <p:txBody>
          <a:bodyPr wrap="square" lIns="0" tIns="0" rIns="0" bIns="0" rtlCol="0" anchor="t"/>
          <a:lstStyle/>
          <a:p>
            <a:pPr marL="0" indent="0">
              <a:lnSpc>
                <a:spcPct val="112000"/>
              </a:lnSpc>
              <a:buNone/>
            </a:pPr>
            <a:r>
              <a:rPr lang="en-US" sz="1050" dirty="0">
                <a:solidFill>
                  <a:srgbClr val="3F4757"/>
                </a:solidFill>
                <a:latin typeface="Calibri" pitchFamily="34" charset="0"/>
                <a:ea typeface="Calibri" pitchFamily="34" charset="-122"/>
                <a:cs typeface="Calibri" pitchFamily="34" charset="-120"/>
              </a:rPr>
              <a:t>For a venue motion: coverage here against a neighbouring county, week by week, with dates and links you can archive and cite.</a:t>
            </a:r>
            <a:endParaRPr lang="en-US" sz="1050" dirty="0"/>
          </a:p>
        </p:txBody>
      </p:sp>
      <p:sp>
        <p:nvSpPr>
          <p:cNvPr id="18" name="Shape 16"/>
          <p:cNvSpPr/>
          <p:nvPr/>
        </p:nvSpPr>
        <p:spPr>
          <a:xfrm>
            <a:off x="594360" y="3063240"/>
            <a:ext cx="3447288" cy="1645920"/>
          </a:xfrm>
          <a:prstGeom prst="roundRect">
            <a:avLst>
              <a:gd name="adj" fmla="val 3889"/>
            </a:avLst>
          </a:prstGeom>
          <a:solidFill>
            <a:srgbClr val="F4F5F7"/>
          </a:solidFill>
          <a:ln/>
          <a:effectLst>
            <a:outerShdw blurRad="101600" dist="25400" dir="5400000" algn="bl" rotWithShape="0">
              <a:srgbClr val="9AA1AE">
                <a:alpha val="22000"/>
              </a:srgbClr>
            </a:outerShdw>
          </a:effectLst>
        </p:spPr>
        <p:txBody>
          <a:bodyPr/>
          <a:lstStyle/>
          <a:p>
            <a:endParaRPr lang="en-US"/>
          </a:p>
        </p:txBody>
      </p:sp>
      <p:sp>
        <p:nvSpPr>
          <p:cNvPr id="19" name="Shape 17"/>
          <p:cNvSpPr/>
          <p:nvPr/>
        </p:nvSpPr>
        <p:spPr>
          <a:xfrm>
            <a:off x="850392" y="3282696"/>
            <a:ext cx="329184" cy="329184"/>
          </a:xfrm>
          <a:prstGeom prst="ellipse">
            <a:avLst/>
          </a:prstGeom>
          <a:solidFill>
            <a:srgbClr val="A31621"/>
          </a:solidFill>
          <a:ln/>
        </p:spPr>
        <p:txBody>
          <a:bodyPr/>
          <a:lstStyle/>
          <a:p>
            <a:endParaRPr lang="en-US"/>
          </a:p>
        </p:txBody>
      </p:sp>
      <p:sp>
        <p:nvSpPr>
          <p:cNvPr id="20" name="Text 18"/>
          <p:cNvSpPr/>
          <p:nvPr/>
        </p:nvSpPr>
        <p:spPr>
          <a:xfrm>
            <a:off x="850392" y="3282696"/>
            <a:ext cx="329184" cy="32918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1" name="Text 19"/>
          <p:cNvSpPr/>
          <p:nvPr/>
        </p:nvSpPr>
        <p:spPr>
          <a:xfrm>
            <a:off x="1271016" y="3209544"/>
            <a:ext cx="2560320" cy="502920"/>
          </a:xfrm>
          <a:prstGeom prst="rect">
            <a:avLst/>
          </a:prstGeom>
          <a:noFill/>
          <a:ln/>
        </p:spPr>
        <p:txBody>
          <a:bodyPr wrap="square" lIns="0" tIns="0" rIns="0" bIns="0" rtlCol="0" anchor="ctr"/>
          <a:lstStyle/>
          <a:p>
            <a:pPr marL="0" indent="0">
              <a:lnSpc>
                <a:spcPct val="104000"/>
              </a:lnSpc>
              <a:buNone/>
            </a:pPr>
            <a:r>
              <a:rPr lang="en-US" sz="1350" b="1" dirty="0">
                <a:solidFill>
                  <a:srgbClr val="2B3A55"/>
                </a:solidFill>
                <a:latin typeface="Calibri" pitchFamily="34" charset="0"/>
                <a:ea typeface="Calibri" pitchFamily="34" charset="-122"/>
                <a:cs typeface="Calibri" pitchFamily="34" charset="-120"/>
              </a:rPr>
              <a:t>Did the narrative come before the policy?</a:t>
            </a:r>
            <a:endParaRPr lang="en-US" sz="1350" dirty="0"/>
          </a:p>
        </p:txBody>
      </p:sp>
      <p:sp>
        <p:nvSpPr>
          <p:cNvPr id="22" name="Text 20"/>
          <p:cNvSpPr/>
          <p:nvPr/>
        </p:nvSpPr>
        <p:spPr>
          <a:xfrm>
            <a:off x="850392" y="3776472"/>
            <a:ext cx="2971800" cy="960120"/>
          </a:xfrm>
          <a:prstGeom prst="rect">
            <a:avLst/>
          </a:prstGeom>
          <a:noFill/>
          <a:ln/>
        </p:spPr>
        <p:txBody>
          <a:bodyPr wrap="square" lIns="0" tIns="0" rIns="0" bIns="0" rtlCol="0" anchor="t"/>
          <a:lstStyle/>
          <a:p>
            <a:pPr marL="0" indent="0">
              <a:lnSpc>
                <a:spcPct val="112000"/>
              </a:lnSpc>
              <a:buNone/>
            </a:pPr>
            <a:r>
              <a:rPr lang="en-US" sz="1050" dirty="0">
                <a:solidFill>
                  <a:srgbClr val="3F4757"/>
                </a:solidFill>
                <a:latin typeface="Calibri" pitchFamily="34" charset="0"/>
                <a:ea typeface="Calibri" pitchFamily="34" charset="-122"/>
                <a:cs typeface="Calibri" pitchFamily="34" charset="-120"/>
              </a:rPr>
              <a:t>Line the coverage curve up against when a charging policy, a bill, or a budget actually changed. Which one moved first?</a:t>
            </a:r>
            <a:endParaRPr lang="en-US" sz="1050" dirty="0"/>
          </a:p>
        </p:txBody>
      </p:sp>
      <p:sp>
        <p:nvSpPr>
          <p:cNvPr id="23" name="Shape 21"/>
          <p:cNvSpPr/>
          <p:nvPr/>
        </p:nvSpPr>
        <p:spPr>
          <a:xfrm>
            <a:off x="4370832" y="3063240"/>
            <a:ext cx="3447288" cy="1645920"/>
          </a:xfrm>
          <a:prstGeom prst="roundRect">
            <a:avLst>
              <a:gd name="adj" fmla="val 3889"/>
            </a:avLst>
          </a:prstGeom>
          <a:solidFill>
            <a:srgbClr val="F4F5F7"/>
          </a:solidFill>
          <a:ln/>
          <a:effectLst>
            <a:outerShdw blurRad="101600" dist="25400" dir="5400000" algn="bl" rotWithShape="0">
              <a:srgbClr val="9AA1AE">
                <a:alpha val="22000"/>
              </a:srgbClr>
            </a:outerShdw>
          </a:effectLst>
        </p:spPr>
        <p:txBody>
          <a:bodyPr/>
          <a:lstStyle/>
          <a:p>
            <a:endParaRPr lang="en-US"/>
          </a:p>
        </p:txBody>
      </p:sp>
      <p:sp>
        <p:nvSpPr>
          <p:cNvPr id="24" name="Shape 22"/>
          <p:cNvSpPr/>
          <p:nvPr/>
        </p:nvSpPr>
        <p:spPr>
          <a:xfrm>
            <a:off x="4626864" y="3282696"/>
            <a:ext cx="329184" cy="329184"/>
          </a:xfrm>
          <a:prstGeom prst="ellipse">
            <a:avLst/>
          </a:prstGeom>
          <a:solidFill>
            <a:srgbClr val="A31621"/>
          </a:solidFill>
          <a:ln/>
        </p:spPr>
        <p:txBody>
          <a:bodyPr/>
          <a:lstStyle/>
          <a:p>
            <a:endParaRPr lang="en-US"/>
          </a:p>
        </p:txBody>
      </p:sp>
      <p:sp>
        <p:nvSpPr>
          <p:cNvPr id="25" name="Text 23"/>
          <p:cNvSpPr/>
          <p:nvPr/>
        </p:nvSpPr>
        <p:spPr>
          <a:xfrm>
            <a:off x="4626864" y="3282696"/>
            <a:ext cx="329184" cy="32918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26" name="Text 24"/>
          <p:cNvSpPr/>
          <p:nvPr/>
        </p:nvSpPr>
        <p:spPr>
          <a:xfrm>
            <a:off x="5047488" y="3209544"/>
            <a:ext cx="2560320" cy="502920"/>
          </a:xfrm>
          <a:prstGeom prst="rect">
            <a:avLst/>
          </a:prstGeom>
          <a:noFill/>
          <a:ln/>
        </p:spPr>
        <p:txBody>
          <a:bodyPr wrap="square" lIns="0" tIns="0" rIns="0" bIns="0" rtlCol="0" anchor="ctr"/>
          <a:lstStyle/>
          <a:p>
            <a:pPr marL="0" indent="0">
              <a:lnSpc>
                <a:spcPct val="104000"/>
              </a:lnSpc>
              <a:buNone/>
            </a:pPr>
            <a:r>
              <a:rPr lang="en-US" sz="1350" b="1" dirty="0">
                <a:solidFill>
                  <a:srgbClr val="2B3A55"/>
                </a:solidFill>
                <a:latin typeface="Calibri" pitchFamily="34" charset="0"/>
                <a:ea typeface="Calibri" pitchFamily="34" charset="-122"/>
                <a:cs typeface="Calibri" pitchFamily="34" charset="-120"/>
              </a:rPr>
              <a:t>Is the story tracking the facts?</a:t>
            </a:r>
            <a:endParaRPr lang="en-US" sz="1350" dirty="0"/>
          </a:p>
        </p:txBody>
      </p:sp>
      <p:sp>
        <p:nvSpPr>
          <p:cNvPr id="27" name="Text 25"/>
          <p:cNvSpPr/>
          <p:nvPr/>
        </p:nvSpPr>
        <p:spPr>
          <a:xfrm>
            <a:off x="4626864" y="3776472"/>
            <a:ext cx="2971800" cy="960120"/>
          </a:xfrm>
          <a:prstGeom prst="rect">
            <a:avLst/>
          </a:prstGeom>
          <a:noFill/>
          <a:ln/>
        </p:spPr>
        <p:txBody>
          <a:bodyPr wrap="square" lIns="0" tIns="0" rIns="0" bIns="0" rtlCol="0" anchor="t"/>
          <a:lstStyle/>
          <a:p>
            <a:pPr marL="0" indent="0">
              <a:lnSpc>
                <a:spcPct val="112000"/>
              </a:lnSpc>
              <a:buNone/>
            </a:pPr>
            <a:r>
              <a:rPr lang="en-US" sz="1050" dirty="0">
                <a:solidFill>
                  <a:srgbClr val="3F4757"/>
                </a:solidFill>
                <a:latin typeface="Calibri" pitchFamily="34" charset="0"/>
                <a:ea typeface="Calibri" pitchFamily="34" charset="-122"/>
                <a:cs typeface="Calibri" pitchFamily="34" charset="-120"/>
              </a:rPr>
              <a:t>Put coverage of “rising crime” next to the agency's own reported numbers and show the gap — or show there isn't one.</a:t>
            </a:r>
            <a:endParaRPr lang="en-US" sz="1050" dirty="0"/>
          </a:p>
        </p:txBody>
      </p:sp>
      <p:sp>
        <p:nvSpPr>
          <p:cNvPr id="28" name="Shape 26"/>
          <p:cNvSpPr/>
          <p:nvPr/>
        </p:nvSpPr>
        <p:spPr>
          <a:xfrm>
            <a:off x="8147304" y="3063240"/>
            <a:ext cx="3447288" cy="1645920"/>
          </a:xfrm>
          <a:prstGeom prst="roundRect">
            <a:avLst>
              <a:gd name="adj" fmla="val 3889"/>
            </a:avLst>
          </a:prstGeom>
          <a:solidFill>
            <a:srgbClr val="F4F5F7"/>
          </a:solidFill>
          <a:ln/>
          <a:effectLst>
            <a:outerShdw blurRad="101600" dist="25400" dir="5400000" algn="bl" rotWithShape="0">
              <a:srgbClr val="9AA1AE">
                <a:alpha val="22000"/>
              </a:srgbClr>
            </a:outerShdw>
          </a:effectLst>
        </p:spPr>
        <p:txBody>
          <a:bodyPr/>
          <a:lstStyle/>
          <a:p>
            <a:endParaRPr lang="en-US"/>
          </a:p>
        </p:txBody>
      </p:sp>
      <p:sp>
        <p:nvSpPr>
          <p:cNvPr id="29" name="Shape 27"/>
          <p:cNvSpPr/>
          <p:nvPr/>
        </p:nvSpPr>
        <p:spPr>
          <a:xfrm>
            <a:off x="8403336" y="3282696"/>
            <a:ext cx="329184" cy="329184"/>
          </a:xfrm>
          <a:prstGeom prst="ellipse">
            <a:avLst/>
          </a:prstGeom>
          <a:solidFill>
            <a:srgbClr val="A31621"/>
          </a:solidFill>
          <a:ln/>
        </p:spPr>
        <p:txBody>
          <a:bodyPr/>
          <a:lstStyle/>
          <a:p>
            <a:endParaRPr lang="en-US"/>
          </a:p>
        </p:txBody>
      </p:sp>
      <p:sp>
        <p:nvSpPr>
          <p:cNvPr id="30" name="Text 28"/>
          <p:cNvSpPr/>
          <p:nvPr/>
        </p:nvSpPr>
        <p:spPr>
          <a:xfrm>
            <a:off x="8403336" y="3282696"/>
            <a:ext cx="329184" cy="32918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31" name="Text 29"/>
          <p:cNvSpPr/>
          <p:nvPr/>
        </p:nvSpPr>
        <p:spPr>
          <a:xfrm>
            <a:off x="8823960" y="3209544"/>
            <a:ext cx="2560320" cy="502920"/>
          </a:xfrm>
          <a:prstGeom prst="rect">
            <a:avLst/>
          </a:prstGeom>
          <a:noFill/>
          <a:ln/>
        </p:spPr>
        <p:txBody>
          <a:bodyPr wrap="square" lIns="0" tIns="0" rIns="0" bIns="0" rtlCol="0" anchor="ctr"/>
          <a:lstStyle/>
          <a:p>
            <a:pPr marL="0" indent="0">
              <a:lnSpc>
                <a:spcPct val="104000"/>
              </a:lnSpc>
              <a:buNone/>
            </a:pPr>
            <a:r>
              <a:rPr lang="en-US" sz="1350" b="1" dirty="0">
                <a:solidFill>
                  <a:srgbClr val="2B3A55"/>
                </a:solidFill>
                <a:latin typeface="Calibri" pitchFamily="34" charset="0"/>
                <a:ea typeface="Calibri" pitchFamily="34" charset="-122"/>
                <a:cs typeface="Calibri" pitchFamily="34" charset="-120"/>
              </a:rPr>
              <a:t>What is being said on the air?</a:t>
            </a:r>
            <a:endParaRPr lang="en-US" sz="1350" dirty="0"/>
          </a:p>
        </p:txBody>
      </p:sp>
      <p:sp>
        <p:nvSpPr>
          <p:cNvPr id="32" name="Text 30"/>
          <p:cNvSpPr/>
          <p:nvPr/>
        </p:nvSpPr>
        <p:spPr>
          <a:xfrm>
            <a:off x="8403336" y="3776472"/>
            <a:ext cx="2971800" cy="960120"/>
          </a:xfrm>
          <a:prstGeom prst="rect">
            <a:avLst/>
          </a:prstGeom>
          <a:noFill/>
          <a:ln/>
        </p:spPr>
        <p:txBody>
          <a:bodyPr wrap="square" lIns="0" tIns="0" rIns="0" bIns="0" rtlCol="0" anchor="t"/>
          <a:lstStyle/>
          <a:p>
            <a:pPr marL="0" indent="0">
              <a:lnSpc>
                <a:spcPct val="112000"/>
              </a:lnSpc>
              <a:buNone/>
            </a:pPr>
            <a:r>
              <a:rPr lang="en-US" sz="1050" dirty="0">
                <a:solidFill>
                  <a:srgbClr val="3F4757"/>
                </a:solidFill>
                <a:latin typeface="Calibri" pitchFamily="34" charset="0"/>
                <a:ea typeface="Calibri" pitchFamily="34" charset="-122"/>
                <a:cs typeface="Calibri" pitchFamily="34" charset="-120"/>
              </a:rPr>
              <a:t>Local TV captions back to 2009. A lot of crime narrative lives on the evening news and is missing from every text database.</a:t>
            </a:r>
            <a:endParaRPr lang="en-US" sz="1050" dirty="0"/>
          </a:p>
        </p:txBody>
      </p:sp>
      <p:sp>
        <p:nvSpPr>
          <p:cNvPr id="33" name="Text 31"/>
          <p:cNvSpPr/>
          <p:nvPr/>
        </p:nvSpPr>
        <p:spPr>
          <a:xfrm>
            <a:off x="594360" y="4983480"/>
            <a:ext cx="11018520" cy="411480"/>
          </a:xfrm>
          <a:prstGeom prst="rect">
            <a:avLst/>
          </a:prstGeom>
          <a:noFill/>
          <a:ln/>
        </p:spPr>
        <p:txBody>
          <a:bodyPr wrap="square" lIns="0" tIns="0" rIns="0" bIns="0" rtlCol="0" anchor="ctr"/>
          <a:lstStyle/>
          <a:p>
            <a:pPr marL="0" indent="0">
              <a:buNone/>
            </a:pPr>
            <a:r>
              <a:rPr lang="en-US" sz="1450" b="1" dirty="0">
                <a:solidFill>
                  <a:srgbClr val="A31621"/>
                </a:solidFill>
                <a:latin typeface="Calibri" pitchFamily="34" charset="0"/>
                <a:ea typeface="Calibri" pitchFamily="34" charset="-122"/>
                <a:cs typeface="Calibri" pitchFamily="34" charset="-120"/>
              </a:rPr>
              <a:t>The first two follow straight out of the last slide, and each is an afternoon's work.</a:t>
            </a:r>
            <a:endParaRPr lang="en-US" sz="1450" dirty="0"/>
          </a:p>
        </p:txBody>
      </p:sp>
      <p:sp>
        <p:nvSpPr>
          <p:cNvPr id="34" name="Text 32"/>
          <p:cNvSpPr/>
          <p:nvPr/>
        </p:nvSpPr>
        <p:spPr>
          <a:xfrm>
            <a:off x="594360" y="5394960"/>
            <a:ext cx="11018520" cy="411480"/>
          </a:xfrm>
          <a:prstGeom prst="rect">
            <a:avLst/>
          </a:prstGeom>
          <a:noFill/>
          <a:ln/>
        </p:spPr>
        <p:txBody>
          <a:bodyPr wrap="square" lIns="0" tIns="0" rIns="0" bIns="0" rtlCol="0" anchor="ctr"/>
          <a:lstStyle/>
          <a:p>
            <a:pPr marL="0" indent="0">
              <a:buNone/>
            </a:pPr>
            <a:r>
              <a:rPr lang="en-US" sz="1300" i="1" dirty="0">
                <a:solidFill>
                  <a:srgbClr val="6B7280"/>
                </a:solidFill>
                <a:latin typeface="Calibri" pitchFamily="34" charset="0"/>
                <a:ea typeface="Calibri" pitchFamily="34" charset="-122"/>
                <a:cs typeface="Calibri" pitchFamily="34" charset="-120"/>
              </a:rPr>
              <a:t>Salience and spread are timing questions, and timing is what turns a description of the coverage into an argument about what the coverage did.</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4161F"/>
        </a:solidFill>
        <a:effectLst/>
      </p:bgPr>
    </p:bg>
    <p:spTree>
      <p:nvGrpSpPr>
        <p:cNvPr id="1" name=""/>
        <p:cNvGrpSpPr/>
        <p:nvPr/>
      </p:nvGrpSpPr>
      <p:grpSpPr>
        <a:xfrm>
          <a:off x="0" y="0"/>
          <a:ext cx="0" cy="0"/>
          <a:chOff x="0" y="0"/>
          <a:chExt cx="0" cy="0"/>
        </a:xfrm>
      </p:grpSpPr>
      <p:sp>
        <p:nvSpPr>
          <p:cNvPr id="2" name="Shape 0"/>
          <p:cNvSpPr/>
          <p:nvPr/>
        </p:nvSpPr>
        <p:spPr>
          <a:xfrm>
            <a:off x="9052560" y="-1371600"/>
            <a:ext cx="4937760" cy="4937760"/>
          </a:xfrm>
          <a:prstGeom prst="ellipse">
            <a:avLst/>
          </a:prstGeom>
          <a:solidFill>
            <a:srgbClr val="A31621">
              <a:alpha val="12000"/>
            </a:srgbClr>
          </a:solidFill>
          <a:ln w="12700">
            <a:solidFill>
              <a:srgbClr val="A31621">
                <a:alpha val="28000"/>
              </a:srgbClr>
            </a:solidFill>
            <a:prstDash val="solid"/>
          </a:ln>
        </p:spPr>
        <p:txBody>
          <a:bodyPr/>
          <a:lstStyle/>
          <a:p>
            <a:endParaRPr lang="en-US"/>
          </a:p>
        </p:txBody>
      </p:sp>
      <p:sp>
        <p:nvSpPr>
          <p:cNvPr id="3" name="Shape 1"/>
          <p:cNvSpPr/>
          <p:nvPr/>
        </p:nvSpPr>
        <p:spPr>
          <a:xfrm>
            <a:off x="10424160" y="4206240"/>
            <a:ext cx="3108960" cy="3108960"/>
          </a:xfrm>
          <a:prstGeom prst="ellipse">
            <a:avLst/>
          </a:prstGeom>
          <a:solidFill>
            <a:srgbClr val="A31621">
              <a:alpha val="8000"/>
            </a:srgbClr>
          </a:solidFill>
          <a:ln/>
        </p:spPr>
        <p:txBody>
          <a:bodyPr/>
          <a:lstStyle/>
          <a:p>
            <a:endParaRPr lang="en-US"/>
          </a:p>
        </p:txBody>
      </p:sp>
      <p:sp>
        <p:nvSpPr>
          <p:cNvPr id="4" name="Text 2"/>
          <p:cNvSpPr/>
          <p:nvPr/>
        </p:nvSpPr>
        <p:spPr>
          <a:xfrm>
            <a:off x="594360" y="685800"/>
            <a:ext cx="5486400" cy="274320"/>
          </a:xfrm>
          <a:prstGeom prst="rect">
            <a:avLst/>
          </a:prstGeom>
          <a:noFill/>
          <a:ln/>
        </p:spPr>
        <p:txBody>
          <a:bodyPr wrap="square" lIns="0" tIns="0" rIns="0" bIns="0" rtlCol="0" anchor="ctr"/>
          <a:lstStyle/>
          <a:p>
            <a:pPr marL="0" indent="0" algn="l">
              <a:buNone/>
            </a:pPr>
            <a:r>
              <a:rPr lang="en-US" sz="1100" b="1" kern="0" spc="240" dirty="0">
                <a:solidFill>
                  <a:srgbClr val="E0757F"/>
                </a:solidFill>
                <a:latin typeface="Calibri" pitchFamily="34" charset="0"/>
                <a:ea typeface="Calibri" pitchFamily="34" charset="-122"/>
                <a:cs typeface="Calibri" pitchFamily="34" charset="-120"/>
              </a:rPr>
              <a:t>TAKEAWAYS</a:t>
            </a:r>
            <a:endParaRPr lang="en-US" sz="1100" dirty="0"/>
          </a:p>
        </p:txBody>
      </p:sp>
      <p:sp>
        <p:nvSpPr>
          <p:cNvPr id="5" name="Shape 3"/>
          <p:cNvSpPr/>
          <p:nvPr/>
        </p:nvSpPr>
        <p:spPr>
          <a:xfrm>
            <a:off x="621792" y="1307592"/>
            <a:ext cx="420624" cy="420624"/>
          </a:xfrm>
          <a:prstGeom prst="ellipse">
            <a:avLst/>
          </a:prstGeom>
          <a:solidFill>
            <a:srgbClr val="A31621"/>
          </a:solidFill>
          <a:ln/>
        </p:spPr>
        <p:txBody>
          <a:bodyPr/>
          <a:lstStyle/>
          <a:p>
            <a:endParaRPr lang="en-US"/>
          </a:p>
        </p:txBody>
      </p:sp>
      <p:sp>
        <p:nvSpPr>
          <p:cNvPr id="6" name="Text 4"/>
          <p:cNvSpPr/>
          <p:nvPr/>
        </p:nvSpPr>
        <p:spPr>
          <a:xfrm>
            <a:off x="621792" y="1307592"/>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p:nvPr/>
        </p:nvSpPr>
        <p:spPr>
          <a:xfrm>
            <a:off x="1280160" y="1234440"/>
            <a:ext cx="9509760" cy="411480"/>
          </a:xfrm>
          <a:prstGeom prst="rect">
            <a:avLst/>
          </a:prstGeom>
          <a:noFill/>
          <a:ln/>
        </p:spPr>
        <p:txBody>
          <a:bodyPr wrap="square" lIns="0" tIns="0" rIns="0" bIns="0"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The coverage wasn't harsher. It was a different kind of story.</a:t>
            </a:r>
            <a:endParaRPr lang="en-US" sz="2000" dirty="0"/>
          </a:p>
        </p:txBody>
      </p:sp>
      <p:sp>
        <p:nvSpPr>
          <p:cNvPr id="8" name="Text 6"/>
          <p:cNvSpPr/>
          <p:nvPr/>
        </p:nvSpPr>
        <p:spPr>
          <a:xfrm>
            <a:off x="1280160" y="1673352"/>
            <a:ext cx="9052560" cy="685800"/>
          </a:xfrm>
          <a:prstGeom prst="rect">
            <a:avLst/>
          </a:prstGeom>
          <a:noFill/>
          <a:ln/>
        </p:spPr>
        <p:txBody>
          <a:bodyPr wrap="square" lIns="0" tIns="0" rIns="0" bIns="0" rtlCol="0" anchor="t"/>
          <a:lstStyle/>
          <a:p>
            <a:pPr marL="0" indent="0">
              <a:lnSpc>
                <a:spcPct val="114000"/>
              </a:lnSpc>
              <a:buNone/>
            </a:pPr>
            <a:r>
              <a:rPr lang="en-US" sz="1350" dirty="0">
                <a:solidFill>
                  <a:srgbClr val="C3C9D6"/>
                </a:solidFill>
                <a:latin typeface="Calibri" pitchFamily="34" charset="0"/>
                <a:ea typeface="Calibri" pitchFamily="34" charset="-122"/>
                <a:cs typeface="Calibri" pitchFamily="34" charset="-120"/>
              </a:rPr>
              <a:t>Reform prosecutors were written about as a controversy. Traditional prosecutors were written about as officials handling cases.</a:t>
            </a:r>
            <a:endParaRPr lang="en-US" sz="1350" dirty="0"/>
          </a:p>
        </p:txBody>
      </p:sp>
      <p:sp>
        <p:nvSpPr>
          <p:cNvPr id="9" name="Shape 7"/>
          <p:cNvSpPr/>
          <p:nvPr/>
        </p:nvSpPr>
        <p:spPr>
          <a:xfrm>
            <a:off x="621792" y="2633472"/>
            <a:ext cx="420624" cy="420624"/>
          </a:xfrm>
          <a:prstGeom prst="ellipse">
            <a:avLst/>
          </a:prstGeom>
          <a:solidFill>
            <a:srgbClr val="A31621"/>
          </a:solidFill>
          <a:ln/>
        </p:spPr>
        <p:txBody>
          <a:bodyPr/>
          <a:lstStyle/>
          <a:p>
            <a:endParaRPr lang="en-US"/>
          </a:p>
        </p:txBody>
      </p:sp>
      <p:sp>
        <p:nvSpPr>
          <p:cNvPr id="10" name="Text 8"/>
          <p:cNvSpPr/>
          <p:nvPr/>
        </p:nvSpPr>
        <p:spPr>
          <a:xfrm>
            <a:off x="621792" y="2633472"/>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1" name="Text 9"/>
          <p:cNvSpPr/>
          <p:nvPr/>
        </p:nvSpPr>
        <p:spPr>
          <a:xfrm>
            <a:off x="1280160" y="2560320"/>
            <a:ext cx="9509760" cy="411480"/>
          </a:xfrm>
          <a:prstGeom prst="rect">
            <a:avLst/>
          </a:prstGeom>
          <a:noFill/>
          <a:ln/>
        </p:spPr>
        <p:txBody>
          <a:bodyPr wrap="square" lIns="0" tIns="0" rIns="0" bIns="0"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Reading at scale finds patterns, not verdicts.</a:t>
            </a:r>
            <a:endParaRPr lang="en-US" sz="2000" dirty="0"/>
          </a:p>
        </p:txBody>
      </p:sp>
      <p:sp>
        <p:nvSpPr>
          <p:cNvPr id="12" name="Text 10"/>
          <p:cNvSpPr/>
          <p:nvPr/>
        </p:nvSpPr>
        <p:spPr>
          <a:xfrm>
            <a:off x="1280160" y="2999232"/>
            <a:ext cx="9052560" cy="685800"/>
          </a:xfrm>
          <a:prstGeom prst="rect">
            <a:avLst/>
          </a:prstGeom>
          <a:noFill/>
          <a:ln/>
        </p:spPr>
        <p:txBody>
          <a:bodyPr wrap="square" lIns="0" tIns="0" rIns="0" bIns="0" rtlCol="0" anchor="t"/>
          <a:lstStyle/>
          <a:p>
            <a:pPr marL="0" indent="0">
              <a:lnSpc>
                <a:spcPct val="114000"/>
              </a:lnSpc>
              <a:buNone/>
            </a:pPr>
            <a:r>
              <a:rPr lang="en-US" sz="1350" dirty="0">
                <a:solidFill>
                  <a:srgbClr val="C3C9D6"/>
                </a:solidFill>
                <a:latin typeface="Calibri" pitchFamily="34" charset="0"/>
                <a:ea typeface="Calibri" pitchFamily="34" charset="-122"/>
                <a:cs typeface="Calibri" pitchFamily="34" charset="-120"/>
              </a:rPr>
              <a:t>Thousands of articles, yes. Any single article, no — the machine called an op-ed defending Pamela Price the most hostile piece in six years.</a:t>
            </a:r>
            <a:endParaRPr lang="en-US" sz="1350" dirty="0"/>
          </a:p>
        </p:txBody>
      </p:sp>
      <p:sp>
        <p:nvSpPr>
          <p:cNvPr id="13" name="Shape 11"/>
          <p:cNvSpPr/>
          <p:nvPr/>
        </p:nvSpPr>
        <p:spPr>
          <a:xfrm>
            <a:off x="621792" y="3959352"/>
            <a:ext cx="420624" cy="420624"/>
          </a:xfrm>
          <a:prstGeom prst="ellipse">
            <a:avLst/>
          </a:prstGeom>
          <a:solidFill>
            <a:srgbClr val="A31621"/>
          </a:solidFill>
          <a:ln/>
        </p:spPr>
        <p:txBody>
          <a:bodyPr/>
          <a:lstStyle/>
          <a:p>
            <a:endParaRPr lang="en-US"/>
          </a:p>
        </p:txBody>
      </p:sp>
      <p:sp>
        <p:nvSpPr>
          <p:cNvPr id="14" name="Text 12"/>
          <p:cNvSpPr/>
          <p:nvPr/>
        </p:nvSpPr>
        <p:spPr>
          <a:xfrm>
            <a:off x="621792" y="3959352"/>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5" name="Text 13"/>
          <p:cNvSpPr/>
          <p:nvPr/>
        </p:nvSpPr>
        <p:spPr>
          <a:xfrm>
            <a:off x="1280160" y="3886200"/>
            <a:ext cx="9509760" cy="411480"/>
          </a:xfrm>
          <a:prstGeom prst="rect">
            <a:avLst/>
          </a:prstGeom>
          <a:noFill/>
          <a:ln/>
        </p:spPr>
        <p:txBody>
          <a:bodyPr wrap="square" lIns="0" tIns="0" rIns="0" bIns="0"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Timing is measurable — and it surprised me.</a:t>
            </a:r>
            <a:endParaRPr lang="en-US" sz="2000" dirty="0"/>
          </a:p>
        </p:txBody>
      </p:sp>
      <p:sp>
        <p:nvSpPr>
          <p:cNvPr id="16" name="Text 14"/>
          <p:cNvSpPr/>
          <p:nvPr/>
        </p:nvSpPr>
        <p:spPr>
          <a:xfrm>
            <a:off x="1280160" y="4325112"/>
            <a:ext cx="9052560" cy="685800"/>
          </a:xfrm>
          <a:prstGeom prst="rect">
            <a:avLst/>
          </a:prstGeom>
          <a:noFill/>
          <a:ln/>
        </p:spPr>
        <p:txBody>
          <a:bodyPr wrap="square" lIns="0" tIns="0" rIns="0" bIns="0" rtlCol="0" anchor="t"/>
          <a:lstStyle/>
          <a:p>
            <a:pPr marL="0" indent="0">
              <a:lnSpc>
                <a:spcPct val="114000"/>
              </a:lnSpc>
              <a:buNone/>
            </a:pPr>
            <a:r>
              <a:rPr lang="en-US" sz="1350" dirty="0">
                <a:solidFill>
                  <a:srgbClr val="C3C9D6"/>
                </a:solidFill>
                <a:latin typeface="Calibri" pitchFamily="34" charset="0"/>
                <a:ea typeface="Calibri" pitchFamily="34" charset="-122"/>
                <a:cs typeface="Calibri" pitchFamily="34" charset="-120"/>
              </a:rPr>
              <a:t>National attention did not build toward the recall; it peaked the day after the vote. Two free queries, and the question changes shape.</a:t>
            </a:r>
            <a:endParaRPr lang="en-US" sz="1350" dirty="0"/>
          </a:p>
        </p:txBody>
      </p:sp>
      <p:sp>
        <p:nvSpPr>
          <p:cNvPr id="17" name="Shape 15"/>
          <p:cNvSpPr/>
          <p:nvPr/>
        </p:nvSpPr>
        <p:spPr>
          <a:xfrm>
            <a:off x="594360" y="5212080"/>
            <a:ext cx="11018520" cy="1097280"/>
          </a:xfrm>
          <a:prstGeom prst="roundRect">
            <a:avLst>
              <a:gd name="adj" fmla="val 5000"/>
            </a:avLst>
          </a:prstGeom>
          <a:solidFill>
            <a:srgbClr val="20242F"/>
          </a:solidFill>
          <a:ln/>
        </p:spPr>
        <p:txBody>
          <a:bodyPr/>
          <a:lstStyle/>
          <a:p>
            <a:endParaRPr lang="en-US"/>
          </a:p>
        </p:txBody>
      </p:sp>
      <p:sp>
        <p:nvSpPr>
          <p:cNvPr id="18" name="Text 16"/>
          <p:cNvSpPr/>
          <p:nvPr/>
        </p:nvSpPr>
        <p:spPr>
          <a:xfrm>
            <a:off x="914400" y="5349240"/>
            <a:ext cx="10424160" cy="274320"/>
          </a:xfrm>
          <a:prstGeom prst="rect">
            <a:avLst/>
          </a:prstGeom>
          <a:noFill/>
          <a:ln/>
        </p:spPr>
        <p:txBody>
          <a:bodyPr wrap="square" lIns="0" tIns="0" rIns="0" bIns="0" rtlCol="0" anchor="ctr"/>
          <a:lstStyle/>
          <a:p>
            <a:pPr marL="0" indent="0">
              <a:buNone/>
            </a:pPr>
            <a:r>
              <a:rPr lang="en-US" sz="1050" b="1" kern="0" spc="160" dirty="0">
                <a:solidFill>
                  <a:srgbClr val="E0757F"/>
                </a:solidFill>
                <a:latin typeface="Calibri" pitchFamily="34" charset="0"/>
                <a:ea typeface="Calibri" pitchFamily="34" charset="-122"/>
                <a:cs typeface="Calibri" pitchFamily="34" charset="-120"/>
              </a:rPr>
              <a:t>BRING ME A QUESTION ABOUT COVERAGE AND WE CAN HAVE A FIRST ANSWER THE SAME DAY</a:t>
            </a:r>
            <a:endParaRPr lang="en-US" sz="1050" dirty="0"/>
          </a:p>
        </p:txBody>
      </p:sp>
      <p:sp>
        <p:nvSpPr>
          <p:cNvPr id="19" name="Text 17"/>
          <p:cNvSpPr/>
          <p:nvPr/>
        </p:nvSpPr>
        <p:spPr>
          <a:xfrm>
            <a:off x="914400" y="5669280"/>
            <a:ext cx="10424160" cy="457200"/>
          </a:xfrm>
          <a:prstGeom prst="rect">
            <a:avLst/>
          </a:prstGeom>
          <a:noFill/>
          <a:ln/>
        </p:spPr>
        <p:txBody>
          <a:bodyPr wrap="square" lIns="0" tIns="0" rIns="0" bIns="0" rtlCol="0" anchor="ctr"/>
          <a:lstStyle/>
          <a:p>
            <a:pPr marL="0" indent="0">
              <a:buNone/>
            </a:pPr>
            <a:r>
              <a:rPr lang="en-US" sz="1300" dirty="0">
                <a:solidFill>
                  <a:srgbClr val="8FD8B0"/>
                </a:solidFill>
                <a:latin typeface="Courier New" pitchFamily="34" charset="0"/>
                <a:ea typeface="Courier New" pitchFamily="34" charset="-122"/>
                <a:cs typeface="Courier New" pitchFamily="34" charset="-120"/>
              </a:rPr>
              <a:t>television.gdeltproject.org          gdeltproject.org</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TotalTime>
  <Words>2935</Words>
  <Application>Microsoft Office PowerPoint</Application>
  <PresentationFormat>Widescreen</PresentationFormat>
  <Paragraphs>227</Paragraphs>
  <Slides>15</Slides>
  <Notes>15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When the Press Covers a Prosecutor</dc:title>
  <dc:subject>PptxGenJS Presentation</dc:subject>
  <dc:creator>Center research overview</dc:creator>
  <cp:lastModifiedBy>Dvir Yogev</cp:lastModifiedBy>
  <cp:revision>11</cp:revision>
  <dcterms:created xsi:type="dcterms:W3CDTF">2026-08-12T05:27:06Z</dcterms:created>
  <dcterms:modified xsi:type="dcterms:W3CDTF">2026-08-12T17:15:28Z</dcterms:modified>
</cp:coreProperties>
</file>