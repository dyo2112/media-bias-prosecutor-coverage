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0:00-0:45. Two things I want you to leave with: (1) coverage of criminal justice is now measurable at scale and cheaply, and (2) the measurement choices matter more than the headline number. I'll use two of my own studies as the worked examples, and GDELT as the tool I wish I'd used from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0:45-2:15. Anchor on the 82/15 split. This is why prosecutor coverage is high-leverage: there is so little of it that each article does more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2:15-3:15. Set up the whole talk: study A reads the press, study B watches behaviour around a media-saturated election. The thing I could not do was connect them at weekly resolution.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3:15-4:45. The pipeline is boring; the attribution step is not. Emphasise the 126 false positives: name matching looks trivial and it is the single largest source of error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4:45-6:15. The key slide of part one. Same articles, four defensible instruments, and they disagree in sign. If someone hands you 'a study found media bias,' the first question is which instrument, and whether the result survives dropping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6:15-7:30. This is the slide I would want a lawyer to remember. Say plainly: our own validation failed at the article level and we published that. Any expert who cannot show you their agreement statistic has not done this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7:30-7:45. Quick pivot. One line: everything in part one cost a LexisNexis licence and six months. Part two is what you can do for free,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7:45-9:15. Three products. Land the catch hard — people assume GDELT is a full-text archive and design a project around that mistake. It is an index plus a measurement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9:15-10:30. Tier 2 is the sweet spot for our work — paste the URL in a browser and you have data. Mention the 5-second rate limit; I got throttled preparing this. For anything serious, BigQuery.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10:30-11:45. The two panels are the whole argument: discretionary police activity kinks at the election, citizen-initiated activity does not. Arrests move the same way as stops: -0.26 to +0.64 per week, shift 0.90, p &lt; .001. Effects concentrate in traffic, property and public-order stops, not violent crime — less discretion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11:45-12:45. This is the payoff for a legal audience: a political event, transmitted through coverage, produced real custody with no change in law and no change in reported crime. Note the discharge finding: quality of cases fell.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12:45-13:30. The honest self-critique, and the strongest argument for the tool. Point 2 is the one economists will care about; point 3 is the one that would have changed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13:30-14:15. Move fast here and invite them to pick one. The venue application is the one that usually lands with litigators.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14:15-14:45. Frame this as pre-mortem discipline, not defensiveness. The fourth row is the one to dwell on if there 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14:45-15:00. Close on the three links and one ask: bring me a question about coverage and we can have a first answer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9052560" y="-1371600"/>
            <a:ext cx="4937760" cy="4937760"/>
          </a:xfrm>
          <a:prstGeom prst="ellipse">
            <a:avLst/>
          </a:prstGeom>
          <a:solidFill>
            <a:srgbClr val="A31621">
              <a:alpha val="12000"/>
            </a:srgbClr>
          </a:solidFill>
          <a:ln w="12700">
            <a:solidFill>
              <a:srgbClr val="A31621">
                <a:alpha val="28000"/>
              </a:srgbClr>
            </a:solidFill>
            <a:prstDash val="solid"/>
          </a:ln>
        </p:spPr>
      </p:sp>
      <p:sp>
        <p:nvSpPr>
          <p:cNvPr id="3" name="Shape 1"/>
          <p:cNvSpPr/>
          <p:nvPr/>
        </p:nvSpPr>
        <p:spPr>
          <a:xfrm>
            <a:off x="10424160" y="4206240"/>
            <a:ext cx="3108960" cy="3108960"/>
          </a:xfrm>
          <a:prstGeom prst="ellipse">
            <a:avLst/>
          </a:prstGeom>
          <a:solidFill>
            <a:srgbClr val="A31621">
              <a:alpha val="8000"/>
            </a:srgbClr>
          </a:solidFill>
          <a:ln/>
        </p:spPr>
      </p:sp>
      <p:sp>
        <p:nvSpPr>
          <p:cNvPr id="4" name="Text 2"/>
          <p:cNvSpPr/>
          <p:nvPr/>
        </p:nvSpPr>
        <p:spPr>
          <a:xfrm>
            <a:off x="594360" y="1371600"/>
            <a:ext cx="5486400" cy="274320"/>
          </a:xfrm>
          <a:prstGeom prst="rect">
            <a:avLst/>
          </a:prstGeom>
          <a:noFill/>
          <a:ln/>
        </p:spPr>
        <p:txBody>
          <a:bodyPr wrap="square" lIns="0" tIns="0" rIns="0" bIns="0" rtlCol="0" anchor="ctr"/>
          <a:lstStyle/>
          <a:p>
            <a:pPr algn="l" indent="0" marL="0">
              <a:buNone/>
            </a:pPr>
            <a:r>
              <a:rPr lang="en-US" sz="1100" b="1" spc="240" kern="0" dirty="0">
                <a:solidFill>
                  <a:srgbClr val="E0757F"/>
                </a:solidFill>
                <a:latin typeface="Calibri" pitchFamily="34" charset="0"/>
                <a:ea typeface="Calibri" pitchFamily="34" charset="-122"/>
                <a:cs typeface="Calibri" pitchFamily="34" charset="-120"/>
              </a:rPr>
              <a:t>15-MINUTE OVERVIEW</a:t>
            </a:r>
            <a:endParaRPr lang="en-US" sz="1100" dirty="0"/>
          </a:p>
        </p:txBody>
      </p:sp>
      <p:sp>
        <p:nvSpPr>
          <p:cNvPr id="5" name="Text 3"/>
          <p:cNvSpPr/>
          <p:nvPr/>
        </p:nvSpPr>
        <p:spPr>
          <a:xfrm>
            <a:off x="594360" y="1755648"/>
            <a:ext cx="87782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Reading the Press at Scale</a:t>
            </a:r>
            <a:endParaRPr lang="en-US" sz="4600" dirty="0"/>
          </a:p>
        </p:txBody>
      </p:sp>
      <p:sp>
        <p:nvSpPr>
          <p:cNvPr id="6" name="Text 4"/>
          <p:cNvSpPr/>
          <p:nvPr/>
        </p:nvSpPr>
        <p:spPr>
          <a:xfrm>
            <a:off x="594360" y="2743200"/>
            <a:ext cx="8595360" cy="457200"/>
          </a:xfrm>
          <a:prstGeom prst="rect">
            <a:avLst/>
          </a:prstGeom>
          <a:noFill/>
          <a:ln/>
        </p:spPr>
        <p:txBody>
          <a:bodyPr wrap="square" lIns="0" tIns="0" rIns="0" bIns="0" rtlCol="0" anchor="ctr"/>
          <a:lstStyle/>
          <a:p>
            <a:pPr indent="0" marL="0">
              <a:buNone/>
            </a:pPr>
            <a:r>
              <a:rPr lang="en-US" sz="2000" dirty="0">
                <a:solidFill>
                  <a:srgbClr val="C3C9D6"/>
                </a:solidFill>
                <a:latin typeface="Calibri" pitchFamily="34" charset="0"/>
                <a:ea typeface="Calibri" pitchFamily="34" charset="-122"/>
                <a:cs typeface="Calibri" pitchFamily="34" charset="-120"/>
              </a:rPr>
              <a:t>Doing research on media coverage of criminal justice</a:t>
            </a:r>
            <a:endParaRPr lang="en-US" sz="2000" dirty="0"/>
          </a:p>
        </p:txBody>
      </p:sp>
      <p:sp>
        <p:nvSpPr>
          <p:cNvPr id="7" name="Text 5"/>
          <p:cNvSpPr/>
          <p:nvPr/>
        </p:nvSpPr>
        <p:spPr>
          <a:xfrm>
            <a:off x="594360" y="3703320"/>
            <a:ext cx="8595360" cy="365760"/>
          </a:xfrm>
          <a:prstGeom prst="rect">
            <a:avLst/>
          </a:prstGeom>
          <a:noFill/>
          <a:ln/>
        </p:spPr>
        <p:txBody>
          <a:bodyPr wrap="square" lIns="0" tIns="0" rIns="0" bIns="0" rtlCol="0" anchor="ctr"/>
          <a:lstStyle/>
          <a:p>
            <a:pPr indent="0" marL="0">
              <a:buNone/>
            </a:pPr>
            <a:r>
              <a:rPr lang="en-US" sz="1500" b="1" dirty="0">
                <a:solidFill>
                  <a:srgbClr val="E0757F"/>
                </a:solidFill>
                <a:latin typeface="Calibri" pitchFamily="34" charset="0"/>
                <a:ea typeface="Calibri" pitchFamily="34" charset="-122"/>
                <a:cs typeface="Calibri" pitchFamily="34" charset="-120"/>
              </a:rPr>
              <a:t>Bay Area prosecutors</a:t>
            </a:r>
            <a:pPr indent="0" marL="0">
              <a:buNone/>
            </a:pPr>
            <a:r>
              <a:rPr lang="en-US" sz="1500" dirty="0">
                <a:solidFill>
                  <a:srgbClr val="E0757F"/>
                </a:solidFill>
                <a:latin typeface="Calibri" pitchFamily="34" charset="0"/>
                <a:ea typeface="Calibri" pitchFamily="34" charset="-122"/>
                <a:cs typeface="Calibri" pitchFamily="34" charset="-120"/>
              </a:rPr>
              <a:t>     ·     </a:t>
            </a:r>
            <a:pPr indent="0" marL="0">
              <a:buNone/>
            </a:pPr>
            <a:r>
              <a:rPr lang="en-US" sz="1500" b="1" dirty="0">
                <a:solidFill>
                  <a:srgbClr val="E0757F"/>
                </a:solidFill>
                <a:latin typeface="Calibri" pitchFamily="34" charset="0"/>
                <a:ea typeface="Calibri" pitchFamily="34" charset="-122"/>
                <a:cs typeface="Calibri" pitchFamily="34" charset="-120"/>
              </a:rPr>
              <a:t>GDELT</a:t>
            </a:r>
            <a:pPr indent="0" marL="0">
              <a:buNone/>
            </a:pPr>
            <a:r>
              <a:rPr lang="en-US" sz="1500" dirty="0">
                <a:solidFill>
                  <a:srgbClr val="E0757F"/>
                </a:solidFill>
                <a:latin typeface="Calibri" pitchFamily="34" charset="0"/>
                <a:ea typeface="Calibri" pitchFamily="34" charset="-122"/>
                <a:cs typeface="Calibri" pitchFamily="34" charset="-120"/>
              </a:rPr>
              <a:t>     ·     </a:t>
            </a:r>
            <a:pPr indent="0" marL="0">
              <a:buNone/>
            </a:pPr>
            <a:r>
              <a:rPr lang="en-US" sz="1500" b="1" dirty="0">
                <a:solidFill>
                  <a:srgbClr val="E0757F"/>
                </a:solidFill>
                <a:latin typeface="Calibri" pitchFamily="34" charset="0"/>
                <a:ea typeface="Calibri" pitchFamily="34" charset="-122"/>
                <a:cs typeface="Calibri" pitchFamily="34" charset="-120"/>
              </a:rPr>
              <a:t>the Boudin recall</a:t>
            </a:r>
            <a:endParaRPr lang="en-US" sz="1500" dirty="0"/>
          </a:p>
        </p:txBody>
      </p:sp>
      <p:sp>
        <p:nvSpPr>
          <p:cNvPr id="8" name="Text 6"/>
          <p:cNvSpPr/>
          <p:nvPr/>
        </p:nvSpPr>
        <p:spPr>
          <a:xfrm>
            <a:off x="594360" y="5806440"/>
            <a:ext cx="7315200" cy="320040"/>
          </a:xfrm>
          <a:prstGeom prst="rect">
            <a:avLst/>
          </a:prstGeom>
          <a:noFill/>
          <a:ln/>
        </p:spPr>
        <p:txBody>
          <a:bodyPr wrap="square" lIns="0" tIns="0" rIns="0" bIns="0" rtlCol="0" anchor="ctr"/>
          <a:lstStyle/>
          <a:p>
            <a:pPr indent="0" marL="0">
              <a:buNone/>
            </a:pPr>
            <a:r>
              <a:rPr lang="en-US" sz="1250" dirty="0">
                <a:solidFill>
                  <a:srgbClr val="9AA1AE"/>
                </a:solidFill>
                <a:latin typeface="Calibri" pitchFamily="34" charset="0"/>
                <a:ea typeface="Calibri" pitchFamily="34" charset="-122"/>
                <a:cs typeface="Calibri" pitchFamily="34" charset="-120"/>
              </a:rPr>
              <a:t>Prepared for the Center team  ·  August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000" b="1" dirty="0">
                <a:solidFill>
                  <a:srgbClr val="14161F"/>
                </a:solidFill>
                <a:latin typeface="Cambria" pitchFamily="34" charset="0"/>
                <a:ea typeface="Cambria" pitchFamily="34" charset="-122"/>
                <a:cs typeface="Cambria" pitchFamily="34" charset="-120"/>
              </a:rPr>
              <a:t>Coverage is a legal question, not a comms question</a:t>
            </a:r>
            <a:endParaRPr lang="en-US" sz="3000" dirty="0"/>
          </a:p>
        </p:txBody>
      </p:sp>
      <p:sp>
        <p:nvSpPr>
          <p:cNvPr id="3" name="Shape 1"/>
          <p:cNvSpPr/>
          <p:nvPr/>
        </p:nvSpPr>
        <p:spPr>
          <a:xfrm>
            <a:off x="621792" y="1472184"/>
            <a:ext cx="384048" cy="384048"/>
          </a:xfrm>
          <a:prstGeom prst="ellipse">
            <a:avLst/>
          </a:prstGeom>
          <a:solidFill>
            <a:srgbClr val="A31621"/>
          </a:solidFill>
          <a:ln/>
        </p:spPr>
      </p:sp>
      <p:sp>
        <p:nvSpPr>
          <p:cNvPr id="4" name="Text 2"/>
          <p:cNvSpPr/>
          <p:nvPr/>
        </p:nvSpPr>
        <p:spPr>
          <a:xfrm>
            <a:off x="621792" y="14721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88720" y="1417320"/>
            <a:ext cx="5120640" cy="347472"/>
          </a:xfrm>
          <a:prstGeom prst="rect">
            <a:avLst/>
          </a:prstGeom>
          <a:noFill/>
          <a:ln/>
        </p:spPr>
        <p:txBody>
          <a:bodyPr wrap="square" lIns="0" tIns="0" rIns="0" bIns="0" rtlCol="0" anchor="ctr"/>
          <a:lstStyle/>
          <a:p>
            <a:pPr indent="0" marL="0">
              <a:buNone/>
            </a:pPr>
            <a:r>
              <a:rPr lang="en-US" sz="1650" b="1" dirty="0">
                <a:solidFill>
                  <a:srgbClr val="2B3A55"/>
                </a:solidFill>
                <a:latin typeface="Calibri" pitchFamily="34" charset="0"/>
                <a:ea typeface="Calibri" pitchFamily="34" charset="-122"/>
                <a:cs typeface="Calibri" pitchFamily="34" charset="-120"/>
              </a:rPr>
              <a:t>Coverage is part of the decision environment</a:t>
            </a:r>
            <a:endParaRPr lang="en-US" sz="1650" dirty="0"/>
          </a:p>
        </p:txBody>
      </p:sp>
      <p:sp>
        <p:nvSpPr>
          <p:cNvPr id="6" name="Text 4"/>
          <p:cNvSpPr/>
          <p:nvPr/>
        </p:nvSpPr>
        <p:spPr>
          <a:xfrm>
            <a:off x="1188720" y="1801368"/>
            <a:ext cx="5120640" cy="868680"/>
          </a:xfrm>
          <a:prstGeom prst="rect">
            <a:avLst/>
          </a:prstGeom>
          <a:noFill/>
          <a:ln/>
        </p:spPr>
        <p:txBody>
          <a:bodyPr wrap="square" lIns="0" tIns="0" rIns="0" bIns="0" rtlCol="0" anchor="t"/>
          <a:lstStyle/>
          <a:p>
            <a:pPr indent="0" marL="0">
              <a:lnSpc>
                <a:spcPct val="112000"/>
              </a:lnSpc>
              <a:buNone/>
            </a:pPr>
            <a:r>
              <a:rPr lang="en-US" sz="1300" dirty="0">
                <a:solidFill>
                  <a:srgbClr val="3F4757"/>
                </a:solidFill>
                <a:latin typeface="Calibri" pitchFamily="34" charset="0"/>
                <a:ea typeface="Calibri" pitchFamily="34" charset="-122"/>
                <a:cs typeface="Calibri" pitchFamily="34" charset="-120"/>
              </a:rPr>
              <a:t>Jury pools, DA elections, and legislative appetite for reform all move with how cases get told. It is an input to outcomes you litigate.</a:t>
            </a:r>
            <a:endParaRPr lang="en-US" sz="1300" dirty="0"/>
          </a:p>
        </p:txBody>
      </p:sp>
      <p:sp>
        <p:nvSpPr>
          <p:cNvPr id="7" name="Shape 5"/>
          <p:cNvSpPr/>
          <p:nvPr/>
        </p:nvSpPr>
        <p:spPr>
          <a:xfrm>
            <a:off x="621792" y="2953512"/>
            <a:ext cx="384048" cy="384048"/>
          </a:xfrm>
          <a:prstGeom prst="ellipse">
            <a:avLst/>
          </a:prstGeom>
          <a:solidFill>
            <a:srgbClr val="A31621"/>
          </a:solidFill>
          <a:ln/>
        </p:spPr>
      </p:sp>
      <p:sp>
        <p:nvSpPr>
          <p:cNvPr id="8" name="Text 6"/>
          <p:cNvSpPr/>
          <p:nvPr/>
        </p:nvSpPr>
        <p:spPr>
          <a:xfrm>
            <a:off x="621792" y="29535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188720" y="2898648"/>
            <a:ext cx="5120640" cy="347472"/>
          </a:xfrm>
          <a:prstGeom prst="rect">
            <a:avLst/>
          </a:prstGeom>
          <a:noFill/>
          <a:ln/>
        </p:spPr>
        <p:txBody>
          <a:bodyPr wrap="square" lIns="0" tIns="0" rIns="0" bIns="0" rtlCol="0" anchor="ctr"/>
          <a:lstStyle/>
          <a:p>
            <a:pPr indent="0" marL="0">
              <a:buNone/>
            </a:pPr>
            <a:r>
              <a:rPr lang="en-US" sz="1650" b="1" dirty="0">
                <a:solidFill>
                  <a:srgbClr val="2B3A55"/>
                </a:solidFill>
                <a:latin typeface="Calibri" pitchFamily="34" charset="0"/>
                <a:ea typeface="Calibri" pitchFamily="34" charset="-122"/>
                <a:cs typeface="Calibri" pitchFamily="34" charset="-120"/>
              </a:rPr>
              <a:t>Prosecutors are structurally under-covered</a:t>
            </a:r>
            <a:endParaRPr lang="en-US" sz="1650" dirty="0"/>
          </a:p>
        </p:txBody>
      </p:sp>
      <p:sp>
        <p:nvSpPr>
          <p:cNvPr id="10" name="Text 8"/>
          <p:cNvSpPr/>
          <p:nvPr/>
        </p:nvSpPr>
        <p:spPr>
          <a:xfrm>
            <a:off x="1188720" y="3282696"/>
            <a:ext cx="5120640" cy="868680"/>
          </a:xfrm>
          <a:prstGeom prst="rect">
            <a:avLst/>
          </a:prstGeom>
          <a:noFill/>
          <a:ln/>
        </p:spPr>
        <p:txBody>
          <a:bodyPr wrap="square" lIns="0" tIns="0" rIns="0" bIns="0" rtlCol="0" anchor="t"/>
          <a:lstStyle/>
          <a:p>
            <a:pPr indent="0" marL="0">
              <a:lnSpc>
                <a:spcPct val="112000"/>
              </a:lnSpc>
              <a:buNone/>
            </a:pPr>
            <a:r>
              <a:rPr lang="en-US" sz="1300" dirty="0">
                <a:solidFill>
                  <a:srgbClr val="3F4757"/>
                </a:solidFill>
                <a:latin typeface="Calibri" pitchFamily="34" charset="0"/>
                <a:ea typeface="Calibri" pitchFamily="34" charset="-122"/>
                <a:cs typeface="Calibri" pitchFamily="34" charset="-120"/>
              </a:rPr>
              <a:t>In this Bay Area corpus, 82% of crime articles mention police and 15% mention the district attorney. The scarce coverage that exists carries a lot of weight.</a:t>
            </a:r>
            <a:endParaRPr lang="en-US" sz="1300" dirty="0"/>
          </a:p>
        </p:txBody>
      </p:sp>
      <p:sp>
        <p:nvSpPr>
          <p:cNvPr id="11" name="Shape 9"/>
          <p:cNvSpPr/>
          <p:nvPr/>
        </p:nvSpPr>
        <p:spPr>
          <a:xfrm>
            <a:off x="621792" y="4434840"/>
            <a:ext cx="384048" cy="384048"/>
          </a:xfrm>
          <a:prstGeom prst="ellipse">
            <a:avLst/>
          </a:prstGeom>
          <a:solidFill>
            <a:srgbClr val="A31621"/>
          </a:solidFill>
          <a:ln/>
        </p:spPr>
      </p:sp>
      <p:sp>
        <p:nvSpPr>
          <p:cNvPr id="12" name="Text 10"/>
          <p:cNvSpPr/>
          <p:nvPr/>
        </p:nvSpPr>
        <p:spPr>
          <a:xfrm>
            <a:off x="621792"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88720" y="4379976"/>
            <a:ext cx="5120640" cy="347472"/>
          </a:xfrm>
          <a:prstGeom prst="rect">
            <a:avLst/>
          </a:prstGeom>
          <a:noFill/>
          <a:ln/>
        </p:spPr>
        <p:txBody>
          <a:bodyPr wrap="square" lIns="0" tIns="0" rIns="0" bIns="0" rtlCol="0" anchor="ctr"/>
          <a:lstStyle/>
          <a:p>
            <a:pPr indent="0" marL="0">
              <a:buNone/>
            </a:pPr>
            <a:r>
              <a:rPr lang="en-US" sz="1650" b="1" dirty="0">
                <a:solidFill>
                  <a:srgbClr val="2B3A55"/>
                </a:solidFill>
                <a:latin typeface="Calibri" pitchFamily="34" charset="0"/>
                <a:ea typeface="Calibri" pitchFamily="34" charset="-122"/>
                <a:cs typeface="Calibri" pitchFamily="34" charset="-120"/>
              </a:rPr>
              <a:t>And it is now cheap to measure</a:t>
            </a:r>
            <a:endParaRPr lang="en-US" sz="1650" dirty="0"/>
          </a:p>
        </p:txBody>
      </p:sp>
      <p:sp>
        <p:nvSpPr>
          <p:cNvPr id="14" name="Text 12"/>
          <p:cNvSpPr/>
          <p:nvPr/>
        </p:nvSpPr>
        <p:spPr>
          <a:xfrm>
            <a:off x="1188720" y="4764024"/>
            <a:ext cx="5120640" cy="868680"/>
          </a:xfrm>
          <a:prstGeom prst="rect">
            <a:avLst/>
          </a:prstGeom>
          <a:noFill/>
          <a:ln/>
        </p:spPr>
        <p:txBody>
          <a:bodyPr wrap="square" lIns="0" tIns="0" rIns="0" bIns="0" rtlCol="0" anchor="t"/>
          <a:lstStyle/>
          <a:p>
            <a:pPr indent="0" marL="0">
              <a:lnSpc>
                <a:spcPct val="112000"/>
              </a:lnSpc>
              <a:buNone/>
            </a:pPr>
            <a:r>
              <a:rPr lang="en-US" sz="1300" dirty="0">
                <a:solidFill>
                  <a:srgbClr val="3F4757"/>
                </a:solidFill>
                <a:latin typeface="Calibri" pitchFamily="34" charset="0"/>
                <a:ea typeface="Calibri" pitchFamily="34" charset="-122"/>
                <a:cs typeface="Calibri" pitchFamily="34" charset="-120"/>
              </a:rPr>
              <a:t>Six years of local reporting can be read end to end in an afternoon. That changes what you can put in a brief, a memo, or a motion.</a:t>
            </a:r>
            <a:endParaRPr lang="en-US" sz="1300" dirty="0"/>
          </a:p>
        </p:txBody>
      </p:sp>
      <p:sp>
        <p:nvSpPr>
          <p:cNvPr id="15" name="Shape 13"/>
          <p:cNvSpPr/>
          <p:nvPr/>
        </p:nvSpPr>
        <p:spPr>
          <a:xfrm>
            <a:off x="6720840" y="1417320"/>
            <a:ext cx="4846320" cy="4023360"/>
          </a:xfrm>
          <a:prstGeom prst="roundRect">
            <a:avLst>
              <a:gd name="adj" fmla="val 1591"/>
            </a:avLst>
          </a:prstGeom>
          <a:solidFill>
            <a:srgbClr val="F4F5F7"/>
          </a:solidFill>
          <a:ln/>
          <a:effectLst>
            <a:outerShdw sx="100000" sy="100000" kx="0" ky="0" algn="bl" rotWithShape="0" blurRad="101600" dist="25400" dir="5400000">
              <a:srgbClr val="9AA1AE">
                <a:alpha val="22000"/>
              </a:srgbClr>
            </a:outerShdw>
          </a:effectLst>
        </p:spPr>
      </p:sp>
      <p:sp>
        <p:nvSpPr>
          <p:cNvPr id="16" name="Text 14"/>
          <p:cNvSpPr/>
          <p:nvPr/>
        </p:nvSpPr>
        <p:spPr>
          <a:xfrm>
            <a:off x="7040880" y="1645920"/>
            <a:ext cx="4206240" cy="274320"/>
          </a:xfrm>
          <a:prstGeom prst="rect">
            <a:avLst/>
          </a:prstGeom>
          <a:noFill/>
          <a:ln/>
        </p:spPr>
        <p:txBody>
          <a:bodyPr wrap="square" lIns="0" tIns="0" rIns="0" bIns="0" rtlCol="0" anchor="ctr"/>
          <a:lstStyle/>
          <a:p>
            <a:pPr indent="0" marL="0">
              <a:buNone/>
            </a:pPr>
            <a:r>
              <a:rPr lang="en-US" sz="1050" b="1" spc="180" kern="0" dirty="0">
                <a:solidFill>
                  <a:srgbClr val="6B7280"/>
                </a:solidFill>
                <a:latin typeface="Calibri" pitchFamily="34" charset="0"/>
                <a:ea typeface="Calibri" pitchFamily="34" charset="-122"/>
                <a:cs typeface="Calibri" pitchFamily="34" charset="-120"/>
              </a:rPr>
              <a:t>WHO GETS WRITTEN ABOUT</a:t>
            </a:r>
            <a:endParaRPr lang="en-US" sz="1050" dirty="0"/>
          </a:p>
        </p:txBody>
      </p:sp>
      <p:sp>
        <p:nvSpPr>
          <p:cNvPr id="17" name="Text 15"/>
          <p:cNvSpPr/>
          <p:nvPr/>
        </p:nvSpPr>
        <p:spPr>
          <a:xfrm>
            <a:off x="7040880" y="2011680"/>
            <a:ext cx="4206240" cy="914400"/>
          </a:xfrm>
          <a:prstGeom prst="rect">
            <a:avLst/>
          </a:prstGeom>
          <a:noFill/>
          <a:ln/>
        </p:spPr>
        <p:txBody>
          <a:bodyPr wrap="square" lIns="0" tIns="0" rIns="0" bIns="0" rtlCol="0" anchor="ctr"/>
          <a:lstStyle/>
          <a:p>
            <a:pPr indent="0" marL="0">
              <a:buNone/>
            </a:pPr>
            <a:r>
              <a:rPr lang="en-US" sz="6600" b="1" dirty="0">
                <a:solidFill>
                  <a:srgbClr val="2B3A55"/>
                </a:solidFill>
                <a:latin typeface="Cambria" pitchFamily="34" charset="0"/>
                <a:ea typeface="Cambria" pitchFamily="34" charset="-122"/>
                <a:cs typeface="Cambria" pitchFamily="34" charset="-120"/>
              </a:rPr>
              <a:t>82%</a:t>
            </a:r>
            <a:endParaRPr lang="en-US" sz="6600" dirty="0"/>
          </a:p>
        </p:txBody>
      </p:sp>
      <p:sp>
        <p:nvSpPr>
          <p:cNvPr id="18" name="Text 16"/>
          <p:cNvSpPr/>
          <p:nvPr/>
        </p:nvSpPr>
        <p:spPr>
          <a:xfrm>
            <a:off x="7040880" y="2907792"/>
            <a:ext cx="4206240" cy="292608"/>
          </a:xfrm>
          <a:prstGeom prst="rect">
            <a:avLst/>
          </a:prstGeom>
          <a:noFill/>
          <a:ln/>
        </p:spPr>
        <p:txBody>
          <a:bodyPr wrap="square" lIns="0" tIns="0" rIns="0" bIns="0" rtlCol="0" anchor="ctr"/>
          <a:lstStyle/>
          <a:p>
            <a:pPr indent="0" marL="0">
              <a:buNone/>
            </a:pPr>
            <a:r>
              <a:rPr lang="en-US" sz="1300" dirty="0">
                <a:solidFill>
                  <a:srgbClr val="3F4757"/>
                </a:solidFill>
                <a:latin typeface="Calibri" pitchFamily="34" charset="0"/>
                <a:ea typeface="Calibri" pitchFamily="34" charset="-122"/>
                <a:cs typeface="Calibri" pitchFamily="34" charset="-120"/>
              </a:rPr>
              <a:t>of crime articles mention the police</a:t>
            </a:r>
            <a:endParaRPr lang="en-US" sz="1300" dirty="0"/>
          </a:p>
        </p:txBody>
      </p:sp>
      <p:sp>
        <p:nvSpPr>
          <p:cNvPr id="19" name="Text 17"/>
          <p:cNvSpPr/>
          <p:nvPr/>
        </p:nvSpPr>
        <p:spPr>
          <a:xfrm>
            <a:off x="7040880" y="3429000"/>
            <a:ext cx="4206240" cy="914400"/>
          </a:xfrm>
          <a:prstGeom prst="rect">
            <a:avLst/>
          </a:prstGeom>
          <a:noFill/>
          <a:ln/>
        </p:spPr>
        <p:txBody>
          <a:bodyPr wrap="square" lIns="0" tIns="0" rIns="0" bIns="0" rtlCol="0" anchor="ctr"/>
          <a:lstStyle/>
          <a:p>
            <a:pPr indent="0" marL="0">
              <a:buNone/>
            </a:pPr>
            <a:r>
              <a:rPr lang="en-US" sz="6600" b="1" dirty="0">
                <a:solidFill>
                  <a:srgbClr val="A31621"/>
                </a:solidFill>
                <a:latin typeface="Cambria" pitchFamily="34" charset="0"/>
                <a:ea typeface="Cambria" pitchFamily="34" charset="-122"/>
                <a:cs typeface="Cambria" pitchFamily="34" charset="-120"/>
              </a:rPr>
              <a:t>15%</a:t>
            </a:r>
            <a:endParaRPr lang="en-US" sz="6600" dirty="0"/>
          </a:p>
        </p:txBody>
      </p:sp>
      <p:sp>
        <p:nvSpPr>
          <p:cNvPr id="20" name="Text 18"/>
          <p:cNvSpPr/>
          <p:nvPr/>
        </p:nvSpPr>
        <p:spPr>
          <a:xfrm>
            <a:off x="7040880" y="4325112"/>
            <a:ext cx="4206240" cy="292608"/>
          </a:xfrm>
          <a:prstGeom prst="rect">
            <a:avLst/>
          </a:prstGeom>
          <a:noFill/>
          <a:ln/>
        </p:spPr>
        <p:txBody>
          <a:bodyPr wrap="square" lIns="0" tIns="0" rIns="0" bIns="0" rtlCol="0" anchor="ctr"/>
          <a:lstStyle/>
          <a:p>
            <a:pPr indent="0" marL="0">
              <a:buNone/>
            </a:pPr>
            <a:r>
              <a:rPr lang="en-US" sz="1300" dirty="0">
                <a:solidFill>
                  <a:srgbClr val="3F4757"/>
                </a:solidFill>
                <a:latin typeface="Calibri" pitchFamily="34" charset="0"/>
                <a:ea typeface="Calibri" pitchFamily="34" charset="-122"/>
                <a:cs typeface="Calibri" pitchFamily="34" charset="-120"/>
              </a:rPr>
              <a:t>mention the district attorney</a:t>
            </a:r>
            <a:endParaRPr lang="en-US" sz="1300" dirty="0"/>
          </a:p>
        </p:txBody>
      </p:sp>
      <p:sp>
        <p:nvSpPr>
          <p:cNvPr id="21" name="Text 19"/>
          <p:cNvSpPr/>
          <p:nvPr/>
        </p:nvSpPr>
        <p:spPr>
          <a:xfrm>
            <a:off x="7040880" y="4709160"/>
            <a:ext cx="4206240" cy="594360"/>
          </a:xfrm>
          <a:prstGeom prst="rect">
            <a:avLst/>
          </a:prstGeom>
          <a:noFill/>
          <a:ln/>
        </p:spPr>
        <p:txBody>
          <a:bodyPr wrap="square" lIns="0" tIns="0" rIns="0" bIns="0" rtlCol="0" anchor="t"/>
          <a:lstStyle/>
          <a:p>
            <a:pPr indent="0" marL="0">
              <a:lnSpc>
                <a:spcPct val="110000"/>
              </a:lnSpc>
              <a:buNone/>
            </a:pPr>
            <a:r>
              <a:rPr lang="en-US" sz="1150" i="1" dirty="0">
                <a:solidFill>
                  <a:srgbClr val="6B7280"/>
                </a:solidFill>
                <a:latin typeface="Calibri" pitchFamily="34" charset="0"/>
                <a:ea typeface="Calibri" pitchFamily="34" charset="-122"/>
                <a:cs typeface="Calibri" pitchFamily="34" charset="-120"/>
              </a:rPr>
              <a:t>The most consequential actor in the system is close to invisible in the reporting about it.</a:t>
            </a:r>
            <a:endParaRPr lang="en-US" sz="1150" dirty="0"/>
          </a:p>
        </p:txBody>
      </p:sp>
      <p:sp>
        <p:nvSpPr>
          <p:cNvPr id="22" name="Text 20"/>
          <p:cNvSpPr/>
          <p:nvPr/>
        </p:nvSpPr>
        <p:spPr>
          <a:xfrm>
            <a:off x="594360" y="6355080"/>
            <a:ext cx="1097280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Corpus: 12,827 prosecutor-attributed Bay Area articles, 2019-2024. Coverage-deficit finding consistent with Hessick &amp; Thornburg (2023).</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Two studies, one event</a:t>
            </a:r>
            <a:endParaRPr lang="en-US" sz="3400" dirty="0"/>
          </a:p>
        </p:txBody>
      </p:sp>
      <p:sp>
        <p:nvSpPr>
          <p:cNvPr id="3" name="Shape 1"/>
          <p:cNvSpPr/>
          <p:nvPr/>
        </p:nvSpPr>
        <p:spPr>
          <a:xfrm>
            <a:off x="594360" y="1371600"/>
            <a:ext cx="5349240" cy="3429000"/>
          </a:xfrm>
          <a:prstGeom prst="roundRect">
            <a:avLst>
              <a:gd name="adj" fmla="val 1867"/>
            </a:avLst>
          </a:prstGeom>
          <a:solidFill>
            <a:srgbClr val="F4F5F7"/>
          </a:solidFill>
          <a:ln/>
          <a:effectLst>
            <a:outerShdw sx="100000" sy="100000" kx="0" ky="0" algn="bl" rotWithShape="0" blurRad="101600" dist="25400" dir="5400000">
              <a:srgbClr val="9AA1AE">
                <a:alpha val="22000"/>
              </a:srgbClr>
            </a:outerShdw>
          </a:effectLst>
        </p:spPr>
      </p:sp>
      <p:sp>
        <p:nvSpPr>
          <p:cNvPr id="4" name="Shape 2"/>
          <p:cNvSpPr/>
          <p:nvPr/>
        </p:nvSpPr>
        <p:spPr>
          <a:xfrm>
            <a:off x="914400" y="1691640"/>
            <a:ext cx="457200" cy="457200"/>
          </a:xfrm>
          <a:prstGeom prst="ellipse">
            <a:avLst/>
          </a:prstGeom>
          <a:solidFill>
            <a:srgbClr val="A31621"/>
          </a:solidFill>
          <a:ln/>
        </p:spPr>
      </p:sp>
      <p:sp>
        <p:nvSpPr>
          <p:cNvPr id="5" name="Text 3"/>
          <p:cNvSpPr/>
          <p:nvPr/>
        </p:nvSpPr>
        <p:spPr>
          <a:xfrm>
            <a:off x="91440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6" name="Text 4"/>
          <p:cNvSpPr/>
          <p:nvPr/>
        </p:nvSpPr>
        <p:spPr>
          <a:xfrm>
            <a:off x="914400" y="2240280"/>
            <a:ext cx="4709160" cy="457200"/>
          </a:xfrm>
          <a:prstGeom prst="rect">
            <a:avLst/>
          </a:prstGeom>
          <a:noFill/>
          <a:ln/>
        </p:spPr>
        <p:txBody>
          <a:bodyPr wrap="square" lIns="0" tIns="0" rIns="0" bIns="0" rtlCol="0" anchor="t"/>
          <a:lstStyle/>
          <a:p>
            <a:pPr indent="0" marL="0">
              <a:buNone/>
            </a:pPr>
            <a:r>
              <a:rPr lang="en-US" sz="2100" b="1" dirty="0">
                <a:solidFill>
                  <a:srgbClr val="2B3A55"/>
                </a:solidFill>
                <a:latin typeface="Cambria" pitchFamily="34" charset="0"/>
                <a:ea typeface="Cambria" pitchFamily="34" charset="-122"/>
                <a:cs typeface="Cambria" pitchFamily="34" charset="-120"/>
              </a:rPr>
              <a:t>What does the coverage look like?</a:t>
            </a:r>
            <a:endParaRPr lang="en-US" sz="2100" dirty="0"/>
          </a:p>
        </p:txBody>
      </p:sp>
      <p:sp>
        <p:nvSpPr>
          <p:cNvPr id="7" name="Text 5"/>
          <p:cNvSpPr/>
          <p:nvPr/>
        </p:nvSpPr>
        <p:spPr>
          <a:xfrm>
            <a:off x="914400" y="2788920"/>
            <a:ext cx="4709160" cy="1188720"/>
          </a:xfrm>
          <a:prstGeom prst="rect">
            <a:avLst/>
          </a:prstGeom>
          <a:noFill/>
          <a:ln/>
        </p:spPr>
        <p:txBody>
          <a:bodyPr wrap="square" lIns="0" tIns="0" rIns="0" bIns="0" rtlCol="0" anchor="t"/>
          <a:lstStyle/>
          <a:p>
            <a:pPr indent="0" marL="0">
              <a:lnSpc>
                <a:spcPct val="115000"/>
              </a:lnSpc>
              <a:buNone/>
            </a:pPr>
            <a:r>
              <a:rPr lang="en-US" sz="1350" dirty="0">
                <a:solidFill>
                  <a:srgbClr val="3F4757"/>
                </a:solidFill>
                <a:latin typeface="Calibri" pitchFamily="34" charset="0"/>
                <a:ea typeface="Calibri" pitchFamily="34" charset="-122"/>
                <a:cs typeface="Calibri" pitchFamily="34" charset="-120"/>
              </a:rPr>
              <a:t>12,827 attributed articles, 2019-2024. Four NLP measures of tone, stance, thematic salience and framing, across five Bay Area prosecutors in three counties.</a:t>
            </a:r>
            <a:endParaRPr lang="en-US" sz="1350" dirty="0"/>
          </a:p>
        </p:txBody>
      </p:sp>
      <p:sp>
        <p:nvSpPr>
          <p:cNvPr id="8" name="Text 6"/>
          <p:cNvSpPr/>
          <p:nvPr/>
        </p:nvSpPr>
        <p:spPr>
          <a:xfrm>
            <a:off x="914400" y="4206240"/>
            <a:ext cx="4709160" cy="274320"/>
          </a:xfrm>
          <a:prstGeom prst="rect">
            <a:avLst/>
          </a:prstGeom>
          <a:noFill/>
          <a:ln/>
        </p:spPr>
        <p:txBody>
          <a:bodyPr wrap="square" lIns="0" tIns="0" rIns="0" bIns="0" rtlCol="0" anchor="ctr"/>
          <a:lstStyle/>
          <a:p>
            <a:pPr indent="0" marL="0">
              <a:buNone/>
            </a:pPr>
            <a:r>
              <a:rPr lang="en-US" sz="1050" b="1" spc="180" kern="0" dirty="0">
                <a:solidFill>
                  <a:srgbClr val="A31621"/>
                </a:solidFill>
                <a:latin typeface="Calibri" pitchFamily="34" charset="0"/>
                <a:ea typeface="Calibri" pitchFamily="34" charset="-122"/>
                <a:cs typeface="Calibri" pitchFamily="34" charset="-120"/>
              </a:rPr>
              <a:t>MEASURES THE PRESS</a:t>
            </a:r>
            <a:endParaRPr lang="en-US" sz="1050" dirty="0"/>
          </a:p>
        </p:txBody>
      </p:sp>
      <p:sp>
        <p:nvSpPr>
          <p:cNvPr id="9" name="Shape 7"/>
          <p:cNvSpPr/>
          <p:nvPr/>
        </p:nvSpPr>
        <p:spPr>
          <a:xfrm>
            <a:off x="6263640" y="1371600"/>
            <a:ext cx="5349240" cy="3429000"/>
          </a:xfrm>
          <a:prstGeom prst="roundRect">
            <a:avLst>
              <a:gd name="adj" fmla="val 1867"/>
            </a:avLst>
          </a:prstGeom>
          <a:solidFill>
            <a:srgbClr val="F4F5F7"/>
          </a:solidFill>
          <a:ln/>
          <a:effectLst>
            <a:outerShdw sx="100000" sy="100000" kx="0" ky="0" algn="bl" rotWithShape="0" blurRad="101600" dist="25400" dir="5400000">
              <a:srgbClr val="9AA1AE">
                <a:alpha val="22000"/>
              </a:srgbClr>
            </a:outerShdw>
          </a:effectLst>
        </p:spPr>
      </p:sp>
      <p:sp>
        <p:nvSpPr>
          <p:cNvPr id="10" name="Shape 8"/>
          <p:cNvSpPr/>
          <p:nvPr/>
        </p:nvSpPr>
        <p:spPr>
          <a:xfrm>
            <a:off x="6583680" y="1691640"/>
            <a:ext cx="457200" cy="457200"/>
          </a:xfrm>
          <a:prstGeom prst="ellipse">
            <a:avLst/>
          </a:prstGeom>
          <a:solidFill>
            <a:srgbClr val="A31621"/>
          </a:solidFill>
          <a:ln/>
        </p:spPr>
      </p:sp>
      <p:sp>
        <p:nvSpPr>
          <p:cNvPr id="11" name="Text 9"/>
          <p:cNvSpPr/>
          <p:nvPr/>
        </p:nvSpPr>
        <p:spPr>
          <a:xfrm>
            <a:off x="6583680" y="1691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2" name="Text 10"/>
          <p:cNvSpPr/>
          <p:nvPr/>
        </p:nvSpPr>
        <p:spPr>
          <a:xfrm>
            <a:off x="6583680" y="2240280"/>
            <a:ext cx="4709160" cy="457200"/>
          </a:xfrm>
          <a:prstGeom prst="rect">
            <a:avLst/>
          </a:prstGeom>
          <a:noFill/>
          <a:ln/>
        </p:spPr>
        <p:txBody>
          <a:bodyPr wrap="square" lIns="0" tIns="0" rIns="0" bIns="0" rtlCol="0" anchor="t"/>
          <a:lstStyle/>
          <a:p>
            <a:pPr indent="0" marL="0">
              <a:buNone/>
            </a:pPr>
            <a:r>
              <a:rPr lang="en-US" sz="2100" b="1" dirty="0">
                <a:solidFill>
                  <a:srgbClr val="2B3A55"/>
                </a:solidFill>
                <a:latin typeface="Cambria" pitchFamily="34" charset="0"/>
                <a:ea typeface="Cambria" pitchFamily="34" charset="-122"/>
                <a:cs typeface="Cambria" pitchFamily="34" charset="-120"/>
              </a:rPr>
              <a:t>What did the coverage do?</a:t>
            </a:r>
            <a:endParaRPr lang="en-US" sz="2100" dirty="0"/>
          </a:p>
        </p:txBody>
      </p:sp>
      <p:sp>
        <p:nvSpPr>
          <p:cNvPr id="13" name="Text 11"/>
          <p:cNvSpPr/>
          <p:nvPr/>
        </p:nvSpPr>
        <p:spPr>
          <a:xfrm>
            <a:off x="6583680" y="2788920"/>
            <a:ext cx="4709160" cy="1188720"/>
          </a:xfrm>
          <a:prstGeom prst="rect">
            <a:avLst/>
          </a:prstGeom>
          <a:noFill/>
          <a:ln/>
        </p:spPr>
        <p:txBody>
          <a:bodyPr wrap="square" lIns="0" tIns="0" rIns="0" bIns="0" rtlCol="0" anchor="t"/>
          <a:lstStyle/>
          <a:p>
            <a:pPr indent="0" marL="0">
              <a:lnSpc>
                <a:spcPct val="115000"/>
              </a:lnSpc>
              <a:buNone/>
            </a:pPr>
            <a:r>
              <a:rPr lang="en-US" sz="1350" dirty="0">
                <a:solidFill>
                  <a:srgbClr val="3F4757"/>
                </a:solidFill>
                <a:latin typeface="Calibri" pitchFamily="34" charset="0"/>
                <a:ea typeface="Calibri" pitchFamily="34" charset="-122"/>
                <a:cs typeface="Calibri" pitchFamily="34" charset="-120"/>
              </a:rPr>
              <a:t>A regression kink design around the 7 June 2022 recall. SFPD stops, arrests, officer reports, citizen calls, charging decisions and the jail population, week by week.</a:t>
            </a:r>
            <a:endParaRPr lang="en-US" sz="1350" dirty="0"/>
          </a:p>
        </p:txBody>
      </p:sp>
      <p:sp>
        <p:nvSpPr>
          <p:cNvPr id="14" name="Text 12"/>
          <p:cNvSpPr/>
          <p:nvPr/>
        </p:nvSpPr>
        <p:spPr>
          <a:xfrm>
            <a:off x="6583680" y="4206240"/>
            <a:ext cx="4709160" cy="274320"/>
          </a:xfrm>
          <a:prstGeom prst="rect">
            <a:avLst/>
          </a:prstGeom>
          <a:noFill/>
          <a:ln/>
        </p:spPr>
        <p:txBody>
          <a:bodyPr wrap="square" lIns="0" tIns="0" rIns="0" bIns="0" rtlCol="0" anchor="ctr"/>
          <a:lstStyle/>
          <a:p>
            <a:pPr indent="0" marL="0">
              <a:buNone/>
            </a:pPr>
            <a:r>
              <a:rPr lang="en-US" sz="1050" b="1" spc="180" kern="0" dirty="0">
                <a:solidFill>
                  <a:srgbClr val="A31621"/>
                </a:solidFill>
                <a:latin typeface="Calibri" pitchFamily="34" charset="0"/>
                <a:ea typeface="Calibri" pitchFamily="34" charset="-122"/>
                <a:cs typeface="Calibri" pitchFamily="34" charset="-120"/>
              </a:rPr>
              <a:t>MEASURES THE BEHAVIOUR</a:t>
            </a:r>
            <a:endParaRPr lang="en-US" sz="1050" dirty="0"/>
          </a:p>
        </p:txBody>
      </p:sp>
      <p:sp>
        <p:nvSpPr>
          <p:cNvPr id="15" name="Shape 13"/>
          <p:cNvSpPr/>
          <p:nvPr/>
        </p:nvSpPr>
        <p:spPr>
          <a:xfrm>
            <a:off x="594360" y="5029200"/>
            <a:ext cx="11018520" cy="1051560"/>
          </a:xfrm>
          <a:prstGeom prst="roundRect">
            <a:avLst>
              <a:gd name="adj" fmla="val 6087"/>
            </a:avLst>
          </a:prstGeom>
          <a:solidFill>
            <a:srgbClr val="F6E9EA"/>
          </a:solidFill>
          <a:ln/>
          <a:effectLst>
            <a:outerShdw sx="100000" sy="100000" kx="0" ky="0" algn="bl" rotWithShape="0" blurRad="101600" dist="25400" dir="5400000">
              <a:srgbClr val="9AA1AE">
                <a:alpha val="22000"/>
              </a:srgbClr>
            </a:outerShdw>
          </a:effectLst>
        </p:spPr>
      </p:sp>
      <p:sp>
        <p:nvSpPr>
          <p:cNvPr id="16" name="Text 14"/>
          <p:cNvSpPr/>
          <p:nvPr/>
        </p:nvSpPr>
        <p:spPr>
          <a:xfrm>
            <a:off x="960120" y="5029200"/>
            <a:ext cx="10332720" cy="1051560"/>
          </a:xfrm>
          <a:prstGeom prst="rect">
            <a:avLst/>
          </a:prstGeom>
          <a:noFill/>
          <a:ln/>
        </p:spPr>
        <p:txBody>
          <a:bodyPr wrap="square" lIns="0" tIns="0" rIns="0" bIns="0" rtlCol="0" anchor="ctr"/>
          <a:lstStyle/>
          <a:p>
            <a:pPr indent="0" marL="0">
              <a:lnSpc>
                <a:spcPct val="110000"/>
              </a:lnSpc>
              <a:buNone/>
            </a:pPr>
            <a:r>
              <a:rPr lang="en-US" sz="1500" b="1" dirty="0">
                <a:solidFill>
                  <a:srgbClr val="6D1119"/>
                </a:solidFill>
                <a:latin typeface="Calibri" pitchFamily="34" charset="0"/>
                <a:ea typeface="Calibri" pitchFamily="34" charset="-122"/>
                <a:cs typeface="Calibri" pitchFamily="34" charset="-120"/>
              </a:rPr>
              <a:t>Same city, same years, same event — and neither one measures the link between them.</a:t>
            </a:r>
            <a:pPr indent="0" marL="0">
              <a:lnSpc>
                <a:spcPct val="110000"/>
              </a:lnSpc>
              <a:buNone/>
            </a:pPr>
            <a:r>
              <a:rPr lang="en-US" sz="1500" dirty="0">
                <a:solidFill>
                  <a:srgbClr val="6D1119"/>
                </a:solidFill>
                <a:latin typeface="Calibri" pitchFamily="34" charset="0"/>
                <a:ea typeface="Calibri" pitchFamily="34" charset="-122"/>
                <a:cs typeface="Calibri" pitchFamily="34" charset="-120"/>
              </a:rPr>
              <a:t>  That gap is where GDELT comes 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Study A — building the corpus</a:t>
            </a:r>
            <a:endParaRPr lang="en-US" sz="3400" dirty="0"/>
          </a:p>
        </p:txBody>
      </p:sp>
      <p:sp>
        <p:nvSpPr>
          <p:cNvPr id="3" name="Shape 1"/>
          <p:cNvSpPr/>
          <p:nvPr/>
        </p:nvSpPr>
        <p:spPr>
          <a:xfrm>
            <a:off x="594360" y="1325880"/>
            <a:ext cx="3429000" cy="1783080"/>
          </a:xfrm>
          <a:prstGeom prst="roundRect">
            <a:avLst>
              <a:gd name="adj" fmla="val 3590"/>
            </a:avLst>
          </a:prstGeom>
          <a:solidFill>
            <a:srgbClr val="F4F5F7"/>
          </a:solidFill>
          <a:ln/>
          <a:effectLst>
            <a:outerShdw sx="100000" sy="100000" kx="0" ky="0" algn="bl" rotWithShape="0" blurRad="101600" dist="25400" dir="5400000">
              <a:srgbClr val="9AA1AE">
                <a:alpha val="22000"/>
              </a:srgbClr>
            </a:outerShdw>
          </a:effectLst>
        </p:spPr>
      </p:sp>
      <p:sp>
        <p:nvSpPr>
          <p:cNvPr id="4" name="Text 2"/>
          <p:cNvSpPr/>
          <p:nvPr/>
        </p:nvSpPr>
        <p:spPr>
          <a:xfrm>
            <a:off x="868680" y="1463040"/>
            <a:ext cx="2880360" cy="658368"/>
          </a:xfrm>
          <a:prstGeom prst="rect">
            <a:avLst/>
          </a:prstGeom>
          <a:noFill/>
          <a:ln/>
        </p:spPr>
        <p:txBody>
          <a:bodyPr wrap="square" lIns="0" tIns="0" rIns="0" bIns="0" rtlCol="0" anchor="ctr"/>
          <a:lstStyle/>
          <a:p>
            <a:pPr indent="0" marL="0">
              <a:buNone/>
            </a:pPr>
            <a:r>
              <a:rPr lang="en-US" sz="3800" b="1" dirty="0">
                <a:solidFill>
                  <a:srgbClr val="2B3A55"/>
                </a:solidFill>
                <a:latin typeface="Cambria" pitchFamily="34" charset="0"/>
                <a:ea typeface="Cambria" pitchFamily="34" charset="-122"/>
                <a:cs typeface="Cambria" pitchFamily="34" charset="-120"/>
              </a:rPr>
              <a:t>136,313</a:t>
            </a:r>
            <a:endParaRPr lang="en-US" sz="3800" dirty="0"/>
          </a:p>
        </p:txBody>
      </p:sp>
      <p:sp>
        <p:nvSpPr>
          <p:cNvPr id="5" name="Text 3"/>
          <p:cNvSpPr/>
          <p:nvPr/>
        </p:nvSpPr>
        <p:spPr>
          <a:xfrm>
            <a:off x="868680" y="2121408"/>
            <a:ext cx="2880360" cy="256032"/>
          </a:xfrm>
          <a:prstGeom prst="rect">
            <a:avLst/>
          </a:prstGeom>
          <a:noFill/>
          <a:ln/>
        </p:spPr>
        <p:txBody>
          <a:bodyPr wrap="square" lIns="0" tIns="0" rIns="0" bIns="0" rtlCol="0" anchor="ctr"/>
          <a:lstStyle/>
          <a:p>
            <a:pPr indent="0" marL="0">
              <a:buNone/>
            </a:pPr>
            <a:r>
              <a:rPr lang="en-US" sz="1300" b="1" dirty="0">
                <a:solidFill>
                  <a:srgbClr val="2B3A55"/>
                </a:solidFill>
                <a:latin typeface="Calibri" pitchFamily="34" charset="0"/>
                <a:ea typeface="Calibri" pitchFamily="34" charset="-122"/>
                <a:cs typeface="Calibri" pitchFamily="34" charset="-120"/>
              </a:rPr>
              <a:t>articles pulled</a:t>
            </a:r>
            <a:endParaRPr lang="en-US" sz="1300" dirty="0"/>
          </a:p>
        </p:txBody>
      </p:sp>
      <p:sp>
        <p:nvSpPr>
          <p:cNvPr id="6" name="Text 4"/>
          <p:cNvSpPr/>
          <p:nvPr/>
        </p:nvSpPr>
        <p:spPr>
          <a:xfrm>
            <a:off x="868680" y="2377440"/>
            <a:ext cx="2880360" cy="603504"/>
          </a:xfrm>
          <a:prstGeom prst="rect">
            <a:avLst/>
          </a:prstGeom>
          <a:noFill/>
          <a:ln/>
        </p:spPr>
        <p:txBody>
          <a:bodyPr wrap="square" lIns="0" tIns="0" rIns="0" bIns="0" rtlCol="0" anchor="t"/>
          <a:lstStyle/>
          <a:p>
            <a:pPr indent="0" marL="0">
              <a:lnSpc>
                <a:spcPct val="108000"/>
              </a:lnSpc>
              <a:buNone/>
            </a:pPr>
            <a:r>
              <a:rPr lang="en-US" sz="1050" dirty="0">
                <a:solidFill>
                  <a:srgbClr val="6B7280"/>
                </a:solidFill>
                <a:latin typeface="Calibri" pitchFamily="34" charset="0"/>
                <a:ea typeface="Calibri" pitchFamily="34" charset="-122"/>
                <a:cs typeface="Calibri" pitchFamily="34" charset="-120"/>
              </a:rPr>
              <a:t>LexisNexis, 21 Bay Area outlets, Jan 2019 - Dec 2024</a:t>
            </a:r>
            <a:endParaRPr lang="en-US" sz="1050" dirty="0"/>
          </a:p>
        </p:txBody>
      </p:sp>
      <p:sp>
        <p:nvSpPr>
          <p:cNvPr id="7" name="Text 5"/>
          <p:cNvSpPr/>
          <p:nvPr/>
        </p:nvSpPr>
        <p:spPr>
          <a:xfrm>
            <a:off x="4050792" y="1325880"/>
            <a:ext cx="457200" cy="1783080"/>
          </a:xfrm>
          <a:prstGeom prst="rect">
            <a:avLst/>
          </a:prstGeom>
          <a:noFill/>
          <a:ln/>
        </p:spPr>
        <p:txBody>
          <a:bodyPr wrap="square" lIns="0" tIns="0" rIns="0" bIns="0" rtlCol="0" anchor="ctr"/>
          <a:lstStyle/>
          <a:p>
            <a:pPr algn="ctr" indent="0" marL="0">
              <a:buNone/>
            </a:pPr>
            <a:r>
              <a:rPr lang="en-US" sz="2600" b="1" dirty="0">
                <a:solidFill>
                  <a:srgbClr val="9AA1AE"/>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4507992" y="1325880"/>
            <a:ext cx="3429000" cy="1783080"/>
          </a:xfrm>
          <a:prstGeom prst="roundRect">
            <a:avLst>
              <a:gd name="adj" fmla="val 3590"/>
            </a:avLst>
          </a:prstGeom>
          <a:solidFill>
            <a:srgbClr val="F4F5F7"/>
          </a:solidFill>
          <a:ln/>
          <a:effectLst>
            <a:outerShdw sx="100000" sy="100000" kx="0" ky="0" algn="bl" rotWithShape="0" blurRad="101600" dist="25400" dir="5400000">
              <a:srgbClr val="9AA1AE">
                <a:alpha val="22000"/>
              </a:srgbClr>
            </a:outerShdw>
          </a:effectLst>
        </p:spPr>
      </p:sp>
      <p:sp>
        <p:nvSpPr>
          <p:cNvPr id="9" name="Text 7"/>
          <p:cNvSpPr/>
          <p:nvPr/>
        </p:nvSpPr>
        <p:spPr>
          <a:xfrm>
            <a:off x="4782312" y="1463040"/>
            <a:ext cx="2880360" cy="658368"/>
          </a:xfrm>
          <a:prstGeom prst="rect">
            <a:avLst/>
          </a:prstGeom>
          <a:noFill/>
          <a:ln/>
        </p:spPr>
        <p:txBody>
          <a:bodyPr wrap="square" lIns="0" tIns="0" rIns="0" bIns="0" rtlCol="0" anchor="ctr"/>
          <a:lstStyle/>
          <a:p>
            <a:pPr indent="0" marL="0">
              <a:buNone/>
            </a:pPr>
            <a:r>
              <a:rPr lang="en-US" sz="3800" b="1" dirty="0">
                <a:solidFill>
                  <a:srgbClr val="2B3A55"/>
                </a:solidFill>
                <a:latin typeface="Cambria" pitchFamily="34" charset="0"/>
                <a:ea typeface="Cambria" pitchFamily="34" charset="-122"/>
                <a:cs typeface="Cambria" pitchFamily="34" charset="-120"/>
              </a:rPr>
              <a:t>107,713</a:t>
            </a:r>
            <a:endParaRPr lang="en-US" sz="3800" dirty="0"/>
          </a:p>
        </p:txBody>
      </p:sp>
      <p:sp>
        <p:nvSpPr>
          <p:cNvPr id="10" name="Text 8"/>
          <p:cNvSpPr/>
          <p:nvPr/>
        </p:nvSpPr>
        <p:spPr>
          <a:xfrm>
            <a:off x="4782312" y="2121408"/>
            <a:ext cx="2880360" cy="256032"/>
          </a:xfrm>
          <a:prstGeom prst="rect">
            <a:avLst/>
          </a:prstGeom>
          <a:noFill/>
          <a:ln/>
        </p:spPr>
        <p:txBody>
          <a:bodyPr wrap="square" lIns="0" tIns="0" rIns="0" bIns="0" rtlCol="0" anchor="ctr"/>
          <a:lstStyle/>
          <a:p>
            <a:pPr indent="0" marL="0">
              <a:buNone/>
            </a:pPr>
            <a:r>
              <a:rPr lang="en-US" sz="1300" b="1" dirty="0">
                <a:solidFill>
                  <a:srgbClr val="2B3A55"/>
                </a:solidFill>
                <a:latin typeface="Calibri" pitchFamily="34" charset="0"/>
                <a:ea typeface="Calibri" pitchFamily="34" charset="-122"/>
                <a:cs typeface="Calibri" pitchFamily="34" charset="-120"/>
              </a:rPr>
              <a:t>crime and justice</a:t>
            </a:r>
            <a:endParaRPr lang="en-US" sz="1300" dirty="0"/>
          </a:p>
        </p:txBody>
      </p:sp>
      <p:sp>
        <p:nvSpPr>
          <p:cNvPr id="11" name="Text 9"/>
          <p:cNvSpPr/>
          <p:nvPr/>
        </p:nvSpPr>
        <p:spPr>
          <a:xfrm>
            <a:off x="4782312" y="2377440"/>
            <a:ext cx="2880360" cy="603504"/>
          </a:xfrm>
          <a:prstGeom prst="rect">
            <a:avLst/>
          </a:prstGeom>
          <a:noFill/>
          <a:ln/>
        </p:spPr>
        <p:txBody>
          <a:bodyPr wrap="square" lIns="0" tIns="0" rIns="0" bIns="0" rtlCol="0" anchor="t"/>
          <a:lstStyle/>
          <a:p>
            <a:pPr indent="0" marL="0">
              <a:lnSpc>
                <a:spcPct val="108000"/>
              </a:lnSpc>
              <a:buNone/>
            </a:pPr>
            <a:r>
              <a:rPr lang="en-US" sz="1050" dirty="0">
                <a:solidFill>
                  <a:srgbClr val="6B7280"/>
                </a:solidFill>
                <a:latin typeface="Calibri" pitchFamily="34" charset="0"/>
                <a:ea typeface="Calibri" pitchFamily="34" charset="-122"/>
                <a:cs typeface="Calibri" pitchFamily="34" charset="-120"/>
              </a:rPr>
              <a:t>keyword pre-filter, then a zero-shot topic classifier</a:t>
            </a:r>
            <a:endParaRPr lang="en-US" sz="1050" dirty="0"/>
          </a:p>
        </p:txBody>
      </p:sp>
      <p:sp>
        <p:nvSpPr>
          <p:cNvPr id="12" name="Text 10"/>
          <p:cNvSpPr/>
          <p:nvPr/>
        </p:nvSpPr>
        <p:spPr>
          <a:xfrm>
            <a:off x="7964424" y="1325880"/>
            <a:ext cx="457200" cy="1783080"/>
          </a:xfrm>
          <a:prstGeom prst="rect">
            <a:avLst/>
          </a:prstGeom>
          <a:noFill/>
          <a:ln/>
        </p:spPr>
        <p:txBody>
          <a:bodyPr wrap="square" lIns="0" tIns="0" rIns="0" bIns="0" rtlCol="0" anchor="ctr"/>
          <a:lstStyle/>
          <a:p>
            <a:pPr algn="ctr" indent="0" marL="0">
              <a:buNone/>
            </a:pPr>
            <a:r>
              <a:rPr lang="en-US" sz="2600" b="1" dirty="0">
                <a:solidFill>
                  <a:srgbClr val="9AA1AE"/>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8421624" y="1325880"/>
            <a:ext cx="3429000" cy="1783080"/>
          </a:xfrm>
          <a:prstGeom prst="roundRect">
            <a:avLst>
              <a:gd name="adj" fmla="val 3590"/>
            </a:avLst>
          </a:prstGeom>
          <a:solidFill>
            <a:srgbClr val="F4F5F7"/>
          </a:solidFill>
          <a:ln/>
          <a:effectLst>
            <a:outerShdw sx="100000" sy="100000" kx="0" ky="0" algn="bl" rotWithShape="0" blurRad="101600" dist="25400" dir="5400000">
              <a:srgbClr val="9AA1AE">
                <a:alpha val="22000"/>
              </a:srgbClr>
            </a:outerShdw>
          </a:effectLst>
        </p:spPr>
      </p:sp>
      <p:sp>
        <p:nvSpPr>
          <p:cNvPr id="14" name="Text 12"/>
          <p:cNvSpPr/>
          <p:nvPr/>
        </p:nvSpPr>
        <p:spPr>
          <a:xfrm>
            <a:off x="8695944" y="1463040"/>
            <a:ext cx="2880360" cy="658368"/>
          </a:xfrm>
          <a:prstGeom prst="rect">
            <a:avLst/>
          </a:prstGeom>
          <a:noFill/>
          <a:ln/>
        </p:spPr>
        <p:txBody>
          <a:bodyPr wrap="square" lIns="0" tIns="0" rIns="0" bIns="0" rtlCol="0" anchor="ctr"/>
          <a:lstStyle/>
          <a:p>
            <a:pPr indent="0" marL="0">
              <a:buNone/>
            </a:pPr>
            <a:r>
              <a:rPr lang="en-US" sz="3800" b="1" dirty="0">
                <a:solidFill>
                  <a:srgbClr val="A31621"/>
                </a:solidFill>
                <a:latin typeface="Cambria" pitchFamily="34" charset="0"/>
                <a:ea typeface="Cambria" pitchFamily="34" charset="-122"/>
                <a:cs typeface="Cambria" pitchFamily="34" charset="-120"/>
              </a:rPr>
              <a:t>12,827</a:t>
            </a:r>
            <a:endParaRPr lang="en-US" sz="3800" dirty="0"/>
          </a:p>
        </p:txBody>
      </p:sp>
      <p:sp>
        <p:nvSpPr>
          <p:cNvPr id="15" name="Text 13"/>
          <p:cNvSpPr/>
          <p:nvPr/>
        </p:nvSpPr>
        <p:spPr>
          <a:xfrm>
            <a:off x="8695944" y="2121408"/>
            <a:ext cx="2880360" cy="256032"/>
          </a:xfrm>
          <a:prstGeom prst="rect">
            <a:avLst/>
          </a:prstGeom>
          <a:noFill/>
          <a:ln/>
        </p:spPr>
        <p:txBody>
          <a:bodyPr wrap="square" lIns="0" tIns="0" rIns="0" bIns="0" rtlCol="0" anchor="ctr"/>
          <a:lstStyle/>
          <a:p>
            <a:pPr indent="0" marL="0">
              <a:buNone/>
            </a:pPr>
            <a:r>
              <a:rPr lang="en-US" sz="1300" b="1" dirty="0">
                <a:solidFill>
                  <a:srgbClr val="2B3A55"/>
                </a:solidFill>
                <a:latin typeface="Calibri" pitchFamily="34" charset="0"/>
                <a:ea typeface="Calibri" pitchFamily="34" charset="-122"/>
                <a:cs typeface="Calibri" pitchFamily="34" charset="-120"/>
              </a:rPr>
              <a:t>attributed to a DA</a:t>
            </a:r>
            <a:endParaRPr lang="en-US" sz="1300" dirty="0"/>
          </a:p>
        </p:txBody>
      </p:sp>
      <p:sp>
        <p:nvSpPr>
          <p:cNvPr id="16" name="Text 14"/>
          <p:cNvSpPr/>
          <p:nvPr/>
        </p:nvSpPr>
        <p:spPr>
          <a:xfrm>
            <a:off x="8695944" y="2377440"/>
            <a:ext cx="2880360" cy="603504"/>
          </a:xfrm>
          <a:prstGeom prst="rect">
            <a:avLst/>
          </a:prstGeom>
          <a:noFill/>
          <a:ln/>
        </p:spPr>
        <p:txBody>
          <a:bodyPr wrap="square" lIns="0" tIns="0" rIns="0" bIns="0" rtlCol="0" anchor="t"/>
          <a:lstStyle/>
          <a:p>
            <a:pPr indent="0" marL="0">
              <a:lnSpc>
                <a:spcPct val="108000"/>
              </a:lnSpc>
              <a:buNone/>
            </a:pPr>
            <a:r>
              <a:rPr lang="en-US" sz="1050" dirty="0">
                <a:solidFill>
                  <a:srgbClr val="6B7280"/>
                </a:solidFill>
                <a:latin typeface="Calibri" pitchFamily="34" charset="0"/>
                <a:ea typeface="Calibri" pitchFamily="34" charset="-122"/>
                <a:cs typeface="Calibri" pitchFamily="34" charset="-120"/>
              </a:rPr>
              <a:t>regex name matching with disambiguation and a time filter</a:t>
            </a:r>
            <a:endParaRPr lang="en-US" sz="1050" dirty="0"/>
          </a:p>
        </p:txBody>
      </p:sp>
      <p:sp>
        <p:nvSpPr>
          <p:cNvPr id="17" name="Text 15"/>
          <p:cNvSpPr/>
          <p:nvPr/>
        </p:nvSpPr>
        <p:spPr>
          <a:xfrm>
            <a:off x="594360" y="3291840"/>
            <a:ext cx="6675120" cy="320040"/>
          </a:xfrm>
          <a:prstGeom prst="rect">
            <a:avLst/>
          </a:prstGeom>
          <a:noFill/>
          <a:ln/>
        </p:spPr>
        <p:txBody>
          <a:bodyPr wrap="square" lIns="0" tIns="0" rIns="0" bIns="0" rtlCol="0" anchor="ctr"/>
          <a:lstStyle/>
          <a:p>
            <a:pPr indent="0" marL="0">
              <a:buNone/>
            </a:pPr>
            <a:r>
              <a:rPr lang="en-US" sz="1400" b="1" dirty="0">
                <a:solidFill>
                  <a:srgbClr val="2B3A55"/>
                </a:solidFill>
                <a:latin typeface="Calibri" pitchFamily="34" charset="0"/>
                <a:ea typeface="Calibri" pitchFamily="34" charset="-122"/>
                <a:cs typeface="Calibri" pitchFamily="34" charset="-120"/>
              </a:rPr>
              <a:t>Who the articles are about</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3657600"/>
          <a:ext cx="6675120" cy="914400"/>
        </p:xfrm>
        <a:graphic>
          <a:graphicData uri="http://schemas.openxmlformats.org/drawingml/2006/table">
            <a:tbl>
              <a:tblPr/>
              <a:tblGrid>
                <a:gridCol w="2194560"/>
                <a:gridCol w="1691640"/>
                <a:gridCol w="1600200"/>
                <a:gridCol w="11887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Prosecutor</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2B3A5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County</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2B3A55"/>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Orientation</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2B3A5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Articles</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2B3A55"/>
                    </a:solidFill>
                  </a:tcPr>
                </a:tc>
              </a:tr>
              <a:tr h="310896">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Chesa Boudin</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San Francisco</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Progressive</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F4757"/>
                          </a:solidFill>
                          <a:latin typeface="Calibri" pitchFamily="34" charset="0"/>
                          <a:ea typeface="Calibri" pitchFamily="34" charset="-122"/>
                          <a:cs typeface="Calibri" pitchFamily="34" charset="-120"/>
                        </a:rPr>
                        <a:t>5,783</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Brooke Jenkins</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San Francisco</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Traditional</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F4757"/>
                          </a:solidFill>
                          <a:latin typeface="Calibri" pitchFamily="34" charset="0"/>
                          <a:ea typeface="Calibri" pitchFamily="34" charset="-122"/>
                          <a:cs typeface="Calibri" pitchFamily="34" charset="-120"/>
                        </a:rPr>
                        <a:t>3,097</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Nancy O'Malley</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Alameda</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Traditional</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F4757"/>
                          </a:solidFill>
                          <a:latin typeface="Calibri" pitchFamily="34" charset="0"/>
                          <a:ea typeface="Calibri" pitchFamily="34" charset="-122"/>
                          <a:cs typeface="Calibri" pitchFamily="34" charset="-120"/>
                        </a:rPr>
                        <a:t>1,497</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Pamela Price</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Alameda</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Progressive</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F4757"/>
                          </a:solidFill>
                          <a:latin typeface="Calibri" pitchFamily="34" charset="0"/>
                          <a:ea typeface="Calibri" pitchFamily="34" charset="-122"/>
                          <a:cs typeface="Calibri" pitchFamily="34" charset="-120"/>
                        </a:rPr>
                        <a:t>802</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Steve Wagstaffe</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San Mateo</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indent="0" marL="0">
                        <a:buNone/>
                      </a:pPr>
                      <a:r>
                        <a:rPr lang="en-US" sz="1200" dirty="0">
                          <a:solidFill>
                            <a:srgbClr val="3F4757"/>
                          </a:solidFill>
                          <a:latin typeface="Calibri" pitchFamily="34" charset="0"/>
                          <a:ea typeface="Calibri" pitchFamily="34" charset="-122"/>
                          <a:cs typeface="Calibri" pitchFamily="34" charset="-120"/>
                        </a:rPr>
                        <a:t>Traditional</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3F4757"/>
                          </a:solidFill>
                          <a:latin typeface="Calibri" pitchFamily="34" charset="0"/>
                          <a:ea typeface="Calibri" pitchFamily="34" charset="-122"/>
                          <a:cs typeface="Calibri" pitchFamily="34" charset="-120"/>
                        </a:rPr>
                        <a:t>1,648</a:t>
                      </a:r>
                      <a:endParaRPr lang="en-US" sz="1200" dirty="0">
                        <a:latin typeface="Calibri" charset="0"/>
                        <a:ea typeface="Calibri" charset="0"/>
                        <a:cs typeface="Calibri" charset="0"/>
                      </a:endParaRPr>
                    </a:p>
                  </a:txBody>
                  <a:tcPr marL="91440" marR="91440" marT="36576" marB="36576"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FFFFFF"/>
                    </a:solidFill>
                  </a:tcPr>
                </a:tc>
              </a:tr>
            </a:tbl>
          </a:graphicData>
        </a:graphic>
      </p:graphicFrame>
      <p:sp>
        <p:nvSpPr>
          <p:cNvPr id="19" name="Shape 16"/>
          <p:cNvSpPr/>
          <p:nvPr/>
        </p:nvSpPr>
        <p:spPr>
          <a:xfrm>
            <a:off x="7635240" y="3291840"/>
            <a:ext cx="3977640" cy="2560320"/>
          </a:xfrm>
          <a:prstGeom prst="roundRect">
            <a:avLst>
              <a:gd name="adj" fmla="val 2500"/>
            </a:avLst>
          </a:prstGeom>
          <a:solidFill>
            <a:srgbClr val="F6E9EA"/>
          </a:solidFill>
          <a:ln/>
          <a:effectLst>
            <a:outerShdw sx="100000" sy="100000" kx="0" ky="0" algn="bl" rotWithShape="0" blurRad="101600" dist="25400" dir="5400000">
              <a:srgbClr val="9AA1AE">
                <a:alpha val="22000"/>
              </a:srgbClr>
            </a:outerShdw>
          </a:effectLst>
        </p:spPr>
      </p:sp>
      <p:sp>
        <p:nvSpPr>
          <p:cNvPr id="20" name="Shape 17"/>
          <p:cNvSpPr/>
          <p:nvPr/>
        </p:nvSpPr>
        <p:spPr>
          <a:xfrm>
            <a:off x="7955280" y="3566160"/>
            <a:ext cx="384048" cy="384048"/>
          </a:xfrm>
          <a:prstGeom prst="ellipse">
            <a:avLst/>
          </a:prstGeom>
          <a:solidFill>
            <a:srgbClr val="A31621"/>
          </a:solidFill>
          <a:ln/>
        </p:spPr>
      </p:sp>
      <p:sp>
        <p:nvSpPr>
          <p:cNvPr id="21" name="Text 18"/>
          <p:cNvSpPr/>
          <p:nvPr/>
        </p:nvSpPr>
        <p:spPr>
          <a:xfrm>
            <a:off x="7955280" y="3566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19"/>
          <p:cNvSpPr/>
          <p:nvPr/>
        </p:nvSpPr>
        <p:spPr>
          <a:xfrm>
            <a:off x="7955280" y="4069080"/>
            <a:ext cx="3337560" cy="320040"/>
          </a:xfrm>
          <a:prstGeom prst="rect">
            <a:avLst/>
          </a:prstGeom>
          <a:noFill/>
          <a:ln/>
        </p:spPr>
        <p:txBody>
          <a:bodyPr wrap="square" lIns="0" tIns="0" rIns="0" bIns="0" rtlCol="0" anchor="ctr"/>
          <a:lstStyle/>
          <a:p>
            <a:pPr indent="0" marL="0">
              <a:buNone/>
            </a:pPr>
            <a:r>
              <a:rPr lang="en-US" sz="1500" b="1" dirty="0">
                <a:solidFill>
                  <a:srgbClr val="6D1119"/>
                </a:solidFill>
                <a:latin typeface="Calibri" pitchFamily="34" charset="0"/>
                <a:ea typeface="Calibri" pitchFamily="34" charset="-122"/>
                <a:cs typeface="Calibri" pitchFamily="34" charset="-120"/>
              </a:rPr>
              <a:t>Attribution is the hard part</a:t>
            </a:r>
            <a:endParaRPr lang="en-US" sz="1500" dirty="0"/>
          </a:p>
        </p:txBody>
      </p:sp>
      <p:sp>
        <p:nvSpPr>
          <p:cNvPr id="23" name="Text 20"/>
          <p:cNvSpPr/>
          <p:nvPr/>
        </p:nvSpPr>
        <p:spPr>
          <a:xfrm>
            <a:off x="7955280" y="4434840"/>
            <a:ext cx="3337560" cy="1280160"/>
          </a:xfrm>
          <a:prstGeom prst="rect">
            <a:avLst/>
          </a:prstGeom>
          <a:noFill/>
          <a:ln/>
        </p:spPr>
        <p:txBody>
          <a:bodyPr wrap="square" lIns="0" tIns="0" rIns="0" bIns="0" rtlCol="0" anchor="t"/>
          <a:lstStyle/>
          <a:p>
            <a:pPr indent="0" marL="0">
              <a:lnSpc>
                <a:spcPct val="112000"/>
              </a:lnSpc>
              <a:buNone/>
            </a:pPr>
            <a:r>
              <a:rPr lang="en-US" sz="1200" dirty="0">
                <a:solidFill>
                  <a:srgbClr val="6D1119"/>
                </a:solidFill>
                <a:latin typeface="Calibri" pitchFamily="34" charset="0"/>
                <a:ea typeface="Calibri" pitchFamily="34" charset="-122"/>
                <a:cs typeface="Calibri" pitchFamily="34" charset="-120"/>
              </a:rPr>
              <a:t>Requiring a first name or a title near every surname match removed 126 false positives and reassigned 26 articles — pieces about other people named Jenkins or Price. That one fix erased one of our headline results.</a:t>
            </a:r>
            <a:endParaRPr lang="en-US" sz="1200" dirty="0"/>
          </a:p>
        </p:txBody>
      </p:sp>
      <p:sp>
        <p:nvSpPr>
          <p:cNvPr id="24" name="Text 21"/>
          <p:cNvSpPr/>
          <p:nvPr/>
        </p:nvSpPr>
        <p:spPr>
          <a:xfrm>
            <a:off x="594360" y="6355080"/>
            <a:ext cx="1097280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Counts from output/06_stats_results.json. Progressive 6,585 / Traditional 6,242.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Bias is not one thing</a:t>
            </a:r>
            <a:endParaRPr lang="en-US" sz="3400" dirty="0"/>
          </a:p>
        </p:txBody>
      </p:sp>
      <p:pic>
        <p:nvPicPr>
          <p:cNvPr id="3" name="Image 0" descr="C:\Users\dviry\AppData\Local\Temp\claude\G--My-Drive-Papers-and-ClassReading-Berkeley-postdoc-media-media-bias-python\25b9c88b-7822-4300-9b08-389123fdd540\scratchpad\deck\img\forest.png">    </p:cNvPr>
          <p:cNvPicPr>
            <a:picLocks noChangeAspect="1"/>
          </p:cNvPicPr>
          <p:nvPr/>
        </p:nvPicPr>
        <p:blipFill>
          <a:blip r:embed="rId1"/>
          <a:stretch>
            <a:fillRect/>
          </a:stretch>
        </p:blipFill>
        <p:spPr>
          <a:xfrm>
            <a:off x="502920" y="1234440"/>
            <a:ext cx="6675120" cy="3739896"/>
          </a:xfrm>
          <a:prstGeom prst="rect">
            <a:avLst/>
          </a:prstGeom>
        </p:spPr>
      </p:pic>
      <p:sp>
        <p:nvSpPr>
          <p:cNvPr id="4" name="Text 1"/>
          <p:cNvSpPr/>
          <p:nvPr/>
        </p:nvSpPr>
        <p:spPr>
          <a:xfrm>
            <a:off x="502920" y="5029200"/>
            <a:ext cx="667512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Each row is the same corpus, a different instrument. Green band = negligible.</a:t>
            </a:r>
            <a:endParaRPr lang="en-US" sz="1050" dirty="0"/>
          </a:p>
        </p:txBody>
      </p:sp>
      <p:sp>
        <p:nvSpPr>
          <p:cNvPr id="5" name="Text 2"/>
          <p:cNvSpPr/>
          <p:nvPr/>
        </p:nvSpPr>
        <p:spPr>
          <a:xfrm>
            <a:off x="7406640" y="1234440"/>
            <a:ext cx="4206240" cy="685800"/>
          </a:xfrm>
          <a:prstGeom prst="rect">
            <a:avLst/>
          </a:prstGeom>
          <a:noFill/>
          <a:ln/>
        </p:spPr>
        <p:txBody>
          <a:bodyPr wrap="square" lIns="0" tIns="0" rIns="0" bIns="0" rtlCol="0" anchor="t"/>
          <a:lstStyle/>
          <a:p>
            <a:pPr indent="0" marL="0">
              <a:lnSpc>
                <a:spcPct val="108000"/>
              </a:lnSpc>
              <a:buNone/>
            </a:pPr>
            <a:r>
              <a:rPr lang="en-US" sz="1650" b="1" dirty="0">
                <a:solidFill>
                  <a:srgbClr val="2B3A55"/>
                </a:solidFill>
                <a:latin typeface="Calibri" pitchFamily="34" charset="0"/>
                <a:ea typeface="Calibri" pitchFamily="34" charset="-122"/>
                <a:cs typeface="Calibri" pitchFamily="34" charset="-120"/>
              </a:rPr>
              <a:t>Four defensible measures, three different answers</a:t>
            </a:r>
            <a:endParaRPr lang="en-US" sz="1650" dirty="0"/>
          </a:p>
        </p:txBody>
      </p:sp>
      <p:sp>
        <p:nvSpPr>
          <p:cNvPr id="6" name="Text 3"/>
          <p:cNvSpPr/>
          <p:nvPr/>
        </p:nvSpPr>
        <p:spPr>
          <a:xfrm>
            <a:off x="7406640" y="2011680"/>
            <a:ext cx="4206240" cy="2651760"/>
          </a:xfrm>
          <a:prstGeom prst="rect">
            <a:avLst/>
          </a:prstGeom>
          <a:noFill/>
          <a:ln/>
        </p:spPr>
        <p:txBody>
          <a:bodyPr wrap="square" lIns="0" tIns="0" rIns="0" bIns="0" rtlCol="0" anchor="t"/>
          <a:lstStyle/>
          <a:p>
            <a:pPr indent="0" marL="0">
              <a:lnSpc>
                <a:spcPct val="105000"/>
              </a:lnSpc>
              <a:buNone/>
            </a:pPr>
            <a:r>
              <a:rPr lang="en-US" sz="1300" b="1" dirty="0">
                <a:solidFill>
                  <a:srgbClr val="3F4757"/>
                </a:solidFill>
                <a:latin typeface="Calibri" pitchFamily="34" charset="0"/>
                <a:ea typeface="Calibri" pitchFamily="34" charset="-122"/>
                <a:cs typeface="Calibri" pitchFamily="34" charset="-120"/>
              </a:rPr>
              <a:t>Stance classification</a:t>
            </a:r>
            <a:pPr indent="0" marL="0">
              <a:lnSpc>
                <a:spcPct val="105000"/>
              </a:lnSpc>
              <a:buNone/>
            </a:pPr>
            <a:r>
              <a:rPr lang="en-US" sz="1300" b="1" dirty="0">
                <a:solidFill>
                  <a:srgbClr val="A31621"/>
                </a:solidFill>
                <a:latin typeface="Calibri" pitchFamily="34" charset="0"/>
                <a:ea typeface="Calibri" pitchFamily="34" charset="-122"/>
                <a:cs typeface="Calibri" pitchFamily="34" charset="-120"/>
              </a:rPr>
              <a:t>  d = -0.34</a:t>
            </a:r>
            <a:endParaRPr lang="en-US" sz="1300" dirty="0"/>
          </a:p>
          <a:p>
            <a:pPr indent="0" marL="0">
              <a:lnSpc>
                <a:spcPct val="105000"/>
              </a:lnSpc>
              <a:spcAft>
                <a:spcPts val="800"/>
              </a:spcAft>
              <a:buNone/>
            </a:pPr>
            <a:r>
              <a:rPr lang="en-US" sz="1150" dirty="0">
                <a:solidFill>
                  <a:srgbClr val="6B7280"/>
                </a:solidFill>
                <a:latin typeface="Calibri" pitchFamily="34" charset="0"/>
                <a:ea typeface="Calibri" pitchFamily="34" charset="-122"/>
                <a:cs typeface="Calibri" pitchFamily="34" charset="-120"/>
              </a:rPr>
              <a:t>Critical coverage of reform DAs. Survives every control.</a:t>
            </a:r>
            <a:endParaRPr lang="en-US" sz="1300" dirty="0"/>
          </a:p>
          <a:p>
            <a:pPr indent="0" marL="0">
              <a:lnSpc>
                <a:spcPct val="105000"/>
              </a:lnSpc>
              <a:buNone/>
            </a:pPr>
            <a:r>
              <a:rPr lang="en-US" sz="1300" b="1" dirty="0">
                <a:solidFill>
                  <a:srgbClr val="3F4757"/>
                </a:solidFill>
                <a:latin typeface="Calibri" pitchFamily="34" charset="0"/>
                <a:ea typeface="Calibri" pitchFamily="34" charset="-122"/>
                <a:cs typeface="Calibri" pitchFamily="34" charset="-120"/>
              </a:rPr>
              <a:t>Keyword salience</a:t>
            </a:r>
            <a:pPr indent="0" marL="0">
              <a:lnSpc>
                <a:spcPct val="105000"/>
              </a:lnSpc>
              <a:buNone/>
            </a:pPr>
            <a:r>
              <a:rPr lang="en-US" sz="1300" b="1" dirty="0">
                <a:solidFill>
                  <a:srgbClr val="A31621"/>
                </a:solidFill>
                <a:latin typeface="Calibri" pitchFamily="34" charset="0"/>
                <a:ea typeface="Calibri" pitchFamily="34" charset="-122"/>
                <a:cs typeface="Calibri" pitchFamily="34" charset="-120"/>
              </a:rPr>
              <a:t>  d = -0.20</a:t>
            </a:r>
            <a:endParaRPr lang="en-US" sz="1300" dirty="0"/>
          </a:p>
          <a:p>
            <a:pPr indent="0" marL="0">
              <a:lnSpc>
                <a:spcPct val="105000"/>
              </a:lnSpc>
              <a:spcAft>
                <a:spcPts val="800"/>
              </a:spcAft>
              <a:buNone/>
            </a:pPr>
            <a:r>
              <a:rPr lang="en-US" sz="1150" dirty="0">
                <a:solidFill>
                  <a:srgbClr val="6B7280"/>
                </a:solidFill>
                <a:latin typeface="Calibri" pitchFamily="34" charset="0"/>
                <a:ea typeface="Calibri" pitchFamily="34" charset="-122"/>
                <a:cs typeface="Calibri" pitchFamily="34" charset="-120"/>
              </a:rPr>
              <a:t>Anti-prosecutor themes near the DA's name.</a:t>
            </a:r>
            <a:endParaRPr lang="en-US" sz="1300" dirty="0"/>
          </a:p>
          <a:p>
            <a:pPr indent="0" marL="0">
              <a:lnSpc>
                <a:spcPct val="105000"/>
              </a:lnSpc>
              <a:buNone/>
            </a:pPr>
            <a:r>
              <a:rPr lang="en-US" sz="1300" b="1" dirty="0">
                <a:solidFill>
                  <a:srgbClr val="3F4757"/>
                </a:solidFill>
                <a:latin typeface="Calibri" pitchFamily="34" charset="0"/>
                <a:ea typeface="Calibri" pitchFamily="34" charset="-122"/>
                <a:cs typeface="Calibri" pitchFamily="34" charset="-120"/>
              </a:rPr>
              <a:t>Aspect + document tone</a:t>
            </a:r>
            <a:pPr indent="0" marL="0">
              <a:lnSpc>
                <a:spcPct val="105000"/>
              </a:lnSpc>
              <a:buNone/>
            </a:pPr>
            <a:r>
              <a:rPr lang="en-US" sz="1300" b="1" dirty="0">
                <a:solidFill>
                  <a:srgbClr val="2B3A55"/>
                </a:solidFill>
                <a:latin typeface="Calibri" pitchFamily="34" charset="0"/>
                <a:ea typeface="Calibri" pitchFamily="34" charset="-122"/>
                <a:cs typeface="Calibri" pitchFamily="34" charset="-120"/>
              </a:rPr>
              <a:t>  d = +0.05</a:t>
            </a:r>
            <a:endParaRPr lang="en-US" sz="1300" dirty="0"/>
          </a:p>
          <a:p>
            <a:pPr indent="0" marL="0">
              <a:lnSpc>
                <a:spcPct val="105000"/>
              </a:lnSpc>
              <a:spcAft>
                <a:spcPts val="800"/>
              </a:spcAft>
              <a:buNone/>
            </a:pPr>
            <a:r>
              <a:rPr lang="en-US" sz="1150" dirty="0">
                <a:solidFill>
                  <a:srgbClr val="6B7280"/>
                </a:solidFill>
                <a:latin typeface="Calibri" pitchFamily="34" charset="0"/>
                <a:ea typeface="Calibri" pitchFamily="34" charset="-122"/>
                <a:cs typeface="Calibri" pitchFamily="34" charset="-120"/>
              </a:rPr>
              <a:t>Statistically equivalent to zero. Points the other way.</a:t>
            </a:r>
            <a:endParaRPr lang="en-US" sz="1300" dirty="0"/>
          </a:p>
          <a:p>
            <a:pPr indent="0" marL="0">
              <a:lnSpc>
                <a:spcPct val="105000"/>
              </a:lnSpc>
              <a:buNone/>
            </a:pPr>
            <a:r>
              <a:rPr lang="en-US" sz="1300" b="1" dirty="0">
                <a:solidFill>
                  <a:srgbClr val="3F4757"/>
                </a:solidFill>
                <a:latin typeface="Calibri" pitchFamily="34" charset="0"/>
                <a:ea typeface="Calibri" pitchFamily="34" charset="-122"/>
                <a:cs typeface="Calibri" pitchFamily="34" charset="-120"/>
              </a:rPr>
              <a:t>Attributed critical themes</a:t>
            </a:r>
            <a:pPr indent="0" marL="0">
              <a:lnSpc>
                <a:spcPct val="105000"/>
              </a:lnSpc>
              <a:buNone/>
            </a:pPr>
            <a:r>
              <a:rPr lang="en-US" sz="1300" b="1" dirty="0">
                <a:solidFill>
                  <a:srgbClr val="A31621"/>
                </a:solidFill>
                <a:latin typeface="Calibri" pitchFamily="34" charset="0"/>
                <a:ea typeface="Calibri" pitchFamily="34" charset="-122"/>
                <a:cs typeface="Calibri" pitchFamily="34" charset="-120"/>
              </a:rPr>
              <a:t>  |d| = 0.42</a:t>
            </a:r>
            <a:endParaRPr lang="en-US" sz="1300" dirty="0"/>
          </a:p>
          <a:p>
            <a:pPr indent="0" marL="0">
              <a:lnSpc>
                <a:spcPct val="105000"/>
              </a:lnSpc>
              <a:buNone/>
            </a:pPr>
            <a:r>
              <a:rPr lang="en-US" sz="1150" dirty="0">
                <a:solidFill>
                  <a:srgbClr val="6B7280"/>
                </a:solidFill>
                <a:latin typeface="Calibri" pitchFamily="34" charset="0"/>
                <a:ea typeface="Calibri" pitchFamily="34" charset="-122"/>
                <a:cs typeface="Calibri" pitchFamily="34" charset="-120"/>
              </a:rPr>
              <a:t>The largest single effect in the study.</a:t>
            </a:r>
            <a:endParaRPr lang="en-US" sz="1300" dirty="0"/>
          </a:p>
        </p:txBody>
      </p:sp>
      <p:sp>
        <p:nvSpPr>
          <p:cNvPr id="7" name="Shape 4"/>
          <p:cNvSpPr/>
          <p:nvPr/>
        </p:nvSpPr>
        <p:spPr>
          <a:xfrm>
            <a:off x="7406640" y="4114800"/>
            <a:ext cx="4206240" cy="1463040"/>
          </a:xfrm>
          <a:prstGeom prst="roundRect">
            <a:avLst>
              <a:gd name="adj" fmla="val 4375"/>
            </a:avLst>
          </a:prstGeom>
          <a:solidFill>
            <a:srgbClr val="F6E9EA"/>
          </a:solidFill>
          <a:ln/>
          <a:effectLst>
            <a:outerShdw sx="100000" sy="100000" kx="0" ky="0" algn="bl" rotWithShape="0" blurRad="101600" dist="25400" dir="5400000">
              <a:srgbClr val="9AA1AE">
                <a:alpha val="22000"/>
              </a:srgbClr>
            </a:outerShdw>
          </a:effectLst>
        </p:spPr>
      </p:sp>
      <p:sp>
        <p:nvSpPr>
          <p:cNvPr id="8" name="Text 5"/>
          <p:cNvSpPr/>
          <p:nvPr/>
        </p:nvSpPr>
        <p:spPr>
          <a:xfrm>
            <a:off x="7699248" y="4114800"/>
            <a:ext cx="3621024" cy="1463040"/>
          </a:xfrm>
          <a:prstGeom prst="rect">
            <a:avLst/>
          </a:prstGeom>
          <a:noFill/>
          <a:ln/>
        </p:spPr>
        <p:txBody>
          <a:bodyPr wrap="square" lIns="0" tIns="0" rIns="0" bIns="0" rtlCol="0" anchor="ctr"/>
          <a:lstStyle/>
          <a:p>
            <a:pPr indent="0" marL="0">
              <a:lnSpc>
                <a:spcPct val="112000"/>
              </a:lnSpc>
              <a:buNone/>
            </a:pPr>
            <a:r>
              <a:rPr lang="en-US" sz="1250" b="1" dirty="0">
                <a:solidFill>
                  <a:srgbClr val="6D1119"/>
                </a:solidFill>
                <a:latin typeface="Calibri" pitchFamily="34" charset="0"/>
                <a:ea typeface="Calibri" pitchFamily="34" charset="-122"/>
                <a:cs typeface="Calibri" pitchFamily="34" charset="-120"/>
              </a:rPr>
              <a:t>Composite d = -0.151, p &lt; .0001.</a:t>
            </a:r>
            <a:endParaRPr lang="en-US" sz="1250" dirty="0"/>
          </a:p>
          <a:p>
            <a:pPr indent="0" marL="0">
              <a:lnSpc>
                <a:spcPct val="112000"/>
              </a:lnSpc>
              <a:buNone/>
            </a:pPr>
            <a:r>
              <a:rPr lang="en-US" sz="1250" dirty="0">
                <a:solidFill>
                  <a:srgbClr val="6D1119"/>
                </a:solidFill>
                <a:latin typeface="Calibri" pitchFamily="34" charset="0"/>
                <a:ea typeface="Calibri" pitchFamily="34" charset="-122"/>
                <a:cs typeface="Calibri" pitchFamily="34" charset="-120"/>
              </a:rPr>
              <a:t>Drop the stance method and it becomes +0.025, p = 0.15 — a null. The index is carried by one instrument.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What the honest version of that slide looks like</a:t>
            </a:r>
            <a:endParaRPr lang="en-US" sz="3400" dirty="0"/>
          </a:p>
        </p:txBody>
      </p:sp>
      <p:sp>
        <p:nvSpPr>
          <p:cNvPr id="3" name="Shape 1"/>
          <p:cNvSpPr/>
          <p:nvPr/>
        </p:nvSpPr>
        <p:spPr>
          <a:xfrm>
            <a:off x="594360" y="1325880"/>
            <a:ext cx="3566160" cy="2880360"/>
          </a:xfrm>
          <a:prstGeom prst="roundRect">
            <a:avLst>
              <a:gd name="adj" fmla="val 2222"/>
            </a:avLst>
          </a:prstGeom>
          <a:solidFill>
            <a:srgbClr val="F4F5F7"/>
          </a:solidFill>
          <a:ln/>
          <a:effectLst>
            <a:outerShdw sx="100000" sy="100000" kx="0" ky="0" algn="bl" rotWithShape="0" blurRad="101600" dist="25400" dir="5400000">
              <a:srgbClr val="9AA1AE">
                <a:alpha val="22000"/>
              </a:srgbClr>
            </a:outerShdw>
          </a:effectLst>
        </p:spPr>
      </p:sp>
      <p:sp>
        <p:nvSpPr>
          <p:cNvPr id="4" name="Shape 2"/>
          <p:cNvSpPr/>
          <p:nvPr/>
        </p:nvSpPr>
        <p:spPr>
          <a:xfrm>
            <a:off x="886968" y="1572768"/>
            <a:ext cx="384048" cy="384048"/>
          </a:xfrm>
          <a:prstGeom prst="ellipse">
            <a:avLst/>
          </a:prstGeom>
          <a:solidFill>
            <a:srgbClr val="A31621"/>
          </a:solidFill>
          <a:ln/>
        </p:spPr>
      </p:sp>
      <p:sp>
        <p:nvSpPr>
          <p:cNvPr id="5" name="Text 3"/>
          <p:cNvSpPr/>
          <p:nvPr/>
        </p:nvSpPr>
        <p:spPr>
          <a:xfrm>
            <a:off x="886968"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886968" y="2066544"/>
            <a:ext cx="2980944" cy="548640"/>
          </a:xfrm>
          <a:prstGeom prst="rect">
            <a:avLst/>
          </a:prstGeom>
          <a:noFill/>
          <a:ln/>
        </p:spPr>
        <p:txBody>
          <a:bodyPr wrap="square" lIns="0" tIns="0" rIns="0" bIns="0" rtlCol="0" anchor="t"/>
          <a:lstStyle/>
          <a:p>
            <a:pPr indent="0" marL="0">
              <a:lnSpc>
                <a:spcPct val="105000"/>
              </a:lnSpc>
              <a:buNone/>
            </a:pPr>
            <a:r>
              <a:rPr lang="en-US" sz="1600" b="1" dirty="0">
                <a:solidFill>
                  <a:srgbClr val="2B3A55"/>
                </a:solidFill>
                <a:latin typeface="Calibri" pitchFamily="34" charset="0"/>
                <a:ea typeface="Calibri" pitchFamily="34" charset="-122"/>
                <a:cs typeface="Calibri" pitchFamily="34" charset="-120"/>
              </a:rPr>
              <a:t>The index is fragile</a:t>
            </a:r>
            <a:endParaRPr lang="en-US" sz="1600" dirty="0"/>
          </a:p>
        </p:txBody>
      </p:sp>
      <p:sp>
        <p:nvSpPr>
          <p:cNvPr id="7" name="Text 5"/>
          <p:cNvSpPr/>
          <p:nvPr/>
        </p:nvSpPr>
        <p:spPr>
          <a:xfrm>
            <a:off x="886968" y="2670048"/>
            <a:ext cx="2980944" cy="1325880"/>
          </a:xfrm>
          <a:prstGeom prst="rect">
            <a:avLst/>
          </a:prstGeom>
          <a:noFill/>
          <a:ln/>
        </p:spPr>
        <p:txBody>
          <a:bodyPr wrap="square" lIns="0" tIns="0" rIns="0" bIns="0" rtlCol="0" anchor="t"/>
          <a:lstStyle/>
          <a:p>
            <a:pPr indent="0" marL="0">
              <a:lnSpc>
                <a:spcPct val="114000"/>
              </a:lnSpc>
              <a:buNone/>
            </a:pPr>
            <a:r>
              <a:rPr lang="en-US" sz="1250" dirty="0">
                <a:solidFill>
                  <a:srgbClr val="3F4757"/>
                </a:solidFill>
                <a:latin typeface="Calibri" pitchFamily="34" charset="0"/>
                <a:ea typeface="Calibri" pitchFamily="34" charset="-122"/>
                <a:cs typeface="Calibri" pitchFamily="34" charset="-120"/>
              </a:rPr>
              <a:t>Remove one of four methods and the headline difference disappears (d = +0.025, p = 0.15). We report the decomposition, not the composite alone.</a:t>
            </a:r>
            <a:endParaRPr lang="en-US" sz="1250" dirty="0"/>
          </a:p>
        </p:txBody>
      </p:sp>
      <p:sp>
        <p:nvSpPr>
          <p:cNvPr id="8" name="Shape 6"/>
          <p:cNvSpPr/>
          <p:nvPr/>
        </p:nvSpPr>
        <p:spPr>
          <a:xfrm>
            <a:off x="4370832" y="1325880"/>
            <a:ext cx="3566160" cy="2880360"/>
          </a:xfrm>
          <a:prstGeom prst="roundRect">
            <a:avLst>
              <a:gd name="adj" fmla="val 2222"/>
            </a:avLst>
          </a:prstGeom>
          <a:solidFill>
            <a:srgbClr val="F4F5F7"/>
          </a:solidFill>
          <a:ln/>
          <a:effectLst>
            <a:outerShdw sx="100000" sy="100000" kx="0" ky="0" algn="bl" rotWithShape="0" blurRad="101600" dist="25400" dir="5400000">
              <a:srgbClr val="9AA1AE">
                <a:alpha val="22000"/>
              </a:srgbClr>
            </a:outerShdw>
          </a:effectLst>
        </p:spPr>
      </p:sp>
      <p:sp>
        <p:nvSpPr>
          <p:cNvPr id="9" name="Shape 7"/>
          <p:cNvSpPr/>
          <p:nvPr/>
        </p:nvSpPr>
        <p:spPr>
          <a:xfrm>
            <a:off x="4663440" y="1572768"/>
            <a:ext cx="384048" cy="384048"/>
          </a:xfrm>
          <a:prstGeom prst="ellipse">
            <a:avLst/>
          </a:prstGeom>
          <a:solidFill>
            <a:srgbClr val="A31621"/>
          </a:solidFill>
          <a:ln/>
        </p:spPr>
      </p:sp>
      <p:sp>
        <p:nvSpPr>
          <p:cNvPr id="10" name="Text 8"/>
          <p:cNvSpPr/>
          <p:nvPr/>
        </p:nvSpPr>
        <p:spPr>
          <a:xfrm>
            <a:off x="4663440"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663440" y="2066544"/>
            <a:ext cx="2980944" cy="548640"/>
          </a:xfrm>
          <a:prstGeom prst="rect">
            <a:avLst/>
          </a:prstGeom>
          <a:noFill/>
          <a:ln/>
        </p:spPr>
        <p:txBody>
          <a:bodyPr wrap="square" lIns="0" tIns="0" rIns="0" bIns="0" rtlCol="0" anchor="t"/>
          <a:lstStyle/>
          <a:p>
            <a:pPr indent="0" marL="0">
              <a:lnSpc>
                <a:spcPct val="105000"/>
              </a:lnSpc>
              <a:buNone/>
            </a:pPr>
            <a:r>
              <a:rPr lang="en-US" sz="1600" b="1" dirty="0">
                <a:solidFill>
                  <a:srgbClr val="2B3A55"/>
                </a:solidFill>
                <a:latin typeface="Calibri" pitchFamily="34" charset="0"/>
                <a:ea typeface="Calibri" pitchFamily="34" charset="-122"/>
                <a:cs typeface="Calibri" pitchFamily="34" charset="-120"/>
              </a:rPr>
              <a:t>The model cannot read one article</a:t>
            </a:r>
            <a:endParaRPr lang="en-US" sz="1600" dirty="0"/>
          </a:p>
        </p:txBody>
      </p:sp>
      <p:sp>
        <p:nvSpPr>
          <p:cNvPr id="12" name="Text 10"/>
          <p:cNvSpPr/>
          <p:nvPr/>
        </p:nvSpPr>
        <p:spPr>
          <a:xfrm>
            <a:off x="4663440" y="2670048"/>
            <a:ext cx="2980944" cy="1325880"/>
          </a:xfrm>
          <a:prstGeom prst="rect">
            <a:avLst/>
          </a:prstGeom>
          <a:noFill/>
          <a:ln/>
        </p:spPr>
        <p:txBody>
          <a:bodyPr wrap="square" lIns="0" tIns="0" rIns="0" bIns="0" rtlCol="0" anchor="t"/>
          <a:lstStyle/>
          <a:p>
            <a:pPr indent="0" marL="0">
              <a:lnSpc>
                <a:spcPct val="114000"/>
              </a:lnSpc>
              <a:buNone/>
            </a:pPr>
            <a:r>
              <a:rPr lang="en-US" sz="1250" dirty="0">
                <a:solidFill>
                  <a:srgbClr val="3F4757"/>
                </a:solidFill>
                <a:latin typeface="Calibri" pitchFamily="34" charset="0"/>
                <a:ea typeface="Calibri" pitchFamily="34" charset="-122"/>
                <a:cs typeface="Calibri" pitchFamily="34" charset="-120"/>
              </a:rPr>
              <a:t>Against a human coder, article-level stance agreement was no better than chance (kappa = 0.049). The continuous score is still correctly ordered in human labels (AUC = 0.69).</a:t>
            </a:r>
            <a:endParaRPr lang="en-US" sz="1250" dirty="0"/>
          </a:p>
        </p:txBody>
      </p:sp>
      <p:sp>
        <p:nvSpPr>
          <p:cNvPr id="13" name="Shape 11"/>
          <p:cNvSpPr/>
          <p:nvPr/>
        </p:nvSpPr>
        <p:spPr>
          <a:xfrm>
            <a:off x="8147304" y="1325880"/>
            <a:ext cx="3566160" cy="2880360"/>
          </a:xfrm>
          <a:prstGeom prst="roundRect">
            <a:avLst>
              <a:gd name="adj" fmla="val 2222"/>
            </a:avLst>
          </a:prstGeom>
          <a:solidFill>
            <a:srgbClr val="F4F5F7"/>
          </a:solidFill>
          <a:ln/>
          <a:effectLst>
            <a:outerShdw sx="100000" sy="100000" kx="0" ky="0" algn="bl" rotWithShape="0" blurRad="101600" dist="25400" dir="5400000">
              <a:srgbClr val="9AA1AE">
                <a:alpha val="22000"/>
              </a:srgbClr>
            </a:outerShdw>
          </a:effectLst>
        </p:spPr>
      </p:sp>
      <p:sp>
        <p:nvSpPr>
          <p:cNvPr id="14" name="Shape 12"/>
          <p:cNvSpPr/>
          <p:nvPr/>
        </p:nvSpPr>
        <p:spPr>
          <a:xfrm>
            <a:off x="8439912" y="1572768"/>
            <a:ext cx="384048" cy="384048"/>
          </a:xfrm>
          <a:prstGeom prst="ellipse">
            <a:avLst/>
          </a:prstGeom>
          <a:solidFill>
            <a:srgbClr val="A31621"/>
          </a:solidFill>
          <a:ln/>
        </p:spPr>
      </p:sp>
      <p:sp>
        <p:nvSpPr>
          <p:cNvPr id="15" name="Text 13"/>
          <p:cNvSpPr/>
          <p:nvPr/>
        </p:nvSpPr>
        <p:spPr>
          <a:xfrm>
            <a:off x="8439912" y="15727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8439912" y="2066544"/>
            <a:ext cx="2980944" cy="548640"/>
          </a:xfrm>
          <a:prstGeom prst="rect">
            <a:avLst/>
          </a:prstGeom>
          <a:noFill/>
          <a:ln/>
        </p:spPr>
        <p:txBody>
          <a:bodyPr wrap="square" lIns="0" tIns="0" rIns="0" bIns="0" rtlCol="0" anchor="t"/>
          <a:lstStyle/>
          <a:p>
            <a:pPr indent="0" marL="0">
              <a:lnSpc>
                <a:spcPct val="105000"/>
              </a:lnSpc>
              <a:buNone/>
            </a:pPr>
            <a:r>
              <a:rPr lang="en-US" sz="1600" b="1" dirty="0">
                <a:solidFill>
                  <a:srgbClr val="2B3A55"/>
                </a:solidFill>
                <a:latin typeface="Calibri" pitchFamily="34" charset="0"/>
                <a:ea typeface="Calibri" pitchFamily="34" charset="-122"/>
                <a:cs typeface="Calibri" pitchFamily="34" charset="-120"/>
              </a:rPr>
              <a:t>Errors are not random</a:t>
            </a:r>
            <a:endParaRPr lang="en-US" sz="1600" dirty="0"/>
          </a:p>
        </p:txBody>
      </p:sp>
      <p:sp>
        <p:nvSpPr>
          <p:cNvPr id="17" name="Text 15"/>
          <p:cNvSpPr/>
          <p:nvPr/>
        </p:nvSpPr>
        <p:spPr>
          <a:xfrm>
            <a:off x="8439912" y="2670048"/>
            <a:ext cx="2980944" cy="1325880"/>
          </a:xfrm>
          <a:prstGeom prst="rect">
            <a:avLst/>
          </a:prstGeom>
          <a:noFill/>
          <a:ln/>
        </p:spPr>
        <p:txBody>
          <a:bodyPr wrap="square" lIns="0" tIns="0" rIns="0" bIns="0" rtlCol="0" anchor="t"/>
          <a:lstStyle/>
          <a:p>
            <a:pPr indent="0" marL="0">
              <a:lnSpc>
                <a:spcPct val="114000"/>
              </a:lnSpc>
              <a:buNone/>
            </a:pPr>
            <a:r>
              <a:rPr lang="en-US" sz="1250" dirty="0">
                <a:solidFill>
                  <a:srgbClr val="3F4757"/>
                </a:solidFill>
                <a:latin typeface="Calibri" pitchFamily="34" charset="0"/>
                <a:ea typeface="Calibri" pitchFamily="34" charset="-122"/>
                <a:cs typeface="Calibri" pitchFamily="34" charset="-120"/>
              </a:rPr>
              <a:t>The 126 mis-attributed articles clustered after one prosecutor took office. Removing them turned a significant post-recall level shift into p = 0.07.</a:t>
            </a:r>
            <a:endParaRPr lang="en-US" sz="1250" dirty="0"/>
          </a:p>
        </p:txBody>
      </p:sp>
      <p:sp>
        <p:nvSpPr>
          <p:cNvPr id="18" name="Shape 16"/>
          <p:cNvSpPr/>
          <p:nvPr/>
        </p:nvSpPr>
        <p:spPr>
          <a:xfrm>
            <a:off x="594360" y="4526280"/>
            <a:ext cx="11018520" cy="1371600"/>
          </a:xfrm>
          <a:prstGeom prst="roundRect">
            <a:avLst>
              <a:gd name="adj" fmla="val 4667"/>
            </a:avLst>
          </a:prstGeom>
          <a:solidFill>
            <a:srgbClr val="14161F"/>
          </a:solidFill>
          <a:ln/>
          <a:effectLst>
            <a:outerShdw sx="100000" sy="100000" kx="0" ky="0" algn="bl" rotWithShape="0" blurRad="101600" dist="25400" dir="5400000">
              <a:srgbClr val="9AA1AE">
                <a:alpha val="22000"/>
              </a:srgbClr>
            </a:outerShdw>
          </a:effectLst>
        </p:spPr>
      </p:sp>
      <p:sp>
        <p:nvSpPr>
          <p:cNvPr id="19" name="Text 17"/>
          <p:cNvSpPr/>
          <p:nvPr/>
        </p:nvSpPr>
        <p:spPr>
          <a:xfrm>
            <a:off x="960120" y="4526280"/>
            <a:ext cx="10332720" cy="1371600"/>
          </a:xfrm>
          <a:prstGeom prst="rect">
            <a:avLst/>
          </a:prstGeom>
          <a:noFill/>
          <a:ln/>
        </p:spPr>
        <p:txBody>
          <a:bodyPr wrap="square" lIns="0" tIns="0" rIns="0" bIns="0" rtlCol="0" anchor="ctr"/>
          <a:lstStyle/>
          <a:p>
            <a:pPr indent="0" marL="0">
              <a:lnSpc>
                <a:spcPct val="125000"/>
              </a:lnSpc>
              <a:buNone/>
            </a:pPr>
            <a:r>
              <a:rPr lang="en-US" sz="1800" b="1" dirty="0">
                <a:solidFill>
                  <a:srgbClr val="FFFFFF"/>
                </a:solidFill>
                <a:latin typeface="Calibri" pitchFamily="34" charset="0"/>
                <a:ea typeface="Calibri" pitchFamily="34" charset="-122"/>
                <a:cs typeface="Calibri" pitchFamily="34" charset="-120"/>
              </a:rPr>
              <a:t>Aggregate contrasts: yes.   “This article is biased”: never.</a:t>
            </a:r>
            <a:endParaRPr lang="en-US" sz="1800" dirty="0"/>
          </a:p>
          <a:p>
            <a:pPr indent="0" marL="0">
              <a:lnSpc>
                <a:spcPct val="125000"/>
              </a:lnSpc>
              <a:buNone/>
            </a:pPr>
            <a:r>
              <a:rPr lang="en-US" sz="1300" dirty="0">
                <a:solidFill>
                  <a:srgbClr val="C3C9D6"/>
                </a:solidFill>
                <a:latin typeface="Calibri" pitchFamily="34" charset="0"/>
                <a:ea typeface="Calibri" pitchFamily="34" charset="-122"/>
                <a:cs typeface="Calibri" pitchFamily="34" charset="-120"/>
              </a:rPr>
              <a:t>For litigation that distinction is the whole ballgame — a measure that works in expectation is not evidence about a document.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9052560" y="-1371600"/>
            <a:ext cx="4937760" cy="4937760"/>
          </a:xfrm>
          <a:prstGeom prst="ellipse">
            <a:avLst/>
          </a:prstGeom>
          <a:solidFill>
            <a:srgbClr val="A31621">
              <a:alpha val="12000"/>
            </a:srgbClr>
          </a:solidFill>
          <a:ln w="12700">
            <a:solidFill>
              <a:srgbClr val="A31621">
                <a:alpha val="28000"/>
              </a:srgbClr>
            </a:solidFill>
            <a:prstDash val="solid"/>
          </a:ln>
        </p:spPr>
      </p:sp>
      <p:sp>
        <p:nvSpPr>
          <p:cNvPr id="3" name="Shape 1"/>
          <p:cNvSpPr/>
          <p:nvPr/>
        </p:nvSpPr>
        <p:spPr>
          <a:xfrm>
            <a:off x="10424160" y="4206240"/>
            <a:ext cx="3108960" cy="3108960"/>
          </a:xfrm>
          <a:prstGeom prst="ellipse">
            <a:avLst/>
          </a:prstGeom>
          <a:solidFill>
            <a:srgbClr val="A31621">
              <a:alpha val="8000"/>
            </a:srgbClr>
          </a:solidFill>
          <a:ln/>
        </p:spPr>
      </p:sp>
      <p:sp>
        <p:nvSpPr>
          <p:cNvPr id="4" name="Text 2"/>
          <p:cNvSpPr/>
          <p:nvPr/>
        </p:nvSpPr>
        <p:spPr>
          <a:xfrm>
            <a:off x="594360" y="1874520"/>
            <a:ext cx="5486400" cy="274320"/>
          </a:xfrm>
          <a:prstGeom prst="rect">
            <a:avLst/>
          </a:prstGeom>
          <a:noFill/>
          <a:ln/>
        </p:spPr>
        <p:txBody>
          <a:bodyPr wrap="square" lIns="0" tIns="0" rIns="0" bIns="0" rtlCol="0" anchor="ctr"/>
          <a:lstStyle/>
          <a:p>
            <a:pPr algn="l" indent="0" marL="0">
              <a:buNone/>
            </a:pPr>
            <a:r>
              <a:rPr lang="en-US" sz="1100" b="1" spc="240" kern="0" dirty="0">
                <a:solidFill>
                  <a:srgbClr val="E0757F"/>
                </a:solidFill>
                <a:latin typeface="Calibri" pitchFamily="34" charset="0"/>
                <a:ea typeface="Calibri" pitchFamily="34" charset="-122"/>
                <a:cs typeface="Calibri" pitchFamily="34" charset="-120"/>
              </a:rPr>
              <a:t>PART TWO</a:t>
            </a:r>
            <a:endParaRPr lang="en-US" sz="1100" dirty="0"/>
          </a:p>
        </p:txBody>
      </p:sp>
      <p:sp>
        <p:nvSpPr>
          <p:cNvPr id="5" name="Text 3"/>
          <p:cNvSpPr/>
          <p:nvPr/>
        </p:nvSpPr>
        <p:spPr>
          <a:xfrm>
            <a:off x="594360" y="2240280"/>
            <a:ext cx="7315200" cy="1051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GDELT</a:t>
            </a:r>
            <a:endParaRPr lang="en-US" sz="6000" dirty="0"/>
          </a:p>
        </p:txBody>
      </p:sp>
      <p:sp>
        <p:nvSpPr>
          <p:cNvPr id="6" name="Text 4"/>
          <p:cNvSpPr/>
          <p:nvPr/>
        </p:nvSpPr>
        <p:spPr>
          <a:xfrm>
            <a:off x="594360" y="3383280"/>
            <a:ext cx="7863840" cy="731520"/>
          </a:xfrm>
          <a:prstGeom prst="rect">
            <a:avLst/>
          </a:prstGeom>
          <a:noFill/>
          <a:ln/>
        </p:spPr>
        <p:txBody>
          <a:bodyPr wrap="square" lIns="0" tIns="0" rIns="0" bIns="0" rtlCol="0" anchor="t"/>
          <a:lstStyle/>
          <a:p>
            <a:pPr indent="0" marL="0">
              <a:lnSpc>
                <a:spcPct val="115000"/>
              </a:lnSpc>
              <a:buNone/>
            </a:pPr>
            <a:r>
              <a:rPr lang="en-US" sz="1900" dirty="0">
                <a:solidFill>
                  <a:srgbClr val="C3C9D6"/>
                </a:solidFill>
                <a:latin typeface="Calibri" pitchFamily="34" charset="0"/>
                <a:ea typeface="Calibri" pitchFamily="34" charset="-122"/>
                <a:cs typeface="Calibri" pitchFamily="34" charset="-120"/>
              </a:rPr>
              <a:t>A free, public, near-real-time index of what the world's news is talking about</a:t>
            </a:r>
            <a:endParaRPr lang="en-US" sz="1900" dirty="0"/>
          </a:p>
        </p:txBody>
      </p:sp>
      <p:sp>
        <p:nvSpPr>
          <p:cNvPr id="7" name="Text 5"/>
          <p:cNvSpPr/>
          <p:nvPr/>
        </p:nvSpPr>
        <p:spPr>
          <a:xfrm>
            <a:off x="594360" y="4434840"/>
            <a:ext cx="7498080" cy="640080"/>
          </a:xfrm>
          <a:prstGeom prst="rect">
            <a:avLst/>
          </a:prstGeom>
          <a:noFill/>
          <a:ln/>
        </p:spPr>
        <p:txBody>
          <a:bodyPr wrap="square" lIns="0" tIns="0" rIns="0" bIns="0" rtlCol="0" anchor="t"/>
          <a:lstStyle/>
          <a:p>
            <a:pPr indent="0" marL="0">
              <a:lnSpc>
                <a:spcPct val="115000"/>
              </a:lnSpc>
              <a:buNone/>
            </a:pPr>
            <a:r>
              <a:rPr lang="en-US" sz="1400" i="1" dirty="0">
                <a:solidFill>
                  <a:srgbClr val="9AA1AE"/>
                </a:solidFill>
                <a:latin typeface="Calibri" pitchFamily="34" charset="0"/>
                <a:ea typeface="Calibri" pitchFamily="34" charset="-122"/>
                <a:cs typeface="Calibri" pitchFamily="34" charset="-120"/>
              </a:rPr>
              <a:t>The bottleneck in this kind of research is almost never the analysis. It is getting the coverage in the first place.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What it is</a:t>
            </a:r>
            <a:endParaRPr lang="en-US" sz="3400" dirty="0"/>
          </a:p>
        </p:txBody>
      </p:sp>
      <p:sp>
        <p:nvSpPr>
          <p:cNvPr id="3" name="Text 1"/>
          <p:cNvSpPr/>
          <p:nvPr/>
        </p:nvSpPr>
        <p:spPr>
          <a:xfrm>
            <a:off x="594360" y="1024128"/>
            <a:ext cx="10972800" cy="320040"/>
          </a:xfrm>
          <a:prstGeom prst="rect">
            <a:avLst/>
          </a:prstGeom>
          <a:noFill/>
          <a:ln/>
        </p:spPr>
        <p:txBody>
          <a:bodyPr wrap="square" lIns="0" tIns="0" rIns="0" bIns="0" rtlCol="0" anchor="ctr"/>
          <a:lstStyle/>
          <a:p>
            <a:pPr indent="0" marL="0">
              <a:buNone/>
            </a:pPr>
            <a:r>
              <a:rPr lang="en-US" sz="1500" dirty="0">
                <a:solidFill>
                  <a:srgbClr val="3F4757"/>
                </a:solidFill>
                <a:latin typeface="Calibri" pitchFamily="34" charset="0"/>
                <a:ea typeface="Calibri" pitchFamily="34" charset="-122"/>
                <a:cs typeface="Calibri" pitchFamily="34" charset="-120"/>
              </a:rPr>
              <a:t>The Global Database of Events, Language and Tone. Public, free, no licence, no API key.</a:t>
            </a:r>
            <a:endParaRPr lang="en-US" sz="1500" dirty="0"/>
          </a:p>
        </p:txBody>
      </p:sp>
      <p:sp>
        <p:nvSpPr>
          <p:cNvPr id="4" name="Shape 2"/>
          <p:cNvSpPr/>
          <p:nvPr/>
        </p:nvSpPr>
        <p:spPr>
          <a:xfrm>
            <a:off x="594360" y="1481328"/>
            <a:ext cx="3566160" cy="1783080"/>
          </a:xfrm>
          <a:prstGeom prst="roundRect">
            <a:avLst>
              <a:gd name="adj" fmla="val 3590"/>
            </a:avLst>
          </a:prstGeom>
          <a:solidFill>
            <a:srgbClr val="F4F5F7"/>
          </a:solidFill>
          <a:ln/>
          <a:effectLst>
            <a:outerShdw sx="100000" sy="100000" kx="0" ky="0" algn="bl" rotWithShape="0" blurRad="101600" dist="25400" dir="5400000">
              <a:srgbClr val="9AA1AE">
                <a:alpha val="22000"/>
              </a:srgbClr>
            </a:outerShdw>
          </a:effectLst>
        </p:spPr>
      </p:sp>
      <p:sp>
        <p:nvSpPr>
          <p:cNvPr id="5" name="Text 3"/>
          <p:cNvSpPr/>
          <p:nvPr/>
        </p:nvSpPr>
        <p:spPr>
          <a:xfrm>
            <a:off x="886968" y="1682496"/>
            <a:ext cx="2980944" cy="320040"/>
          </a:xfrm>
          <a:prstGeom prst="rect">
            <a:avLst/>
          </a:prstGeom>
          <a:noFill/>
          <a:ln/>
        </p:spPr>
        <p:txBody>
          <a:bodyPr wrap="square" lIns="0" tIns="0" rIns="0" bIns="0" rtlCol="0" anchor="ctr"/>
          <a:lstStyle/>
          <a:p>
            <a:pPr indent="0" marL="0">
              <a:buNone/>
            </a:pPr>
            <a:r>
              <a:rPr lang="en-US" sz="1700" b="1" dirty="0">
                <a:solidFill>
                  <a:srgbClr val="2B3A55"/>
                </a:solidFill>
                <a:latin typeface="Cambria" pitchFamily="34" charset="0"/>
                <a:ea typeface="Cambria" pitchFamily="34" charset="-122"/>
                <a:cs typeface="Cambria" pitchFamily="34" charset="-120"/>
              </a:rPr>
              <a:t>Event Database</a:t>
            </a:r>
            <a:endParaRPr lang="en-US" sz="1700" dirty="0"/>
          </a:p>
        </p:txBody>
      </p:sp>
      <p:sp>
        <p:nvSpPr>
          <p:cNvPr id="6" name="Text 4"/>
          <p:cNvSpPr/>
          <p:nvPr/>
        </p:nvSpPr>
        <p:spPr>
          <a:xfrm>
            <a:off x="886968" y="2048256"/>
            <a:ext cx="2980944" cy="105156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1979 to present. Machine-coded actor-action-actor records on the CAMEO taxonomy: 300+ event types, geolocated to city level.</a:t>
            </a:r>
            <a:endParaRPr lang="en-US" sz="1200" dirty="0"/>
          </a:p>
        </p:txBody>
      </p:sp>
      <p:sp>
        <p:nvSpPr>
          <p:cNvPr id="7" name="Shape 5"/>
          <p:cNvSpPr/>
          <p:nvPr/>
        </p:nvSpPr>
        <p:spPr>
          <a:xfrm>
            <a:off x="4370832" y="1481328"/>
            <a:ext cx="3566160" cy="1783080"/>
          </a:xfrm>
          <a:prstGeom prst="roundRect">
            <a:avLst>
              <a:gd name="adj" fmla="val 3590"/>
            </a:avLst>
          </a:prstGeom>
          <a:solidFill>
            <a:srgbClr val="F4F5F7"/>
          </a:solidFill>
          <a:ln/>
          <a:effectLst>
            <a:outerShdw sx="100000" sy="100000" kx="0" ky="0" algn="bl" rotWithShape="0" blurRad="101600" dist="25400" dir="5400000">
              <a:srgbClr val="9AA1AE">
                <a:alpha val="22000"/>
              </a:srgbClr>
            </a:outerShdw>
          </a:effectLst>
        </p:spPr>
      </p:sp>
      <p:sp>
        <p:nvSpPr>
          <p:cNvPr id="8" name="Text 6"/>
          <p:cNvSpPr/>
          <p:nvPr/>
        </p:nvSpPr>
        <p:spPr>
          <a:xfrm>
            <a:off x="4663440" y="1682496"/>
            <a:ext cx="2980944" cy="320040"/>
          </a:xfrm>
          <a:prstGeom prst="rect">
            <a:avLst/>
          </a:prstGeom>
          <a:noFill/>
          <a:ln/>
        </p:spPr>
        <p:txBody>
          <a:bodyPr wrap="square" lIns="0" tIns="0" rIns="0" bIns="0" rtlCol="0" anchor="ctr"/>
          <a:lstStyle/>
          <a:p>
            <a:pPr indent="0" marL="0">
              <a:buNone/>
            </a:pPr>
            <a:r>
              <a:rPr lang="en-US" sz="1700" b="1" dirty="0">
                <a:solidFill>
                  <a:srgbClr val="2B3A55"/>
                </a:solidFill>
                <a:latin typeface="Cambria" pitchFamily="34" charset="0"/>
                <a:ea typeface="Cambria" pitchFamily="34" charset="-122"/>
                <a:cs typeface="Cambria" pitchFamily="34" charset="-120"/>
              </a:rPr>
              <a:t>Global Knowledge Graph</a:t>
            </a:r>
            <a:endParaRPr lang="en-US" sz="1700" dirty="0"/>
          </a:p>
        </p:txBody>
      </p:sp>
      <p:sp>
        <p:nvSpPr>
          <p:cNvPr id="9" name="Text 7"/>
          <p:cNvSpPr/>
          <p:nvPr/>
        </p:nvSpPr>
        <p:spPr>
          <a:xfrm>
            <a:off x="4663440" y="2048256"/>
            <a:ext cx="2980944" cy="105156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Themes, people, organisations, places and tone for every monitored article — plus 2,230+ GCAM emotional and thematic dimensions.</a:t>
            </a:r>
            <a:endParaRPr lang="en-US" sz="1200" dirty="0"/>
          </a:p>
        </p:txBody>
      </p:sp>
      <p:sp>
        <p:nvSpPr>
          <p:cNvPr id="10" name="Shape 8"/>
          <p:cNvSpPr/>
          <p:nvPr/>
        </p:nvSpPr>
        <p:spPr>
          <a:xfrm>
            <a:off x="8147304" y="1481328"/>
            <a:ext cx="3566160" cy="1783080"/>
          </a:xfrm>
          <a:prstGeom prst="roundRect">
            <a:avLst>
              <a:gd name="adj" fmla="val 3590"/>
            </a:avLst>
          </a:prstGeom>
          <a:solidFill>
            <a:srgbClr val="F4F5F7"/>
          </a:solidFill>
          <a:ln/>
          <a:effectLst>
            <a:outerShdw sx="100000" sy="100000" kx="0" ky="0" algn="bl" rotWithShape="0" blurRad="101600" dist="25400" dir="5400000">
              <a:srgbClr val="9AA1AE">
                <a:alpha val="22000"/>
              </a:srgbClr>
            </a:outerShdw>
          </a:effectLst>
        </p:spPr>
      </p:sp>
      <p:sp>
        <p:nvSpPr>
          <p:cNvPr id="11" name="Text 9"/>
          <p:cNvSpPr/>
          <p:nvPr/>
        </p:nvSpPr>
        <p:spPr>
          <a:xfrm>
            <a:off x="8439912" y="1682496"/>
            <a:ext cx="2980944" cy="320040"/>
          </a:xfrm>
          <a:prstGeom prst="rect">
            <a:avLst/>
          </a:prstGeom>
          <a:noFill/>
          <a:ln/>
        </p:spPr>
        <p:txBody>
          <a:bodyPr wrap="square" lIns="0" tIns="0" rIns="0" bIns="0" rtlCol="0" anchor="ctr"/>
          <a:lstStyle/>
          <a:p>
            <a:pPr indent="0" marL="0">
              <a:buNone/>
            </a:pPr>
            <a:r>
              <a:rPr lang="en-US" sz="1700" b="1" dirty="0">
                <a:solidFill>
                  <a:srgbClr val="2B3A55"/>
                </a:solidFill>
                <a:latin typeface="Cambria" pitchFamily="34" charset="0"/>
                <a:ea typeface="Cambria" pitchFamily="34" charset="-122"/>
                <a:cs typeface="Cambria" pitchFamily="34" charset="-120"/>
              </a:rPr>
              <a:t>Television</a:t>
            </a:r>
            <a:endParaRPr lang="en-US" sz="1700" dirty="0"/>
          </a:p>
        </p:txBody>
      </p:sp>
      <p:sp>
        <p:nvSpPr>
          <p:cNvPr id="12" name="Text 10"/>
          <p:cNvSpPr/>
          <p:nvPr/>
        </p:nvSpPr>
        <p:spPr>
          <a:xfrm>
            <a:off x="8439912" y="2048256"/>
            <a:ext cx="2980944" cy="105156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163 stations from the Internet Archive's TV News Archive, 2009 to present, searchable by caption text. Local stations included.</a:t>
            </a:r>
            <a:endParaRPr lang="en-US" sz="1200" dirty="0"/>
          </a:p>
        </p:txBody>
      </p:sp>
      <p:sp>
        <p:nvSpPr>
          <p:cNvPr id="13" name="Text 11"/>
          <p:cNvSpPr/>
          <p:nvPr/>
        </p:nvSpPr>
        <p:spPr>
          <a:xfrm>
            <a:off x="594360" y="3456432"/>
            <a:ext cx="3566160" cy="457200"/>
          </a:xfrm>
          <a:prstGeom prst="rect">
            <a:avLst/>
          </a:prstGeom>
          <a:noFill/>
          <a:ln/>
        </p:spPr>
        <p:txBody>
          <a:bodyPr wrap="square" lIns="0" tIns="0" rIns="0" bIns="0" rtlCol="0" anchor="ctr"/>
          <a:lstStyle/>
          <a:p>
            <a:pPr indent="0" marL="0">
              <a:buNone/>
            </a:pPr>
            <a:r>
              <a:rPr lang="en-US" sz="2700" b="1" dirty="0">
                <a:solidFill>
                  <a:srgbClr val="A31621"/>
                </a:solidFill>
                <a:latin typeface="Cambria" pitchFamily="34" charset="0"/>
                <a:ea typeface="Cambria" pitchFamily="34" charset="-122"/>
                <a:cs typeface="Cambria" pitchFamily="34" charset="-120"/>
              </a:rPr>
              <a:t>65</a:t>
            </a:r>
            <a:endParaRPr lang="en-US" sz="2700" dirty="0"/>
          </a:p>
        </p:txBody>
      </p:sp>
      <p:sp>
        <p:nvSpPr>
          <p:cNvPr id="14" name="Text 12"/>
          <p:cNvSpPr/>
          <p:nvPr/>
        </p:nvSpPr>
        <p:spPr>
          <a:xfrm>
            <a:off x="594360" y="3895344"/>
            <a:ext cx="356616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languages, live-translated</a:t>
            </a:r>
            <a:endParaRPr lang="en-US" sz="1200" dirty="0"/>
          </a:p>
        </p:txBody>
      </p:sp>
      <p:sp>
        <p:nvSpPr>
          <p:cNvPr id="15" name="Text 13"/>
          <p:cNvSpPr/>
          <p:nvPr/>
        </p:nvSpPr>
        <p:spPr>
          <a:xfrm>
            <a:off x="4370832" y="3456432"/>
            <a:ext cx="3566160" cy="457200"/>
          </a:xfrm>
          <a:prstGeom prst="rect">
            <a:avLst/>
          </a:prstGeom>
          <a:noFill/>
          <a:ln/>
        </p:spPr>
        <p:txBody>
          <a:bodyPr wrap="square" lIns="0" tIns="0" rIns="0" bIns="0" rtlCol="0" anchor="ctr"/>
          <a:lstStyle/>
          <a:p>
            <a:pPr indent="0" marL="0">
              <a:buNone/>
            </a:pPr>
            <a:r>
              <a:rPr lang="en-US" sz="2700" b="1" dirty="0">
                <a:solidFill>
                  <a:srgbClr val="A31621"/>
                </a:solidFill>
                <a:latin typeface="Cambria" pitchFamily="34" charset="0"/>
                <a:ea typeface="Cambria" pitchFamily="34" charset="-122"/>
                <a:cs typeface="Cambria" pitchFamily="34" charset="-120"/>
              </a:rPr>
              <a:t>15 min</a:t>
            </a:r>
            <a:endParaRPr lang="en-US" sz="2700" dirty="0"/>
          </a:p>
        </p:txBody>
      </p:sp>
      <p:sp>
        <p:nvSpPr>
          <p:cNvPr id="16" name="Text 14"/>
          <p:cNvSpPr/>
          <p:nvPr/>
        </p:nvSpPr>
        <p:spPr>
          <a:xfrm>
            <a:off x="4370832" y="3895344"/>
            <a:ext cx="356616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refresh cycle, worldwide</a:t>
            </a:r>
            <a:endParaRPr lang="en-US" sz="1200" dirty="0"/>
          </a:p>
        </p:txBody>
      </p:sp>
      <p:sp>
        <p:nvSpPr>
          <p:cNvPr id="17" name="Text 15"/>
          <p:cNvSpPr/>
          <p:nvPr/>
        </p:nvSpPr>
        <p:spPr>
          <a:xfrm>
            <a:off x="8147304" y="3456432"/>
            <a:ext cx="3566160" cy="457200"/>
          </a:xfrm>
          <a:prstGeom prst="rect">
            <a:avLst/>
          </a:prstGeom>
          <a:noFill/>
          <a:ln/>
        </p:spPr>
        <p:txBody>
          <a:bodyPr wrap="square" lIns="0" tIns="0" rIns="0" bIns="0" rtlCol="0" anchor="ctr"/>
          <a:lstStyle/>
          <a:p>
            <a:pPr indent="0" marL="0">
              <a:buNone/>
            </a:pPr>
            <a:r>
              <a:rPr lang="en-US" sz="2700" b="1" dirty="0">
                <a:solidFill>
                  <a:srgbClr val="A31621"/>
                </a:solidFill>
                <a:latin typeface="Cambria" pitchFamily="34" charset="0"/>
                <a:ea typeface="Cambria" pitchFamily="34" charset="-122"/>
                <a:cs typeface="Cambria" pitchFamily="34" charset="-120"/>
              </a:rPr>
              <a:t>$0</a:t>
            </a:r>
            <a:endParaRPr lang="en-US" sz="2700" dirty="0"/>
          </a:p>
        </p:txBody>
      </p:sp>
      <p:sp>
        <p:nvSpPr>
          <p:cNvPr id="18" name="Text 16"/>
          <p:cNvSpPr/>
          <p:nvPr/>
        </p:nvSpPr>
        <p:spPr>
          <a:xfrm>
            <a:off x="8147304" y="3895344"/>
            <a:ext cx="356616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 licence, no API key</a:t>
            </a:r>
            <a:endParaRPr lang="en-US" sz="1200" dirty="0"/>
          </a:p>
        </p:txBody>
      </p:sp>
      <p:sp>
        <p:nvSpPr>
          <p:cNvPr id="19" name="Shape 17"/>
          <p:cNvSpPr/>
          <p:nvPr/>
        </p:nvSpPr>
        <p:spPr>
          <a:xfrm>
            <a:off x="594360" y="4389120"/>
            <a:ext cx="11018520" cy="1417320"/>
          </a:xfrm>
          <a:prstGeom prst="roundRect">
            <a:avLst>
              <a:gd name="adj" fmla="val 4516"/>
            </a:avLst>
          </a:prstGeom>
          <a:solidFill>
            <a:srgbClr val="F6E9EA"/>
          </a:solidFill>
          <a:ln/>
          <a:effectLst>
            <a:outerShdw sx="100000" sy="100000" kx="0" ky="0" algn="bl" rotWithShape="0" blurRad="101600" dist="25400" dir="5400000">
              <a:srgbClr val="9AA1AE">
                <a:alpha val="22000"/>
              </a:srgbClr>
            </a:outerShdw>
          </a:effectLst>
        </p:spPr>
      </p:sp>
      <p:sp>
        <p:nvSpPr>
          <p:cNvPr id="20" name="Shape 18"/>
          <p:cNvSpPr/>
          <p:nvPr/>
        </p:nvSpPr>
        <p:spPr>
          <a:xfrm>
            <a:off x="960120" y="4754880"/>
            <a:ext cx="384048" cy="384048"/>
          </a:xfrm>
          <a:prstGeom prst="ellipse">
            <a:avLst/>
          </a:prstGeom>
          <a:solidFill>
            <a:srgbClr val="A31621"/>
          </a:solidFill>
          <a:ln/>
        </p:spPr>
      </p:sp>
      <p:sp>
        <p:nvSpPr>
          <p:cNvPr id="21" name="Text 19"/>
          <p:cNvSpPr/>
          <p:nvPr/>
        </p:nvSpPr>
        <p:spPr>
          <a:xfrm>
            <a:off x="960120" y="4754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554480" y="4389120"/>
            <a:ext cx="9738360" cy="1417320"/>
          </a:xfrm>
          <a:prstGeom prst="rect">
            <a:avLst/>
          </a:prstGeom>
          <a:noFill/>
          <a:ln/>
        </p:spPr>
        <p:txBody>
          <a:bodyPr wrap="square" lIns="0" tIns="0" rIns="0" bIns="0" rtlCol="0" anchor="ctr"/>
          <a:lstStyle/>
          <a:p>
            <a:pPr indent="0" marL="0">
              <a:lnSpc>
                <a:spcPct val="115000"/>
              </a:lnSpc>
              <a:buNone/>
            </a:pPr>
            <a:r>
              <a:rPr lang="en-US" sz="1600" b="1" dirty="0">
                <a:solidFill>
                  <a:srgbClr val="6D1119"/>
                </a:solidFill>
                <a:latin typeface="Calibri" pitchFamily="34" charset="0"/>
                <a:ea typeface="Calibri" pitchFamily="34" charset="-122"/>
                <a:cs typeface="Calibri" pitchFamily="34" charset="-120"/>
              </a:rPr>
              <a:t>The catch: GDELT indexes coverage, it does not host it.</a:t>
            </a:r>
            <a:endParaRPr lang="en-US" sz="1600" dirty="0"/>
          </a:p>
          <a:p>
            <a:pPr indent="0" marL="0">
              <a:lnSpc>
                <a:spcPct val="115000"/>
              </a:lnSpc>
              <a:buNone/>
            </a:pPr>
            <a:r>
              <a:rPr lang="en-US" sz="1250" dirty="0">
                <a:solidFill>
                  <a:srgbClr val="6D1119"/>
                </a:solidFill>
                <a:latin typeface="Calibri" pitchFamily="34" charset="0"/>
                <a:ea typeface="Calibri" pitchFamily="34" charset="-122"/>
                <a:cs typeface="Calibri" pitchFamily="34" charset="-120"/>
              </a:rPr>
              <a:t>You get tone, themes, entities, dates and a URL — not the article body. Anything that requires reading the text still needs LexisNexis, the outlet, or the documents themselves.</a:t>
            </a:r>
            <a:endParaRPr lang="en-US" sz="1600" dirty="0"/>
          </a:p>
        </p:txBody>
      </p:sp>
      <p:sp>
        <p:nvSpPr>
          <p:cNvPr id="23" name="Text 21"/>
          <p:cNvSpPr/>
          <p:nvPr/>
        </p:nvSpPr>
        <p:spPr>
          <a:xfrm>
            <a:off x="594360" y="6355080"/>
            <a:ext cx="10972800" cy="274320"/>
          </a:xfrm>
          <a:prstGeom prst="rect">
            <a:avLst/>
          </a:prstGeom>
          <a:noFill/>
          <a:ln/>
        </p:spPr>
        <p:txBody>
          <a:bodyPr wrap="square" lIns="0" tIns="0" rIns="0" bIns="0" rtlCol="0" anchor="ctr"/>
          <a:lstStyle/>
          <a:p>
            <a:pPr algn="l" indent="0" marL="0">
              <a:buNone/>
            </a:pPr>
            <a:r>
              <a:rPr lang="en-US" sz="950" i="1" dirty="0">
                <a:solidFill>
                  <a:srgbClr val="6B7280"/>
                </a:solidFill>
                <a:latin typeface="Calibri" pitchFamily="34" charset="0"/>
                <a:ea typeface="Calibri" pitchFamily="34" charset="-122"/>
                <a:cs typeface="Calibri" pitchFamily="34" charset="-120"/>
              </a:rPr>
              <a:t>gdeltproject.org/data.html. GCAM: 18 content-analysis systems, 2,230+ dimensions.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How to actually use it</a:t>
            </a:r>
            <a:endParaRPr lang="en-US" sz="3400" dirty="0"/>
          </a:p>
        </p:txBody>
      </p:sp>
      <p:sp>
        <p:nvSpPr>
          <p:cNvPr id="3" name="Shape 1"/>
          <p:cNvSpPr/>
          <p:nvPr/>
        </p:nvSpPr>
        <p:spPr>
          <a:xfrm>
            <a:off x="594360" y="1280160"/>
            <a:ext cx="11018520" cy="868680"/>
          </a:xfrm>
          <a:prstGeom prst="roundRect">
            <a:avLst>
              <a:gd name="adj" fmla="val 7368"/>
            </a:avLst>
          </a:prstGeom>
          <a:solidFill>
            <a:srgbClr val="F4F5F7"/>
          </a:solidFill>
          <a:ln/>
          <a:effectLst>
            <a:outerShdw sx="100000" sy="100000" kx="0" ky="0" algn="bl" rotWithShape="0" blurRad="101600" dist="25400" dir="5400000">
              <a:srgbClr val="9AA1AE">
                <a:alpha val="22000"/>
              </a:srgbClr>
            </a:outerShdw>
          </a:effectLst>
        </p:spPr>
      </p:sp>
      <p:sp>
        <p:nvSpPr>
          <p:cNvPr id="4" name="Shape 2"/>
          <p:cNvSpPr/>
          <p:nvPr/>
        </p:nvSpPr>
        <p:spPr>
          <a:xfrm>
            <a:off x="914400" y="1517904"/>
            <a:ext cx="384048" cy="384048"/>
          </a:xfrm>
          <a:prstGeom prst="ellipse">
            <a:avLst/>
          </a:prstGeom>
          <a:solidFill>
            <a:srgbClr val="A31621"/>
          </a:solidFill>
          <a:ln/>
        </p:spPr>
      </p:sp>
      <p:sp>
        <p:nvSpPr>
          <p:cNvPr id="5" name="Text 3"/>
          <p:cNvSpPr/>
          <p:nvPr/>
        </p:nvSpPr>
        <p:spPr>
          <a:xfrm>
            <a:off x="914400"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481328" y="1280160"/>
            <a:ext cx="2606040" cy="868680"/>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Point and click</a:t>
            </a:r>
            <a:endParaRPr lang="en-US" sz="1550" dirty="0"/>
          </a:p>
        </p:txBody>
      </p:sp>
      <p:sp>
        <p:nvSpPr>
          <p:cNvPr id="7" name="Text 5"/>
          <p:cNvSpPr/>
          <p:nvPr/>
        </p:nvSpPr>
        <p:spPr>
          <a:xfrm>
            <a:off x="4114800" y="1280160"/>
            <a:ext cx="7178040" cy="868680"/>
          </a:xfrm>
          <a:prstGeom prst="rect">
            <a:avLst/>
          </a:prstGeom>
          <a:noFill/>
          <a:ln/>
        </p:spPr>
        <p:txBody>
          <a:bodyPr wrap="square" lIns="0" tIns="0" rIns="0" bIns="0" rtlCol="0" anchor="ctr"/>
          <a:lstStyle/>
          <a:p>
            <a:pPr indent="0" marL="0">
              <a:lnSpc>
                <a:spcPct val="112000"/>
              </a:lnSpc>
              <a:buNone/>
            </a:pPr>
            <a:r>
              <a:rPr lang="en-US" sz="1250" dirty="0">
                <a:solidFill>
                  <a:srgbClr val="3F4757"/>
                </a:solidFill>
                <a:latin typeface="Calibri" pitchFamily="34" charset="0"/>
                <a:ea typeface="Calibri" pitchFamily="34" charset="-122"/>
                <a:cs typeface="Calibri" pitchFamily="34" charset="-120"/>
              </a:rPr>
              <a:t>Television Explorer and GDELT Summary. Zero code, CSV export, chartable in the browser. Enough for a memo exhibit or a hearing.</a:t>
            </a:r>
            <a:endParaRPr lang="en-US" sz="1250" dirty="0"/>
          </a:p>
        </p:txBody>
      </p:sp>
      <p:sp>
        <p:nvSpPr>
          <p:cNvPr id="8" name="Shape 6"/>
          <p:cNvSpPr/>
          <p:nvPr/>
        </p:nvSpPr>
        <p:spPr>
          <a:xfrm>
            <a:off x="594360" y="2286000"/>
            <a:ext cx="11018520" cy="868680"/>
          </a:xfrm>
          <a:prstGeom prst="roundRect">
            <a:avLst>
              <a:gd name="adj" fmla="val 7368"/>
            </a:avLst>
          </a:prstGeom>
          <a:solidFill>
            <a:srgbClr val="F4F5F7"/>
          </a:solidFill>
          <a:ln/>
          <a:effectLst>
            <a:outerShdw sx="100000" sy="100000" kx="0" ky="0" algn="bl" rotWithShape="0" blurRad="101600" dist="25400" dir="5400000">
              <a:srgbClr val="9AA1AE">
                <a:alpha val="22000"/>
              </a:srgbClr>
            </a:outerShdw>
          </a:effectLst>
        </p:spPr>
      </p:sp>
      <p:sp>
        <p:nvSpPr>
          <p:cNvPr id="9" name="Shape 7"/>
          <p:cNvSpPr/>
          <p:nvPr/>
        </p:nvSpPr>
        <p:spPr>
          <a:xfrm>
            <a:off x="914400" y="2523744"/>
            <a:ext cx="384048" cy="384048"/>
          </a:xfrm>
          <a:prstGeom prst="ellipse">
            <a:avLst/>
          </a:prstGeom>
          <a:solidFill>
            <a:srgbClr val="A31621"/>
          </a:solidFill>
          <a:ln/>
        </p:spPr>
      </p:sp>
      <p:sp>
        <p:nvSpPr>
          <p:cNvPr id="10" name="Text 8"/>
          <p:cNvSpPr/>
          <p:nvPr/>
        </p:nvSpPr>
        <p:spPr>
          <a:xfrm>
            <a:off x="914400" y="25237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481328" y="2286000"/>
            <a:ext cx="2606040" cy="868680"/>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DOC 2.0 API</a:t>
            </a:r>
            <a:endParaRPr lang="en-US" sz="1550" dirty="0"/>
          </a:p>
        </p:txBody>
      </p:sp>
      <p:sp>
        <p:nvSpPr>
          <p:cNvPr id="12" name="Text 10"/>
          <p:cNvSpPr/>
          <p:nvPr/>
        </p:nvSpPr>
        <p:spPr>
          <a:xfrm>
            <a:off x="4114800" y="2286000"/>
            <a:ext cx="7178040" cy="868680"/>
          </a:xfrm>
          <a:prstGeom prst="rect">
            <a:avLst/>
          </a:prstGeom>
          <a:noFill/>
          <a:ln/>
        </p:spPr>
        <p:txBody>
          <a:bodyPr wrap="square" lIns="0" tIns="0" rIns="0" bIns="0" rtlCol="0" anchor="ctr"/>
          <a:lstStyle/>
          <a:p>
            <a:pPr indent="0" marL="0">
              <a:lnSpc>
                <a:spcPct val="112000"/>
              </a:lnSpc>
              <a:buNone/>
            </a:pPr>
            <a:r>
              <a:rPr lang="en-US" sz="1250" dirty="0">
                <a:solidFill>
                  <a:srgbClr val="3F4757"/>
                </a:solidFill>
                <a:latin typeface="Calibri" pitchFamily="34" charset="0"/>
                <a:ea typeface="Calibri" pitchFamily="34" charset="-122"/>
                <a:cs typeface="Calibri" pitchFamily="34" charset="-120"/>
              </a:rPr>
              <a:t>One URL, no key, JSON or CSV back. Full-text search to 1 Jan 2017. Ceilings: 250 records per call, 3-month default window, one request every 5 seconds.</a:t>
            </a:r>
            <a:endParaRPr lang="en-US" sz="1250" dirty="0"/>
          </a:p>
        </p:txBody>
      </p:sp>
      <p:sp>
        <p:nvSpPr>
          <p:cNvPr id="13" name="Shape 11"/>
          <p:cNvSpPr/>
          <p:nvPr/>
        </p:nvSpPr>
        <p:spPr>
          <a:xfrm>
            <a:off x="594360" y="3291840"/>
            <a:ext cx="11018520" cy="868680"/>
          </a:xfrm>
          <a:prstGeom prst="roundRect">
            <a:avLst>
              <a:gd name="adj" fmla="val 7368"/>
            </a:avLst>
          </a:prstGeom>
          <a:solidFill>
            <a:srgbClr val="F4F5F7"/>
          </a:solidFill>
          <a:ln/>
          <a:effectLst>
            <a:outerShdw sx="100000" sy="100000" kx="0" ky="0" algn="bl" rotWithShape="0" blurRad="101600" dist="25400" dir="5400000">
              <a:srgbClr val="9AA1AE">
                <a:alpha val="22000"/>
              </a:srgbClr>
            </a:outerShdw>
          </a:effectLst>
        </p:spPr>
      </p:sp>
      <p:sp>
        <p:nvSpPr>
          <p:cNvPr id="14" name="Shape 12"/>
          <p:cNvSpPr/>
          <p:nvPr/>
        </p:nvSpPr>
        <p:spPr>
          <a:xfrm>
            <a:off x="914400" y="3529584"/>
            <a:ext cx="384048" cy="384048"/>
          </a:xfrm>
          <a:prstGeom prst="ellipse">
            <a:avLst/>
          </a:prstGeom>
          <a:solidFill>
            <a:srgbClr val="A31621"/>
          </a:solidFill>
          <a:ln/>
        </p:spPr>
      </p:sp>
      <p:sp>
        <p:nvSpPr>
          <p:cNvPr id="15" name="Text 13"/>
          <p:cNvSpPr/>
          <p:nvPr/>
        </p:nvSpPr>
        <p:spPr>
          <a:xfrm>
            <a:off x="914400" y="3529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481328" y="3291840"/>
            <a:ext cx="2606040" cy="868680"/>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BigQuery</a:t>
            </a:r>
            <a:endParaRPr lang="en-US" sz="1550" dirty="0"/>
          </a:p>
        </p:txBody>
      </p:sp>
      <p:sp>
        <p:nvSpPr>
          <p:cNvPr id="17" name="Text 15"/>
          <p:cNvSpPr/>
          <p:nvPr/>
        </p:nvSpPr>
        <p:spPr>
          <a:xfrm>
            <a:off x="4114800" y="3291840"/>
            <a:ext cx="7178040" cy="868680"/>
          </a:xfrm>
          <a:prstGeom prst="rect">
            <a:avLst/>
          </a:prstGeom>
          <a:noFill/>
          <a:ln/>
        </p:spPr>
        <p:txBody>
          <a:bodyPr wrap="square" lIns="0" tIns="0" rIns="0" bIns="0" rtlCol="0" anchor="ctr"/>
          <a:lstStyle/>
          <a:p>
            <a:pPr indent="0" marL="0">
              <a:lnSpc>
                <a:spcPct val="112000"/>
              </a:lnSpc>
              <a:buNone/>
            </a:pPr>
            <a:r>
              <a:rPr lang="en-US" sz="1250" dirty="0">
                <a:solidFill>
                  <a:srgbClr val="3F4757"/>
                </a:solidFill>
                <a:latin typeface="Calibri" pitchFamily="34" charset="0"/>
                <a:ea typeface="Calibri" pitchFamily="34" charset="-122"/>
                <a:cs typeface="Calibri" pitchFamily="34" charset="-120"/>
              </a:rPr>
              <a:t>gdelt-bq.gdeltv2.gkg_partitioned. The whole archive in SQL, refreshed every 15 minutes. Query the partitioned tables or the bill grows fast.</a:t>
            </a:r>
            <a:endParaRPr lang="en-US" sz="1250" dirty="0"/>
          </a:p>
        </p:txBody>
      </p:sp>
      <p:sp>
        <p:nvSpPr>
          <p:cNvPr id="18" name="Shape 16"/>
          <p:cNvSpPr/>
          <p:nvPr/>
        </p:nvSpPr>
        <p:spPr>
          <a:xfrm>
            <a:off x="594360" y="4389120"/>
            <a:ext cx="11018520" cy="1463040"/>
          </a:xfrm>
          <a:prstGeom prst="roundRect">
            <a:avLst>
              <a:gd name="adj" fmla="val 3750"/>
            </a:avLst>
          </a:prstGeom>
          <a:solidFill>
            <a:srgbClr val="14161F"/>
          </a:solidFill>
          <a:ln/>
          <a:effectLst>
            <a:outerShdw sx="100000" sy="100000" kx="0" ky="0" algn="bl" rotWithShape="0" blurRad="101600" dist="25400" dir="5400000">
              <a:srgbClr val="9AA1AE">
                <a:alpha val="22000"/>
              </a:srgbClr>
            </a:outerShdw>
          </a:effectLst>
        </p:spPr>
      </p:sp>
      <p:sp>
        <p:nvSpPr>
          <p:cNvPr id="19" name="Text 17"/>
          <p:cNvSpPr/>
          <p:nvPr/>
        </p:nvSpPr>
        <p:spPr>
          <a:xfrm>
            <a:off x="914400" y="4389120"/>
            <a:ext cx="10424160" cy="1463040"/>
          </a:xfrm>
          <a:prstGeom prst="rect">
            <a:avLst/>
          </a:prstGeom>
          <a:noFill/>
          <a:ln/>
        </p:spPr>
        <p:txBody>
          <a:bodyPr wrap="square" lIns="0" tIns="0" rIns="0" bIns="0" rtlCol="0" anchor="ctr"/>
          <a:lstStyle/>
          <a:p>
            <a:pPr indent="0" marL="0">
              <a:lnSpc>
                <a:spcPct val="135000"/>
              </a:lnSpc>
              <a:buNone/>
            </a:pPr>
            <a:r>
              <a:rPr lang="en-US" sz="1300" dirty="0">
                <a:solidFill>
                  <a:srgbClr val="8FD8B0"/>
                </a:solidFill>
                <a:latin typeface="Courier New" pitchFamily="34" charset="0"/>
                <a:ea typeface="Courier New" pitchFamily="34" charset="-122"/>
                <a:cs typeface="Courier New" pitchFamily="34" charset="-120"/>
              </a:rPr>
              <a:t>https://api.gdeltproject.org/api/v2/doc/doc</a:t>
            </a:r>
            <a:endParaRPr lang="en-US" sz="1300" dirty="0"/>
          </a:p>
          <a:p>
            <a:pPr indent="0" marL="0">
              <a:lnSpc>
                <a:spcPct val="135000"/>
              </a:lnSpc>
              <a:buNone/>
            </a:pPr>
            <a:r>
              <a:rPr lang="en-US" sz="1300" dirty="0">
                <a:solidFill>
                  <a:srgbClr val="FFFFFF"/>
                </a:solidFill>
                <a:latin typeface="Courier New" pitchFamily="34" charset="0"/>
                <a:ea typeface="Courier New" pitchFamily="34" charset="-122"/>
                <a:cs typeface="Courier New" pitchFamily="34" charset="-120"/>
              </a:rPr>
              <a:t>  ?query="Chesa Boudin"   &amp;mode=timelinevol</a:t>
            </a:r>
            <a:endParaRPr lang="en-US" sz="1300" dirty="0"/>
          </a:p>
          <a:p>
            <a:pPr indent="0" marL="0">
              <a:lnSpc>
                <a:spcPct val="135000"/>
              </a:lnSpc>
              <a:buNone/>
            </a:pPr>
            <a:r>
              <a:rPr lang="en-US" sz="1300" dirty="0">
                <a:solidFill>
                  <a:srgbClr val="FFFFFF"/>
                </a:solidFill>
                <a:latin typeface="Courier New" pitchFamily="34" charset="0"/>
                <a:ea typeface="Courier New" pitchFamily="34" charset="-122"/>
                <a:cs typeface="Courier New" pitchFamily="34" charset="-120"/>
              </a:rPr>
              <a:t>  &amp;startdatetime=20220101000000   &amp;enddatetime=20221231000000   &amp;format=json</a:t>
            </a:r>
            <a:endParaRPr lang="en-US" sz="1300" dirty="0"/>
          </a:p>
        </p:txBody>
      </p:sp>
      <p:sp>
        <p:nvSpPr>
          <p:cNvPr id="20" name="Text 18"/>
          <p:cNvSpPr/>
          <p:nvPr/>
        </p:nvSpPr>
        <p:spPr>
          <a:xfrm>
            <a:off x="594360" y="6016752"/>
            <a:ext cx="11018520" cy="502920"/>
          </a:xfrm>
          <a:prstGeom prst="rect">
            <a:avLst/>
          </a:prstGeom>
          <a:noFill/>
          <a:ln/>
        </p:spPr>
        <p:txBody>
          <a:bodyPr wrap="square" lIns="0" tIns="0" rIns="0" bIns="0" rtlCol="0" anchor="t"/>
          <a:lstStyle/>
          <a:p>
            <a:pPr indent="0" marL="0">
              <a:lnSpc>
                <a:spcPct val="110000"/>
              </a:lnSpc>
              <a:buNone/>
            </a:pPr>
            <a:r>
              <a:rPr lang="en-US" sz="1150" i="1" dirty="0">
                <a:solidFill>
                  <a:srgbClr val="6B7280"/>
                </a:solidFill>
                <a:latin typeface="Calibri" pitchFamily="34" charset="0"/>
                <a:ea typeface="Calibri" pitchFamily="34" charset="-122"/>
                <a:cs typeface="Calibri" pitchFamily="34" charset="-120"/>
              </a:rPr>
              <a:t>Swap mode= for artlist (articles with URLs), timelinetone, tonechart, or wordcloudimagetags. Narrow with domain:sfchronicle.com, sourcecountry:US, or theme:ARREST.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Study B — what the police did around the recall</a:t>
            </a:r>
            <a:endParaRPr lang="en-US" sz="3400" dirty="0"/>
          </a:p>
        </p:txBody>
      </p:sp>
      <p:sp>
        <p:nvSpPr>
          <p:cNvPr id="3" name="Text 1"/>
          <p:cNvSpPr/>
          <p:nvPr/>
        </p:nvSpPr>
        <p:spPr>
          <a:xfrm>
            <a:off x="594360" y="969264"/>
            <a:ext cx="11018520" cy="320040"/>
          </a:xfrm>
          <a:prstGeom prst="rect">
            <a:avLst/>
          </a:prstGeom>
          <a:noFill/>
          <a:ln/>
        </p:spPr>
        <p:txBody>
          <a:bodyPr wrap="square" lIns="0" tIns="0" rIns="0" bIns="0" rtlCol="0" anchor="ctr"/>
          <a:lstStyle/>
          <a:p>
            <a:pPr indent="0" marL="0">
              <a:buNone/>
            </a:pPr>
            <a:r>
              <a:rPr lang="en-US" sz="1350" dirty="0">
                <a:solidFill>
                  <a:srgbClr val="3F4757"/>
                </a:solidFill>
                <a:latin typeface="Calibri" pitchFamily="34" charset="0"/>
                <a:ea typeface="Calibri" pitchFamily="34" charset="-122"/>
                <a:cs typeface="Calibri" pitchFamily="34" charset="-120"/>
              </a:rPr>
              <a:t>Regression kink design at 7 June 2022: the night the result was known, and four weeks before any new DA took office.</a:t>
            </a:r>
            <a:endParaRPr lang="en-US" sz="1350" dirty="0"/>
          </a:p>
        </p:txBody>
      </p:sp>
      <p:pic>
        <p:nvPicPr>
          <p:cNvPr id="4" name="Image 0" descr="C:\Users\dviry\AppData\Local\Temp\claude\G--My-Drive-Papers-and-ClassReading-Berkeley-postdoc-media-media-bias-python\25b9c88b-7822-4300-9b08-389123fdd540\scratchpad\deck\img\stops.png">    </p:cNvPr>
          <p:cNvPicPr>
            <a:picLocks noChangeAspect="1"/>
          </p:cNvPicPr>
          <p:nvPr/>
        </p:nvPicPr>
        <p:blipFill>
          <a:blip r:embed="rId1"/>
          <a:stretch>
            <a:fillRect/>
          </a:stretch>
        </p:blipFill>
        <p:spPr>
          <a:xfrm>
            <a:off x="685800" y="1417320"/>
            <a:ext cx="4846320" cy="3465576"/>
          </a:xfrm>
          <a:prstGeom prst="rect">
            <a:avLst/>
          </a:prstGeom>
        </p:spPr>
      </p:pic>
      <p:pic>
        <p:nvPicPr>
          <p:cNvPr id="5" name="Image 1" descr="C:\Users\dviry\AppData\Local\Temp\claude\G--My-Drive-Papers-and-ClassReading-Berkeley-postdoc-media-media-bias-python\25b9c88b-7822-4300-9b08-389123fdd540\scratchpad\deck\img\calls.png">    </p:cNvPr>
          <p:cNvPicPr>
            <a:picLocks noChangeAspect="1"/>
          </p:cNvPicPr>
          <p:nvPr/>
        </p:nvPicPr>
        <p:blipFill>
          <a:blip r:embed="rId2"/>
          <a:stretch>
            <a:fillRect/>
          </a:stretch>
        </p:blipFill>
        <p:spPr>
          <a:xfrm>
            <a:off x="6629400" y="1417320"/>
            <a:ext cx="4846320" cy="3465576"/>
          </a:xfrm>
          <a:prstGeom prst="rect">
            <a:avLst/>
          </a:prstGeom>
        </p:spPr>
      </p:pic>
      <p:sp>
        <p:nvSpPr>
          <p:cNvPr id="6" name="Text 2"/>
          <p:cNvSpPr/>
          <p:nvPr/>
        </p:nvSpPr>
        <p:spPr>
          <a:xfrm>
            <a:off x="685800" y="4956048"/>
            <a:ext cx="4846320" cy="640080"/>
          </a:xfrm>
          <a:prstGeom prst="rect">
            <a:avLst/>
          </a:prstGeom>
          <a:noFill/>
          <a:ln/>
        </p:spPr>
        <p:txBody>
          <a:bodyPr wrap="square" lIns="0" tIns="0" rIns="0" bIns="0" rtlCol="0" anchor="t"/>
          <a:lstStyle/>
          <a:p>
            <a:pPr indent="0" marL="0">
              <a:lnSpc>
                <a:spcPct val="110000"/>
              </a:lnSpc>
              <a:buNone/>
            </a:pPr>
            <a:r>
              <a:rPr lang="en-US" sz="1300" b="1" dirty="0">
                <a:solidFill>
                  <a:srgbClr val="2B3A55"/>
                </a:solidFill>
                <a:latin typeface="Calibri" pitchFamily="34" charset="0"/>
                <a:ea typeface="Calibri" pitchFamily="34" charset="-122"/>
                <a:cs typeface="Calibri" pitchFamily="34" charset="-120"/>
              </a:rPr>
              <a:t>Officer-initiated stops.</a:t>
            </a:r>
            <a:endParaRPr lang="en-US" sz="1300" dirty="0"/>
          </a:p>
          <a:p>
            <a:pPr indent="0" marL="0">
              <a:lnSpc>
                <a:spcPct val="110000"/>
              </a:lnSpc>
              <a:buNone/>
            </a:pPr>
            <a:r>
              <a:rPr lang="en-US" sz="1200" dirty="0">
                <a:solidFill>
                  <a:srgbClr val="2B3A55"/>
                </a:solidFill>
                <a:latin typeface="Calibri" pitchFamily="34" charset="0"/>
                <a:ea typeface="Calibri" pitchFamily="34" charset="-122"/>
                <a:cs typeface="Calibri" pitchFamily="34" charset="-120"/>
              </a:rPr>
              <a:t>-0.17 per week before, +0.38 after. Slope shift 0.558, p &lt; .001.</a:t>
            </a:r>
            <a:endParaRPr lang="en-US" sz="1300" dirty="0"/>
          </a:p>
        </p:txBody>
      </p:sp>
      <p:sp>
        <p:nvSpPr>
          <p:cNvPr id="7" name="Text 3"/>
          <p:cNvSpPr/>
          <p:nvPr/>
        </p:nvSpPr>
        <p:spPr>
          <a:xfrm>
            <a:off x="6629400" y="4956048"/>
            <a:ext cx="4846320" cy="640080"/>
          </a:xfrm>
          <a:prstGeom prst="rect">
            <a:avLst/>
          </a:prstGeom>
          <a:noFill/>
          <a:ln/>
        </p:spPr>
        <p:txBody>
          <a:bodyPr wrap="square" lIns="0" tIns="0" rIns="0" bIns="0" rtlCol="0" anchor="t"/>
          <a:lstStyle/>
          <a:p>
            <a:pPr indent="0" marL="0">
              <a:lnSpc>
                <a:spcPct val="110000"/>
              </a:lnSpc>
              <a:buNone/>
            </a:pPr>
            <a:r>
              <a:rPr lang="en-US" sz="1300" b="1" dirty="0">
                <a:solidFill>
                  <a:srgbClr val="2B3A55"/>
                </a:solidFill>
                <a:latin typeface="Calibri" pitchFamily="34" charset="0"/>
                <a:ea typeface="Calibri" pitchFamily="34" charset="-122"/>
                <a:cs typeface="Calibri" pitchFamily="34" charset="-120"/>
              </a:rPr>
              <a:t>Citizen calls for service.</a:t>
            </a:r>
            <a:endParaRPr lang="en-US" sz="1300" dirty="0"/>
          </a:p>
          <a:p>
            <a:pPr indent="0" marL="0">
              <a:lnSpc>
                <a:spcPct val="110000"/>
              </a:lnSpc>
              <a:buNone/>
            </a:pPr>
            <a:r>
              <a:rPr lang="en-US" sz="1200" dirty="0">
                <a:solidFill>
                  <a:srgbClr val="2B3A55"/>
                </a:solidFill>
                <a:latin typeface="Calibri" pitchFamily="34" charset="0"/>
                <a:ea typeface="Calibri" pitchFamily="34" charset="-122"/>
                <a:cs typeface="Calibri" pitchFamily="34" charset="-120"/>
              </a:rPr>
              <a:t>No kink. Same null for reports residents filed online.</a:t>
            </a:r>
            <a:endParaRPr lang="en-US" sz="1300" dirty="0"/>
          </a:p>
        </p:txBody>
      </p:sp>
      <p:sp>
        <p:nvSpPr>
          <p:cNvPr id="8" name="Shape 4"/>
          <p:cNvSpPr/>
          <p:nvPr/>
        </p:nvSpPr>
        <p:spPr>
          <a:xfrm>
            <a:off x="594360" y="5669280"/>
            <a:ext cx="11018520" cy="731520"/>
          </a:xfrm>
          <a:prstGeom prst="roundRect">
            <a:avLst>
              <a:gd name="adj" fmla="val 8750"/>
            </a:avLst>
          </a:prstGeom>
          <a:solidFill>
            <a:srgbClr val="F6E9EA"/>
          </a:solidFill>
          <a:ln/>
          <a:effectLst>
            <a:outerShdw sx="100000" sy="100000" kx="0" ky="0" algn="bl" rotWithShape="0" blurRad="101600" dist="25400" dir="5400000">
              <a:srgbClr val="9AA1AE">
                <a:alpha val="22000"/>
              </a:srgbClr>
            </a:outerShdw>
          </a:effectLst>
        </p:spPr>
      </p:sp>
      <p:sp>
        <p:nvSpPr>
          <p:cNvPr id="9" name="Text 5"/>
          <p:cNvSpPr/>
          <p:nvPr/>
        </p:nvSpPr>
        <p:spPr>
          <a:xfrm>
            <a:off x="960120" y="5669280"/>
            <a:ext cx="10332720" cy="731520"/>
          </a:xfrm>
          <a:prstGeom prst="rect">
            <a:avLst/>
          </a:prstGeom>
          <a:noFill/>
          <a:ln/>
        </p:spPr>
        <p:txBody>
          <a:bodyPr wrap="square" lIns="0" tIns="0" rIns="0" bIns="0" rtlCol="0" anchor="ctr"/>
          <a:lstStyle/>
          <a:p>
            <a:pPr indent="0" marL="0">
              <a:buNone/>
            </a:pPr>
            <a:r>
              <a:rPr lang="en-US" sz="1350" b="1" dirty="0">
                <a:solidFill>
                  <a:srgbClr val="6D1119"/>
                </a:solidFill>
                <a:latin typeface="Calibri" pitchFamily="34" charset="0"/>
                <a:ea typeface="Calibri" pitchFamily="34" charset="-122"/>
                <a:cs typeface="Calibri" pitchFamily="34" charset="-120"/>
              </a:rPr>
              <a:t>About 30 more stops and 49 more arrests in ten weeks</a:t>
            </a:r>
            <a:pPr indent="0" marL="0">
              <a:buNone/>
            </a:pPr>
            <a:r>
              <a:rPr lang="en-US" sz="1350" dirty="0">
                <a:solidFill>
                  <a:srgbClr val="6D1119"/>
                </a:solidFill>
                <a:latin typeface="Calibri" pitchFamily="34" charset="0"/>
                <a:ea typeface="Calibri" pitchFamily="34" charset="-122"/>
                <a:cs typeface="Calibri" pitchFamily="34" charset="-120"/>
              </a:rPr>
              <a:t> — with no change in what the public reported. Enforcement effort moved; crime did not.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And it lands in a jail</a:t>
            </a:r>
            <a:endParaRPr lang="en-US" sz="3400" dirty="0"/>
          </a:p>
        </p:txBody>
      </p:sp>
      <p:pic>
        <p:nvPicPr>
          <p:cNvPr id="3" name="Image 0" descr="C:\Users\dviry\AppData\Local\Temp\claude\G--My-Drive-Papers-and-ClassReading-Berkeley-postdoc-media-media-bias-python\25b9c88b-7822-4300-9b08-389123fdd540\scratchpad\deck\img\jail.png">    </p:cNvPr>
          <p:cNvPicPr>
            <a:picLocks noChangeAspect="1"/>
          </p:cNvPicPr>
          <p:nvPr/>
        </p:nvPicPr>
        <p:blipFill>
          <a:blip r:embed="rId1"/>
          <a:stretch>
            <a:fillRect/>
          </a:stretch>
        </p:blipFill>
        <p:spPr>
          <a:xfrm>
            <a:off x="594360" y="1371600"/>
            <a:ext cx="5029200" cy="3593592"/>
          </a:xfrm>
          <a:prstGeom prst="rect">
            <a:avLst/>
          </a:prstGeom>
        </p:spPr>
      </p:pic>
      <p:sp>
        <p:nvSpPr>
          <p:cNvPr id="4" name="Text 1"/>
          <p:cNvSpPr/>
          <p:nvPr/>
        </p:nvSpPr>
        <p:spPr>
          <a:xfrm>
            <a:off x="594360" y="5029200"/>
            <a:ext cx="502920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SF jail population, weeks relative to the recall election.</a:t>
            </a:r>
            <a:endParaRPr lang="en-US" sz="1050" dirty="0"/>
          </a:p>
        </p:txBody>
      </p:sp>
      <p:sp>
        <p:nvSpPr>
          <p:cNvPr id="5" name="Shape 2"/>
          <p:cNvSpPr/>
          <p:nvPr/>
        </p:nvSpPr>
        <p:spPr>
          <a:xfrm>
            <a:off x="6035040" y="1371600"/>
            <a:ext cx="5577840" cy="1371600"/>
          </a:xfrm>
          <a:prstGeom prst="roundRect">
            <a:avLst>
              <a:gd name="adj" fmla="val 4667"/>
            </a:avLst>
          </a:prstGeom>
          <a:solidFill>
            <a:srgbClr val="F4F5F7"/>
          </a:solidFill>
          <a:ln/>
          <a:effectLst>
            <a:outerShdw sx="100000" sy="100000" kx="0" ky="0" algn="bl" rotWithShape="0" blurRad="101600" dist="25400" dir="5400000">
              <a:srgbClr val="9AA1AE">
                <a:alpha val="22000"/>
              </a:srgbClr>
            </a:outerShdw>
          </a:effectLst>
        </p:spPr>
      </p:sp>
      <p:sp>
        <p:nvSpPr>
          <p:cNvPr id="6" name="Text 3"/>
          <p:cNvSpPr/>
          <p:nvPr/>
        </p:nvSpPr>
        <p:spPr>
          <a:xfrm>
            <a:off x="6263640" y="1481328"/>
            <a:ext cx="1691640" cy="566928"/>
          </a:xfrm>
          <a:prstGeom prst="rect">
            <a:avLst/>
          </a:prstGeom>
          <a:noFill/>
          <a:ln/>
        </p:spPr>
        <p:txBody>
          <a:bodyPr wrap="square" lIns="0" tIns="0" rIns="0" bIns="0" rtlCol="0" anchor="ctr"/>
          <a:lstStyle/>
          <a:p>
            <a:pPr indent="0" marL="0">
              <a:buNone/>
            </a:pPr>
            <a:r>
              <a:rPr lang="en-US" sz="2700" b="1" dirty="0">
                <a:solidFill>
                  <a:srgbClr val="A31621"/>
                </a:solidFill>
                <a:latin typeface="Cambria" pitchFamily="34" charset="0"/>
                <a:ea typeface="Cambria" pitchFamily="34" charset="-122"/>
                <a:cs typeface="Cambria" pitchFamily="34" charset="-120"/>
              </a:rPr>
              <a:t>902</a:t>
            </a:r>
            <a:endParaRPr lang="en-US" sz="2700" dirty="0"/>
          </a:p>
        </p:txBody>
      </p:sp>
      <p:sp>
        <p:nvSpPr>
          <p:cNvPr id="7" name="Text 4"/>
          <p:cNvSpPr/>
          <p:nvPr/>
        </p:nvSpPr>
        <p:spPr>
          <a:xfrm>
            <a:off x="6263640" y="2029968"/>
            <a:ext cx="1691640" cy="594360"/>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extra jail</a:t>
            </a:r>
            <a:endParaRPr lang="en-US" sz="1050" dirty="0"/>
          </a:p>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person-days</a:t>
            </a:r>
            <a:endParaRPr lang="en-US" sz="1050" dirty="0"/>
          </a:p>
        </p:txBody>
      </p:sp>
      <p:sp>
        <p:nvSpPr>
          <p:cNvPr id="8" name="Text 5"/>
          <p:cNvSpPr/>
          <p:nvPr/>
        </p:nvSpPr>
        <p:spPr>
          <a:xfrm>
            <a:off x="8001000" y="1481328"/>
            <a:ext cx="1691640" cy="566928"/>
          </a:xfrm>
          <a:prstGeom prst="rect">
            <a:avLst/>
          </a:prstGeom>
          <a:noFill/>
          <a:ln/>
        </p:spPr>
        <p:txBody>
          <a:bodyPr wrap="square" lIns="0" tIns="0" rIns="0" bIns="0" rtlCol="0" anchor="ctr"/>
          <a:lstStyle/>
          <a:p>
            <a:pPr indent="0" marL="0">
              <a:buNone/>
            </a:pPr>
            <a:r>
              <a:rPr lang="en-US" sz="2700" b="1" dirty="0">
                <a:solidFill>
                  <a:srgbClr val="A31621"/>
                </a:solidFill>
                <a:latin typeface="Cambria" pitchFamily="34" charset="0"/>
                <a:ea typeface="Cambria" pitchFamily="34" charset="-122"/>
                <a:cs typeface="Cambria" pitchFamily="34" charset="-120"/>
              </a:rPr>
              <a:t>&gt;$270k</a:t>
            </a:r>
            <a:endParaRPr lang="en-US" sz="2700" dirty="0"/>
          </a:p>
        </p:txBody>
      </p:sp>
      <p:sp>
        <p:nvSpPr>
          <p:cNvPr id="9" name="Text 6"/>
          <p:cNvSpPr/>
          <p:nvPr/>
        </p:nvSpPr>
        <p:spPr>
          <a:xfrm>
            <a:off x="8001000" y="2029968"/>
            <a:ext cx="1691640" cy="594360"/>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at ~$300 a day</a:t>
            </a:r>
            <a:endParaRPr lang="en-US" sz="1050" dirty="0"/>
          </a:p>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in San Francisco</a:t>
            </a:r>
            <a:endParaRPr lang="en-US" sz="1050" dirty="0"/>
          </a:p>
        </p:txBody>
      </p:sp>
      <p:sp>
        <p:nvSpPr>
          <p:cNvPr id="10" name="Text 7"/>
          <p:cNvSpPr/>
          <p:nvPr/>
        </p:nvSpPr>
        <p:spPr>
          <a:xfrm>
            <a:off x="9738360" y="1481328"/>
            <a:ext cx="1691640" cy="566928"/>
          </a:xfrm>
          <a:prstGeom prst="rect">
            <a:avLst/>
          </a:prstGeom>
          <a:noFill/>
          <a:ln/>
        </p:spPr>
        <p:txBody>
          <a:bodyPr wrap="square" lIns="0" tIns="0" rIns="0" bIns="0" rtlCol="0" anchor="ctr"/>
          <a:lstStyle/>
          <a:p>
            <a:pPr indent="0" marL="0">
              <a:buNone/>
            </a:pPr>
            <a:r>
              <a:rPr lang="en-US" sz="2700" b="1" dirty="0">
                <a:solidFill>
                  <a:srgbClr val="A31621"/>
                </a:solidFill>
                <a:latin typeface="Cambria" pitchFamily="34" charset="0"/>
                <a:ea typeface="Cambria" pitchFamily="34" charset="-122"/>
                <a:cs typeface="Cambria" pitchFamily="34" charset="-120"/>
              </a:rPr>
              <a:t>&gt;$1.4M</a:t>
            </a:r>
            <a:endParaRPr lang="en-US" sz="2700" dirty="0"/>
          </a:p>
        </p:txBody>
      </p:sp>
      <p:sp>
        <p:nvSpPr>
          <p:cNvPr id="11" name="Text 8"/>
          <p:cNvSpPr/>
          <p:nvPr/>
        </p:nvSpPr>
        <p:spPr>
          <a:xfrm>
            <a:off x="9738360" y="2029968"/>
            <a:ext cx="1691640" cy="594360"/>
          </a:xfrm>
          <a:prstGeom prst="rect">
            <a:avLst/>
          </a:prstGeom>
          <a:noFill/>
          <a:ln/>
        </p:spPr>
        <p:txBody>
          <a:bodyPr wrap="square" lIns="0" tIns="0" rIns="0" bIns="0" rtlCol="0" anchor="t"/>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annualised cost</a:t>
            </a:r>
            <a:endParaRPr lang="en-US" sz="1050" dirty="0"/>
          </a:p>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in the paper</a:t>
            </a:r>
            <a:endParaRPr lang="en-US" sz="1050" dirty="0"/>
          </a:p>
        </p:txBody>
      </p:sp>
      <p:sp>
        <p:nvSpPr>
          <p:cNvPr id="12" name="Shape 9"/>
          <p:cNvSpPr/>
          <p:nvPr/>
        </p:nvSpPr>
        <p:spPr>
          <a:xfrm>
            <a:off x="6035040" y="2880360"/>
            <a:ext cx="5577840" cy="1005840"/>
          </a:xfrm>
          <a:prstGeom prst="roundRect">
            <a:avLst>
              <a:gd name="adj" fmla="val 6364"/>
            </a:avLst>
          </a:prstGeom>
          <a:solidFill>
            <a:srgbClr val="F4F5F7"/>
          </a:solidFill>
          <a:ln/>
          <a:effectLst>
            <a:outerShdw sx="100000" sy="100000" kx="0" ky="0" algn="bl" rotWithShape="0" blurRad="101600" dist="25400" dir="5400000">
              <a:srgbClr val="9AA1AE">
                <a:alpha val="22000"/>
              </a:srgbClr>
            </a:outerShdw>
          </a:effectLst>
        </p:spPr>
      </p:sp>
      <p:sp>
        <p:nvSpPr>
          <p:cNvPr id="13" name="Text 10"/>
          <p:cNvSpPr/>
          <p:nvPr/>
        </p:nvSpPr>
        <p:spPr>
          <a:xfrm>
            <a:off x="6355080" y="2880360"/>
            <a:ext cx="4937760" cy="1005840"/>
          </a:xfrm>
          <a:prstGeom prst="rect">
            <a:avLst/>
          </a:prstGeom>
          <a:noFill/>
          <a:ln/>
        </p:spPr>
        <p:txBody>
          <a:bodyPr wrap="square" lIns="0" tIns="0" rIns="0" bIns="0" rtlCol="0" anchor="ctr"/>
          <a:lstStyle/>
          <a:p>
            <a:pPr indent="0" marL="0">
              <a:lnSpc>
                <a:spcPct val="112000"/>
              </a:lnSpc>
              <a:buNone/>
            </a:pPr>
            <a:r>
              <a:rPr lang="en-US" sz="1300" b="1" dirty="0">
                <a:solidFill>
                  <a:srgbClr val="3F4757"/>
                </a:solidFill>
                <a:latin typeface="Calibri" pitchFamily="34" charset="0"/>
                <a:ea typeface="Calibri" pitchFamily="34" charset="-122"/>
                <a:cs typeface="Calibri" pitchFamily="34" charset="-120"/>
              </a:rPr>
              <a:t>Charges flat, discharges up.</a:t>
            </a:r>
            <a:endParaRPr lang="en-US" sz="1300" dirty="0"/>
          </a:p>
          <a:p>
            <a:pPr indent="0" marL="0">
              <a:lnSpc>
                <a:spcPct val="112000"/>
              </a:lnSpc>
              <a:buNone/>
            </a:pPr>
            <a:r>
              <a:rPr lang="en-US" sz="1200" dirty="0">
                <a:solidFill>
                  <a:srgbClr val="3F4757"/>
                </a:solidFill>
                <a:latin typeface="Calibri" pitchFamily="34" charset="0"/>
                <a:ea typeface="Calibri" pitchFamily="34" charset="-122"/>
                <a:cs typeface="Calibri" pitchFamily="34" charset="-120"/>
              </a:rPr>
              <a:t>Prosecutors saw more cases, not better ones — the police supplied more marginal arrests.</a:t>
            </a:r>
            <a:endParaRPr lang="en-US" sz="1300" dirty="0"/>
          </a:p>
        </p:txBody>
      </p:sp>
      <p:sp>
        <p:nvSpPr>
          <p:cNvPr id="14" name="Shape 11"/>
          <p:cNvSpPr/>
          <p:nvPr/>
        </p:nvSpPr>
        <p:spPr>
          <a:xfrm>
            <a:off x="6035040" y="4023360"/>
            <a:ext cx="5577840" cy="1005840"/>
          </a:xfrm>
          <a:prstGeom prst="roundRect">
            <a:avLst>
              <a:gd name="adj" fmla="val 6364"/>
            </a:avLst>
          </a:prstGeom>
          <a:solidFill>
            <a:srgbClr val="F4F5F7"/>
          </a:solidFill>
          <a:ln/>
          <a:effectLst>
            <a:outerShdw sx="100000" sy="100000" kx="0" ky="0" algn="bl" rotWithShape="0" blurRad="101600" dist="25400" dir="5400000">
              <a:srgbClr val="9AA1AE">
                <a:alpha val="22000"/>
              </a:srgbClr>
            </a:outerShdw>
          </a:effectLst>
        </p:spPr>
      </p:sp>
      <p:sp>
        <p:nvSpPr>
          <p:cNvPr id="15" name="Text 12"/>
          <p:cNvSpPr/>
          <p:nvPr/>
        </p:nvSpPr>
        <p:spPr>
          <a:xfrm>
            <a:off x="6355080" y="4023360"/>
            <a:ext cx="4937760" cy="1005840"/>
          </a:xfrm>
          <a:prstGeom prst="rect">
            <a:avLst/>
          </a:prstGeom>
          <a:noFill/>
          <a:ln/>
        </p:spPr>
        <p:txBody>
          <a:bodyPr wrap="square" lIns="0" tIns="0" rIns="0" bIns="0" rtlCol="0" anchor="ctr"/>
          <a:lstStyle/>
          <a:p>
            <a:pPr indent="0" marL="0">
              <a:lnSpc>
                <a:spcPct val="112000"/>
              </a:lnSpc>
              <a:buNone/>
            </a:pPr>
            <a:r>
              <a:rPr lang="en-US" sz="1300" b="1" dirty="0">
                <a:solidFill>
                  <a:srgbClr val="3F4757"/>
                </a:solidFill>
                <a:latin typeface="Calibri" pitchFamily="34" charset="0"/>
                <a:ea typeface="Calibri" pitchFamily="34" charset="-122"/>
                <a:cs typeface="Calibri" pitchFamily="34" charset="-120"/>
              </a:rPr>
              <a:t>Concentrated where discretion lives.</a:t>
            </a:r>
            <a:endParaRPr lang="en-US" sz="1300" dirty="0"/>
          </a:p>
          <a:p>
            <a:pPr indent="0" marL="0">
              <a:lnSpc>
                <a:spcPct val="112000"/>
              </a:lnSpc>
              <a:buNone/>
            </a:pPr>
            <a:r>
              <a:rPr lang="en-US" sz="1200" dirty="0">
                <a:solidFill>
                  <a:srgbClr val="3F4757"/>
                </a:solidFill>
                <a:latin typeface="Calibri" pitchFamily="34" charset="0"/>
                <a:ea typeface="Calibri" pitchFamily="34" charset="-122"/>
                <a:cs typeface="Calibri" pitchFamily="34" charset="-120"/>
              </a:rPr>
              <a:t>Traffic, property and public-order stops moved. Violent-crime stops did not — less room to choose.</a:t>
            </a:r>
            <a:endParaRPr lang="en-US" sz="1300" dirty="0"/>
          </a:p>
        </p:txBody>
      </p:sp>
      <p:sp>
        <p:nvSpPr>
          <p:cNvPr id="16" name="Shape 13"/>
          <p:cNvSpPr/>
          <p:nvPr/>
        </p:nvSpPr>
        <p:spPr>
          <a:xfrm>
            <a:off x="594360" y="5486400"/>
            <a:ext cx="11018520" cy="868680"/>
          </a:xfrm>
          <a:prstGeom prst="roundRect">
            <a:avLst>
              <a:gd name="adj" fmla="val 7368"/>
            </a:avLst>
          </a:prstGeom>
          <a:solidFill>
            <a:srgbClr val="14161F"/>
          </a:solidFill>
          <a:ln/>
          <a:effectLst>
            <a:outerShdw sx="100000" sy="100000" kx="0" ky="0" algn="bl" rotWithShape="0" blurRad="101600" dist="25400" dir="5400000">
              <a:srgbClr val="9AA1AE">
                <a:alpha val="22000"/>
              </a:srgbClr>
            </a:outerShdw>
          </a:effectLst>
        </p:spPr>
      </p:sp>
      <p:sp>
        <p:nvSpPr>
          <p:cNvPr id="17" name="Text 14"/>
          <p:cNvSpPr/>
          <p:nvPr/>
        </p:nvSpPr>
        <p:spPr>
          <a:xfrm>
            <a:off x="960120" y="5486400"/>
            <a:ext cx="10332720" cy="868680"/>
          </a:xfrm>
          <a:prstGeom prst="rect">
            <a:avLst/>
          </a:prstGeom>
          <a:noFill/>
          <a:ln/>
        </p:spPr>
        <p:txBody>
          <a:bodyPr wrap="square" lIns="0" tIns="0" rIns="0" bIns="0" rtlCol="0" anchor="ctr"/>
          <a:lstStyle/>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A media-saturated election changed who sat in a cell.</a:t>
            </a:r>
            <a:endParaRPr lang="en-US" sz="1600" dirty="0"/>
          </a:p>
          <a:p>
            <a:pPr indent="0" marL="0">
              <a:lnSpc>
                <a:spcPct val="115000"/>
              </a:lnSpc>
              <a:buNone/>
            </a:pPr>
            <a:r>
              <a:rPr lang="en-US" sz="1250" dirty="0">
                <a:solidFill>
                  <a:srgbClr val="C3C9D6"/>
                </a:solidFill>
                <a:latin typeface="Calibri" pitchFamily="34" charset="0"/>
                <a:ea typeface="Calibri" pitchFamily="34" charset="-122"/>
                <a:cs typeface="Calibri" pitchFamily="34" charset="-120"/>
              </a:rPr>
              <a:t>No statute changed, no new DA had taken office, and no more crime was reported.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Where GDELT would have made that study better</a:t>
            </a:r>
            <a:endParaRPr lang="en-US" sz="3400" dirty="0"/>
          </a:p>
        </p:txBody>
      </p:sp>
      <p:sp>
        <p:nvSpPr>
          <p:cNvPr id="3" name="Text 1"/>
          <p:cNvSpPr/>
          <p:nvPr/>
        </p:nvSpPr>
        <p:spPr>
          <a:xfrm>
            <a:off x="594360" y="969264"/>
            <a:ext cx="11018520" cy="548640"/>
          </a:xfrm>
          <a:prstGeom prst="rect">
            <a:avLst/>
          </a:prstGeom>
          <a:noFill/>
          <a:ln/>
        </p:spPr>
        <p:txBody>
          <a:bodyPr wrap="square" lIns="0" tIns="0" rIns="0" bIns="0" rtlCol="0" anchor="t"/>
          <a:lstStyle/>
          <a:p>
            <a:pPr indent="0" marL="0">
              <a:lnSpc>
                <a:spcPct val="112000"/>
              </a:lnSpc>
              <a:buNone/>
            </a:pPr>
            <a:r>
              <a:rPr lang="en-US" sz="1350" dirty="0">
                <a:solidFill>
                  <a:srgbClr val="3F4757"/>
                </a:solidFill>
                <a:latin typeface="Calibri" pitchFamily="34" charset="0"/>
                <a:ea typeface="Calibri" pitchFamily="34" charset="-122"/>
                <a:cs typeface="Calibri" pitchFamily="34" charset="-120"/>
              </a:rPr>
              <a:t>We measured coverage in one dataset (LexisNexis, monthly) and behaviour in another (SFPD, weekly). We never had a measure of attention at the resolution the design needs.</a:t>
            </a:r>
            <a:endParaRPr lang="en-US" sz="1350" dirty="0"/>
          </a:p>
        </p:txBody>
      </p:sp>
      <p:sp>
        <p:nvSpPr>
          <p:cNvPr id="4" name="Shape 2"/>
          <p:cNvSpPr/>
          <p:nvPr/>
        </p:nvSpPr>
        <p:spPr>
          <a:xfrm>
            <a:off x="594360" y="1737360"/>
            <a:ext cx="5303520" cy="1645920"/>
          </a:xfrm>
          <a:prstGeom prst="roundRect">
            <a:avLst>
              <a:gd name="adj" fmla="val 3889"/>
            </a:avLst>
          </a:prstGeom>
          <a:solidFill>
            <a:srgbClr val="F4F5F7"/>
          </a:solidFill>
          <a:ln/>
          <a:effectLst>
            <a:outerShdw sx="100000" sy="100000" kx="0" ky="0" algn="bl" rotWithShape="0" blurRad="101600" dist="25400" dir="5400000">
              <a:srgbClr val="9AA1AE">
                <a:alpha val="22000"/>
              </a:srgbClr>
            </a:outerShdw>
          </a:effectLst>
        </p:spPr>
      </p:sp>
      <p:sp>
        <p:nvSpPr>
          <p:cNvPr id="5" name="Shape 3"/>
          <p:cNvSpPr/>
          <p:nvPr/>
        </p:nvSpPr>
        <p:spPr>
          <a:xfrm>
            <a:off x="868680" y="1975104"/>
            <a:ext cx="384048" cy="384048"/>
          </a:xfrm>
          <a:prstGeom prst="ellipse">
            <a:avLst/>
          </a:prstGeom>
          <a:solidFill>
            <a:srgbClr val="A31621"/>
          </a:solidFill>
          <a:ln/>
        </p:spPr>
      </p:sp>
      <p:sp>
        <p:nvSpPr>
          <p:cNvPr id="6" name="Text 4"/>
          <p:cNvSpPr/>
          <p:nvPr/>
        </p:nvSpPr>
        <p:spPr>
          <a:xfrm>
            <a:off x="868680" y="1975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35608" y="1920240"/>
            <a:ext cx="4160520" cy="347472"/>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Put attention on the same axis</a:t>
            </a:r>
            <a:endParaRPr lang="en-US" sz="1550" dirty="0"/>
          </a:p>
        </p:txBody>
      </p:sp>
      <p:sp>
        <p:nvSpPr>
          <p:cNvPr id="8" name="Text 6"/>
          <p:cNvSpPr/>
          <p:nvPr/>
        </p:nvSpPr>
        <p:spPr>
          <a:xfrm>
            <a:off x="868680" y="2377440"/>
            <a:ext cx="4754880" cy="91440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A daily coverage-volume series for "Boudin" and "recall", plotted against the enforcement kink. Does the turn track coverage, or only the ballot date?</a:t>
            </a:r>
            <a:endParaRPr lang="en-US" sz="1200" dirty="0"/>
          </a:p>
        </p:txBody>
      </p:sp>
      <p:sp>
        <p:nvSpPr>
          <p:cNvPr id="9" name="Shape 7"/>
          <p:cNvSpPr/>
          <p:nvPr/>
        </p:nvSpPr>
        <p:spPr>
          <a:xfrm>
            <a:off x="6309360" y="1737360"/>
            <a:ext cx="5303520" cy="1645920"/>
          </a:xfrm>
          <a:prstGeom prst="roundRect">
            <a:avLst>
              <a:gd name="adj" fmla="val 3889"/>
            </a:avLst>
          </a:prstGeom>
          <a:solidFill>
            <a:srgbClr val="F4F5F7"/>
          </a:solidFill>
          <a:ln/>
          <a:effectLst>
            <a:outerShdw sx="100000" sy="100000" kx="0" ky="0" algn="bl" rotWithShape="0" blurRad="101600" dist="25400" dir="5400000">
              <a:srgbClr val="9AA1AE">
                <a:alpha val="22000"/>
              </a:srgbClr>
            </a:outerShdw>
          </a:effectLst>
        </p:spPr>
      </p:sp>
      <p:sp>
        <p:nvSpPr>
          <p:cNvPr id="10" name="Shape 8"/>
          <p:cNvSpPr/>
          <p:nvPr/>
        </p:nvSpPr>
        <p:spPr>
          <a:xfrm>
            <a:off x="6583680" y="1975104"/>
            <a:ext cx="384048" cy="384048"/>
          </a:xfrm>
          <a:prstGeom prst="ellipse">
            <a:avLst/>
          </a:prstGeom>
          <a:solidFill>
            <a:srgbClr val="A31621"/>
          </a:solidFill>
          <a:ln/>
        </p:spPr>
      </p:sp>
      <p:sp>
        <p:nvSpPr>
          <p:cNvPr id="11" name="Text 9"/>
          <p:cNvSpPr/>
          <p:nvPr/>
        </p:nvSpPr>
        <p:spPr>
          <a:xfrm>
            <a:off x="6583680" y="1975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150608" y="1920240"/>
            <a:ext cx="4160520" cy="347472"/>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Controls, for free</a:t>
            </a:r>
            <a:endParaRPr lang="en-US" sz="1550" dirty="0"/>
          </a:p>
        </p:txBody>
      </p:sp>
      <p:sp>
        <p:nvSpPr>
          <p:cNvPr id="13" name="Text 11"/>
          <p:cNvSpPr/>
          <p:nvPr/>
        </p:nvSpPr>
        <p:spPr>
          <a:xfrm>
            <a:off x="6583680" y="2377440"/>
            <a:ext cx="4754880" cy="91440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The identical query for Alameda and San Mateo — the untreated county the interrupted-time-series already leans on. One more line of code, not one more licence.</a:t>
            </a:r>
            <a:endParaRPr lang="en-US" sz="1200" dirty="0"/>
          </a:p>
        </p:txBody>
      </p:sp>
      <p:sp>
        <p:nvSpPr>
          <p:cNvPr id="14" name="Shape 12"/>
          <p:cNvSpPr/>
          <p:nvPr/>
        </p:nvSpPr>
        <p:spPr>
          <a:xfrm>
            <a:off x="594360" y="3611880"/>
            <a:ext cx="5303520" cy="1645920"/>
          </a:xfrm>
          <a:prstGeom prst="roundRect">
            <a:avLst>
              <a:gd name="adj" fmla="val 3889"/>
            </a:avLst>
          </a:prstGeom>
          <a:solidFill>
            <a:srgbClr val="F4F5F7"/>
          </a:solidFill>
          <a:ln/>
          <a:effectLst>
            <a:outerShdw sx="100000" sy="100000" kx="0" ky="0" algn="bl" rotWithShape="0" blurRad="101600" dist="25400" dir="5400000">
              <a:srgbClr val="9AA1AE">
                <a:alpha val="22000"/>
              </a:srgbClr>
            </a:outerShdw>
          </a:effectLst>
        </p:spPr>
      </p:sp>
      <p:sp>
        <p:nvSpPr>
          <p:cNvPr id="15" name="Shape 13"/>
          <p:cNvSpPr/>
          <p:nvPr/>
        </p:nvSpPr>
        <p:spPr>
          <a:xfrm>
            <a:off x="868680" y="3849624"/>
            <a:ext cx="384048" cy="384048"/>
          </a:xfrm>
          <a:prstGeom prst="ellipse">
            <a:avLst/>
          </a:prstGeom>
          <a:solidFill>
            <a:srgbClr val="A31621"/>
          </a:solidFill>
          <a:ln/>
        </p:spPr>
      </p:sp>
      <p:sp>
        <p:nvSpPr>
          <p:cNvPr id="16" name="Text 14"/>
          <p:cNvSpPr/>
          <p:nvPr/>
        </p:nvSpPr>
        <p:spPr>
          <a:xfrm>
            <a:off x="868680" y="3849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35608" y="3794760"/>
            <a:ext cx="4160520" cy="347472"/>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Local television</a:t>
            </a:r>
            <a:endParaRPr lang="en-US" sz="1550" dirty="0"/>
          </a:p>
        </p:txBody>
      </p:sp>
      <p:sp>
        <p:nvSpPr>
          <p:cNvPr id="18" name="Text 16"/>
          <p:cNvSpPr/>
          <p:nvPr/>
        </p:nvSpPr>
        <p:spPr>
          <a:xfrm>
            <a:off x="868680" y="4251960"/>
            <a:ext cx="4754880" cy="91440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This fight ran on KRON, KTVU and KPIX. Captions are searchable back to 2009. LexisNexis barely covers broadcast, so we simply missed that channel.</a:t>
            </a:r>
            <a:endParaRPr lang="en-US" sz="1200" dirty="0"/>
          </a:p>
        </p:txBody>
      </p:sp>
      <p:sp>
        <p:nvSpPr>
          <p:cNvPr id="19" name="Shape 17"/>
          <p:cNvSpPr/>
          <p:nvPr/>
        </p:nvSpPr>
        <p:spPr>
          <a:xfrm>
            <a:off x="6309360" y="3611880"/>
            <a:ext cx="5303520" cy="1645920"/>
          </a:xfrm>
          <a:prstGeom prst="roundRect">
            <a:avLst>
              <a:gd name="adj" fmla="val 3889"/>
            </a:avLst>
          </a:prstGeom>
          <a:solidFill>
            <a:srgbClr val="F4F5F7"/>
          </a:solidFill>
          <a:ln/>
          <a:effectLst>
            <a:outerShdw sx="100000" sy="100000" kx="0" ky="0" algn="bl" rotWithShape="0" blurRad="101600" dist="25400" dir="5400000">
              <a:srgbClr val="9AA1AE">
                <a:alpha val="22000"/>
              </a:srgbClr>
            </a:outerShdw>
          </a:effectLst>
        </p:spPr>
      </p:sp>
      <p:sp>
        <p:nvSpPr>
          <p:cNvPr id="20" name="Shape 18"/>
          <p:cNvSpPr/>
          <p:nvPr/>
        </p:nvSpPr>
        <p:spPr>
          <a:xfrm>
            <a:off x="6583680" y="3849624"/>
            <a:ext cx="384048" cy="384048"/>
          </a:xfrm>
          <a:prstGeom prst="ellipse">
            <a:avLst/>
          </a:prstGeom>
          <a:solidFill>
            <a:srgbClr val="A31621"/>
          </a:solidFill>
          <a:ln/>
        </p:spPr>
      </p:sp>
      <p:sp>
        <p:nvSpPr>
          <p:cNvPr id="21" name="Text 19"/>
          <p:cNvSpPr/>
          <p:nvPr/>
        </p:nvSpPr>
        <p:spPr>
          <a:xfrm>
            <a:off x="6583680" y="3849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150608" y="3794760"/>
            <a:ext cx="4160520" cy="347472"/>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Tone before the vote</a:t>
            </a:r>
            <a:endParaRPr lang="en-US" sz="1550" dirty="0"/>
          </a:p>
        </p:txBody>
      </p:sp>
      <p:sp>
        <p:nvSpPr>
          <p:cNvPr id="23" name="Text 21"/>
          <p:cNvSpPr/>
          <p:nvPr/>
        </p:nvSpPr>
        <p:spPr>
          <a:xfrm>
            <a:off x="6583680" y="4251960"/>
            <a:ext cx="4754880" cy="91440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The SFPD-DA conflict opened in February 2022 when the chief withdrew from the use-of-force MOU. A tone timeline tests whether the shift began then, not in June.</a:t>
            </a:r>
            <a:endParaRPr lang="en-US" sz="1200" dirty="0"/>
          </a:p>
        </p:txBody>
      </p:sp>
      <p:sp>
        <p:nvSpPr>
          <p:cNvPr id="24" name="Text 22"/>
          <p:cNvSpPr/>
          <p:nvPr/>
        </p:nvSpPr>
        <p:spPr>
          <a:xfrm>
            <a:off x="594360" y="5577840"/>
            <a:ext cx="11018520" cy="411480"/>
          </a:xfrm>
          <a:prstGeom prst="rect">
            <a:avLst/>
          </a:prstGeom>
          <a:noFill/>
          <a:ln/>
        </p:spPr>
        <p:txBody>
          <a:bodyPr wrap="square" lIns="0" tIns="0" rIns="0" bIns="0" rtlCol="0" anchor="ctr"/>
          <a:lstStyle/>
          <a:p>
            <a:pPr indent="0" marL="0">
              <a:buNone/>
            </a:pPr>
            <a:r>
              <a:rPr lang="en-US" sz="1500" b="1" dirty="0">
                <a:solidFill>
                  <a:srgbClr val="A31621"/>
                </a:solidFill>
                <a:latin typeface="Calibri" pitchFamily="34" charset="0"/>
                <a:ea typeface="Calibri" pitchFamily="34" charset="-122"/>
                <a:cs typeface="Calibri" pitchFamily="34" charset="-120"/>
              </a:rPr>
              <a:t>None of this requires a new data purchase. All of it is a URL.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Four things the Center could do with this</a:t>
            </a:r>
            <a:endParaRPr lang="en-US" sz="3400" dirty="0"/>
          </a:p>
        </p:txBody>
      </p:sp>
      <p:sp>
        <p:nvSpPr>
          <p:cNvPr id="3" name="Shape 1"/>
          <p:cNvSpPr/>
          <p:nvPr/>
        </p:nvSpPr>
        <p:spPr>
          <a:xfrm>
            <a:off x="594360" y="1371600"/>
            <a:ext cx="5303520" cy="1600200"/>
          </a:xfrm>
          <a:prstGeom prst="roundRect">
            <a:avLst>
              <a:gd name="adj" fmla="val 4000"/>
            </a:avLst>
          </a:prstGeom>
          <a:solidFill>
            <a:srgbClr val="F4F5F7"/>
          </a:solidFill>
          <a:ln/>
          <a:effectLst>
            <a:outerShdw sx="100000" sy="100000" kx="0" ky="0" algn="bl" rotWithShape="0" blurRad="101600" dist="25400" dir="5400000">
              <a:srgbClr val="9AA1AE">
                <a:alpha val="22000"/>
              </a:srgbClr>
            </a:outerShdw>
          </a:effectLst>
        </p:spPr>
      </p:sp>
      <p:sp>
        <p:nvSpPr>
          <p:cNvPr id="4" name="Shape 2"/>
          <p:cNvSpPr/>
          <p:nvPr/>
        </p:nvSpPr>
        <p:spPr>
          <a:xfrm>
            <a:off x="868680" y="1609344"/>
            <a:ext cx="384048" cy="384048"/>
          </a:xfrm>
          <a:prstGeom prst="ellipse">
            <a:avLst/>
          </a:prstGeom>
          <a:solidFill>
            <a:srgbClr val="A31621"/>
          </a:solidFill>
          <a:ln/>
        </p:spPr>
      </p:sp>
      <p:sp>
        <p:nvSpPr>
          <p:cNvPr id="5" name="Text 3"/>
          <p:cNvSpPr/>
          <p:nvPr/>
        </p:nvSpPr>
        <p:spPr>
          <a:xfrm>
            <a:off x="868680" y="1609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435608" y="1554480"/>
            <a:ext cx="4160520" cy="347472"/>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Pretrial publicity and venue</a:t>
            </a:r>
            <a:endParaRPr lang="en-US" sz="1550" dirty="0"/>
          </a:p>
        </p:txBody>
      </p:sp>
      <p:sp>
        <p:nvSpPr>
          <p:cNvPr id="7" name="Text 5"/>
          <p:cNvSpPr/>
          <p:nvPr/>
        </p:nvSpPr>
        <p:spPr>
          <a:xfrm>
            <a:off x="868680" y="2011680"/>
            <a:ext cx="4754880" cy="86868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Quantify local saturation with a dated, reproducible pull instead of a stack of clippings: volume by outlet, by week, with every URL attached.</a:t>
            </a:r>
            <a:endParaRPr lang="en-US" sz="1200" dirty="0"/>
          </a:p>
        </p:txBody>
      </p:sp>
      <p:sp>
        <p:nvSpPr>
          <p:cNvPr id="8" name="Shape 6"/>
          <p:cNvSpPr/>
          <p:nvPr/>
        </p:nvSpPr>
        <p:spPr>
          <a:xfrm>
            <a:off x="6309360" y="1371600"/>
            <a:ext cx="5303520" cy="1600200"/>
          </a:xfrm>
          <a:prstGeom prst="roundRect">
            <a:avLst>
              <a:gd name="adj" fmla="val 4000"/>
            </a:avLst>
          </a:prstGeom>
          <a:solidFill>
            <a:srgbClr val="F4F5F7"/>
          </a:solidFill>
          <a:ln/>
          <a:effectLst>
            <a:outerShdw sx="100000" sy="100000" kx="0" ky="0" algn="bl" rotWithShape="0" blurRad="101600" dist="25400" dir="5400000">
              <a:srgbClr val="9AA1AE">
                <a:alpha val="22000"/>
              </a:srgbClr>
            </a:outerShdw>
          </a:effectLst>
        </p:spPr>
      </p:sp>
      <p:sp>
        <p:nvSpPr>
          <p:cNvPr id="9" name="Shape 7"/>
          <p:cNvSpPr/>
          <p:nvPr/>
        </p:nvSpPr>
        <p:spPr>
          <a:xfrm>
            <a:off x="6583680" y="1609344"/>
            <a:ext cx="384048" cy="384048"/>
          </a:xfrm>
          <a:prstGeom prst="ellipse">
            <a:avLst/>
          </a:prstGeom>
          <a:solidFill>
            <a:srgbClr val="A31621"/>
          </a:solidFill>
          <a:ln/>
        </p:spPr>
      </p:sp>
      <p:sp>
        <p:nvSpPr>
          <p:cNvPr id="10" name="Text 8"/>
          <p:cNvSpPr/>
          <p:nvPr/>
        </p:nvSpPr>
        <p:spPr>
          <a:xfrm>
            <a:off x="6583680" y="16093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7150608" y="1554480"/>
            <a:ext cx="4160520" cy="347472"/>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Watch a reform while you litigate it</a:t>
            </a:r>
            <a:endParaRPr lang="en-US" sz="1550" dirty="0"/>
          </a:p>
        </p:txBody>
      </p:sp>
      <p:sp>
        <p:nvSpPr>
          <p:cNvPr id="12" name="Text 10"/>
          <p:cNvSpPr/>
          <p:nvPr/>
        </p:nvSpPr>
        <p:spPr>
          <a:xfrm>
            <a:off x="6583680" y="2011680"/>
            <a:ext cx="4754880" cy="86868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How is Prop 36 implementation being framed, county by county, this month? The index refreshes every fifteen minutes.</a:t>
            </a:r>
            <a:endParaRPr lang="en-US" sz="1200" dirty="0"/>
          </a:p>
        </p:txBody>
      </p:sp>
      <p:sp>
        <p:nvSpPr>
          <p:cNvPr id="13" name="Shape 11"/>
          <p:cNvSpPr/>
          <p:nvPr/>
        </p:nvSpPr>
        <p:spPr>
          <a:xfrm>
            <a:off x="594360" y="3200400"/>
            <a:ext cx="5303520" cy="1600200"/>
          </a:xfrm>
          <a:prstGeom prst="roundRect">
            <a:avLst>
              <a:gd name="adj" fmla="val 4000"/>
            </a:avLst>
          </a:prstGeom>
          <a:solidFill>
            <a:srgbClr val="F4F5F7"/>
          </a:solidFill>
          <a:ln/>
          <a:effectLst>
            <a:outerShdw sx="100000" sy="100000" kx="0" ky="0" algn="bl" rotWithShape="0" blurRad="101600" dist="25400" dir="5400000">
              <a:srgbClr val="9AA1AE">
                <a:alpha val="22000"/>
              </a:srgbClr>
            </a:outerShdw>
          </a:effectLst>
        </p:spPr>
      </p:sp>
      <p:sp>
        <p:nvSpPr>
          <p:cNvPr id="14" name="Shape 12"/>
          <p:cNvSpPr/>
          <p:nvPr/>
        </p:nvSpPr>
        <p:spPr>
          <a:xfrm>
            <a:off x="868680" y="3438144"/>
            <a:ext cx="384048" cy="384048"/>
          </a:xfrm>
          <a:prstGeom prst="ellipse">
            <a:avLst/>
          </a:prstGeom>
          <a:solidFill>
            <a:srgbClr val="A31621"/>
          </a:solidFill>
          <a:ln/>
        </p:spPr>
      </p:sp>
      <p:sp>
        <p:nvSpPr>
          <p:cNvPr id="15" name="Text 13"/>
          <p:cNvSpPr/>
          <p:nvPr/>
        </p:nvSpPr>
        <p:spPr>
          <a:xfrm>
            <a:off x="868680" y="34381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435608" y="3383280"/>
            <a:ext cx="4160520" cy="347472"/>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Test the narrative against the data</a:t>
            </a:r>
            <a:endParaRPr lang="en-US" sz="1550" dirty="0"/>
          </a:p>
        </p:txBody>
      </p:sp>
      <p:sp>
        <p:nvSpPr>
          <p:cNvPr id="17" name="Text 15"/>
          <p:cNvSpPr/>
          <p:nvPr/>
        </p:nvSpPr>
        <p:spPr>
          <a:xfrm>
            <a:off x="868680" y="3840480"/>
            <a:ext cx="4754880" cy="86868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When an agency says crime is surging, put the coverage curve next to its own reported numbers and show the gap.</a:t>
            </a:r>
            <a:endParaRPr lang="en-US" sz="1200" dirty="0"/>
          </a:p>
        </p:txBody>
      </p:sp>
      <p:sp>
        <p:nvSpPr>
          <p:cNvPr id="18" name="Shape 16"/>
          <p:cNvSpPr/>
          <p:nvPr/>
        </p:nvSpPr>
        <p:spPr>
          <a:xfrm>
            <a:off x="6309360" y="3200400"/>
            <a:ext cx="5303520" cy="1600200"/>
          </a:xfrm>
          <a:prstGeom prst="roundRect">
            <a:avLst>
              <a:gd name="adj" fmla="val 4000"/>
            </a:avLst>
          </a:prstGeom>
          <a:solidFill>
            <a:srgbClr val="F4F5F7"/>
          </a:solidFill>
          <a:ln/>
          <a:effectLst>
            <a:outerShdw sx="100000" sy="100000" kx="0" ky="0" algn="bl" rotWithShape="0" blurRad="101600" dist="25400" dir="5400000">
              <a:srgbClr val="9AA1AE">
                <a:alpha val="22000"/>
              </a:srgbClr>
            </a:outerShdw>
          </a:effectLst>
        </p:spPr>
      </p:sp>
      <p:sp>
        <p:nvSpPr>
          <p:cNvPr id="19" name="Shape 17"/>
          <p:cNvSpPr/>
          <p:nvPr/>
        </p:nvSpPr>
        <p:spPr>
          <a:xfrm>
            <a:off x="6583680" y="3438144"/>
            <a:ext cx="384048" cy="384048"/>
          </a:xfrm>
          <a:prstGeom prst="ellipse">
            <a:avLst/>
          </a:prstGeom>
          <a:solidFill>
            <a:srgbClr val="A31621"/>
          </a:solidFill>
          <a:ln/>
        </p:spPr>
      </p:sp>
      <p:sp>
        <p:nvSpPr>
          <p:cNvPr id="20" name="Text 18"/>
          <p:cNvSpPr/>
          <p:nvPr/>
        </p:nvSpPr>
        <p:spPr>
          <a:xfrm>
            <a:off x="6583680" y="34381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7150608" y="3383280"/>
            <a:ext cx="4160520" cy="347472"/>
          </a:xfrm>
          <a:prstGeom prst="rect">
            <a:avLst/>
          </a:prstGeom>
          <a:noFill/>
          <a:ln/>
        </p:spPr>
        <p:txBody>
          <a:bodyPr wrap="square" lIns="0" tIns="0" rIns="0" bIns="0" rtlCol="0" anchor="ctr"/>
          <a:lstStyle/>
          <a:p>
            <a:pPr indent="0" marL="0">
              <a:buNone/>
            </a:pPr>
            <a:r>
              <a:rPr lang="en-US" sz="1550" b="1" dirty="0">
                <a:solidFill>
                  <a:srgbClr val="2B3A55"/>
                </a:solidFill>
                <a:latin typeface="Calibri" pitchFamily="34" charset="0"/>
                <a:ea typeface="Calibri" pitchFamily="34" charset="-122"/>
                <a:cs typeface="Calibri" pitchFamily="34" charset="-120"/>
              </a:rPr>
              <a:t>Comparison at no marginal cost</a:t>
            </a:r>
            <a:endParaRPr lang="en-US" sz="1550" dirty="0"/>
          </a:p>
        </p:txBody>
      </p:sp>
      <p:sp>
        <p:nvSpPr>
          <p:cNvPr id="22" name="Text 20"/>
          <p:cNvSpPr/>
          <p:nvPr/>
        </p:nvSpPr>
        <p:spPr>
          <a:xfrm>
            <a:off x="6583680" y="3840480"/>
            <a:ext cx="4754880" cy="868680"/>
          </a:xfrm>
          <a:prstGeom prst="rect">
            <a:avLst/>
          </a:prstGeom>
          <a:noFill/>
          <a:ln/>
        </p:spPr>
        <p:txBody>
          <a:bodyPr wrap="square" lIns="0" tIns="0" rIns="0" bIns="0" rtlCol="0" anchor="t"/>
          <a:lstStyle/>
          <a:p>
            <a:pPr indent="0" marL="0">
              <a:lnSpc>
                <a:spcPct val="114000"/>
              </a:lnSpc>
              <a:buNone/>
            </a:pPr>
            <a:r>
              <a:rPr lang="en-US" sz="1200" dirty="0">
                <a:solidFill>
                  <a:srgbClr val="3F4757"/>
                </a:solidFill>
                <a:latin typeface="Calibri" pitchFamily="34" charset="0"/>
                <a:ea typeface="Calibri" pitchFamily="34" charset="-122"/>
                <a:cs typeface="Calibri" pitchFamily="34" charset="-120"/>
              </a:rPr>
              <a:t>The same query runs across 58 California counties, or across states. Scaling up costs time, not money.</a:t>
            </a:r>
            <a:endParaRPr lang="en-US" sz="1200" dirty="0"/>
          </a:p>
        </p:txBody>
      </p:sp>
      <p:sp>
        <p:nvSpPr>
          <p:cNvPr id="23" name="Shape 21"/>
          <p:cNvSpPr/>
          <p:nvPr/>
        </p:nvSpPr>
        <p:spPr>
          <a:xfrm>
            <a:off x="594360" y="5074920"/>
            <a:ext cx="11018520" cy="1005840"/>
          </a:xfrm>
          <a:prstGeom prst="roundRect">
            <a:avLst>
              <a:gd name="adj" fmla="val 6364"/>
            </a:avLst>
          </a:prstGeom>
          <a:solidFill>
            <a:srgbClr val="F6E9EA"/>
          </a:solidFill>
          <a:ln/>
          <a:effectLst>
            <a:outerShdw sx="100000" sy="100000" kx="0" ky="0" algn="bl" rotWithShape="0" blurRad="101600" dist="25400" dir="5400000">
              <a:srgbClr val="9AA1AE">
                <a:alpha val="22000"/>
              </a:srgbClr>
            </a:outerShdw>
          </a:effectLst>
        </p:spPr>
      </p:sp>
      <p:sp>
        <p:nvSpPr>
          <p:cNvPr id="24" name="Text 22"/>
          <p:cNvSpPr/>
          <p:nvPr/>
        </p:nvSpPr>
        <p:spPr>
          <a:xfrm>
            <a:off x="960120" y="5074920"/>
            <a:ext cx="10332720" cy="1005840"/>
          </a:xfrm>
          <a:prstGeom prst="rect">
            <a:avLst/>
          </a:prstGeom>
          <a:noFill/>
          <a:ln/>
        </p:spPr>
        <p:txBody>
          <a:bodyPr wrap="square" lIns="0" tIns="0" rIns="0" bIns="0" rtlCol="0" anchor="ctr"/>
          <a:lstStyle/>
          <a:p>
            <a:pPr indent="0" marL="0">
              <a:buNone/>
            </a:pPr>
            <a:r>
              <a:rPr lang="en-US" sz="1450" b="1" dirty="0">
                <a:solidFill>
                  <a:srgbClr val="6D1119"/>
                </a:solidFill>
                <a:latin typeface="Calibri" pitchFamily="34" charset="0"/>
                <a:ea typeface="Calibri" pitchFamily="34" charset="-122"/>
                <a:cs typeface="Calibri" pitchFamily="34" charset="-120"/>
              </a:rPr>
              <a:t>Rule of thumb: </a:t>
            </a:r>
            <a:pPr indent="0" marL="0">
              <a:buNone/>
            </a:pPr>
            <a:r>
              <a:rPr lang="en-US" sz="1450" dirty="0">
                <a:solidFill>
                  <a:srgbClr val="6D1119"/>
                </a:solidFill>
                <a:latin typeface="Calibri" pitchFamily="34" charset="0"/>
                <a:ea typeface="Calibri" pitchFamily="34" charset="-122"/>
                <a:cs typeface="Calibri" pitchFamily="34" charset="-120"/>
              </a:rPr>
              <a:t>GDELT for attention and timing. LexisNexis, or the documents themselves, for what was actually said.</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29184"/>
            <a:ext cx="10972800" cy="658368"/>
          </a:xfrm>
          <a:prstGeom prst="rect">
            <a:avLst/>
          </a:prstGeom>
          <a:noFill/>
          <a:ln/>
        </p:spPr>
        <p:txBody>
          <a:bodyPr wrap="square" lIns="0" tIns="0" rIns="0" bIns="0" rtlCol="0" anchor="ctr"/>
          <a:lstStyle/>
          <a:p>
            <a:pPr algn="l" indent="0" marL="0">
              <a:buNone/>
            </a:pPr>
            <a:r>
              <a:rPr lang="en-US" sz="3400" b="1" dirty="0">
                <a:solidFill>
                  <a:srgbClr val="14161F"/>
                </a:solidFill>
                <a:latin typeface="Cambria" pitchFamily="34" charset="0"/>
                <a:ea typeface="Cambria" pitchFamily="34" charset="-122"/>
                <a:cs typeface="Cambria" pitchFamily="34" charset="-120"/>
              </a:rPr>
              <a:t>What a good opponent will say — and the answer</a:t>
            </a:r>
            <a:endParaRPr lang="en-US" sz="3400" dirty="0"/>
          </a:p>
        </p:txBody>
      </p:sp>
      <p:sp>
        <p:nvSpPr>
          <p:cNvPr id="3" name="Shape 1"/>
          <p:cNvSpPr/>
          <p:nvPr/>
        </p:nvSpPr>
        <p:spPr>
          <a:xfrm>
            <a:off x="594360" y="1280160"/>
            <a:ext cx="11018520" cy="960120"/>
          </a:xfrm>
          <a:prstGeom prst="roundRect">
            <a:avLst>
              <a:gd name="adj" fmla="val 6667"/>
            </a:avLst>
          </a:prstGeom>
          <a:solidFill>
            <a:srgbClr val="F4F5F7"/>
          </a:solidFill>
          <a:ln/>
          <a:effectLst>
            <a:outerShdw sx="100000" sy="100000" kx="0" ky="0" algn="bl" rotWithShape="0" blurRad="101600" dist="25400" dir="5400000">
              <a:srgbClr val="9AA1AE">
                <a:alpha val="22000"/>
              </a:srgbClr>
            </a:outerShdw>
          </a:effectLst>
        </p:spPr>
      </p:sp>
      <p:sp>
        <p:nvSpPr>
          <p:cNvPr id="4" name="Text 2"/>
          <p:cNvSpPr/>
          <p:nvPr/>
        </p:nvSpPr>
        <p:spPr>
          <a:xfrm>
            <a:off x="914400" y="1280160"/>
            <a:ext cx="3429000" cy="960120"/>
          </a:xfrm>
          <a:prstGeom prst="rect">
            <a:avLst/>
          </a:prstGeom>
          <a:noFill/>
          <a:ln/>
        </p:spPr>
        <p:txBody>
          <a:bodyPr wrap="square" lIns="0" tIns="0" rIns="0" bIns="0" rtlCol="0" anchor="ctr"/>
          <a:lstStyle/>
          <a:p>
            <a:pPr indent="0" marL="0">
              <a:lnSpc>
                <a:spcPct val="105000"/>
              </a:lnSpc>
              <a:buNone/>
            </a:pPr>
            <a:r>
              <a:rPr lang="en-US" sz="1450" b="1" i="1" dirty="0">
                <a:solidFill>
                  <a:srgbClr val="A31621"/>
                </a:solidFill>
                <a:latin typeface="Cambria" pitchFamily="34" charset="0"/>
                <a:ea typeface="Cambria" pitchFamily="34" charset="-122"/>
                <a:cs typeface="Cambria" pitchFamily="34" charset="-120"/>
              </a:rPr>
              <a:t>“Your sample isn't a census.”</a:t>
            </a:r>
            <a:endParaRPr lang="en-US" sz="1450" dirty="0"/>
          </a:p>
        </p:txBody>
      </p:sp>
      <p:sp>
        <p:nvSpPr>
          <p:cNvPr id="5" name="Text 3"/>
          <p:cNvSpPr/>
          <p:nvPr/>
        </p:nvSpPr>
        <p:spPr>
          <a:xfrm>
            <a:off x="4526280" y="1280160"/>
            <a:ext cx="6766560" cy="960120"/>
          </a:xfrm>
          <a:prstGeom prst="rect">
            <a:avLst/>
          </a:prstGeom>
          <a:noFill/>
          <a:ln/>
        </p:spPr>
        <p:txBody>
          <a:bodyPr wrap="square" lIns="0" tIns="0" rIns="0" bIns="0" rtlCol="0" anchor="ctr"/>
          <a:lstStyle/>
          <a:p>
            <a:pPr indent="0" marL="0">
              <a:lnSpc>
                <a:spcPct val="114000"/>
              </a:lnSpc>
              <a:buNone/>
            </a:pPr>
            <a:r>
              <a:rPr lang="en-US" sz="1250" dirty="0">
                <a:solidFill>
                  <a:srgbClr val="3F4757"/>
                </a:solidFill>
                <a:latin typeface="Calibri" pitchFamily="34" charset="0"/>
                <a:ea typeface="Calibri" pitchFamily="34" charset="-122"/>
                <a:cs typeface="Calibri" pitchFamily="34" charset="-120"/>
              </a:rPr>
              <a:t>Correct. GDELT's source list grows over time. So archive every pull with its date and query string, and state the frame as a limitation rather than hiding it.</a:t>
            </a:r>
            <a:endParaRPr lang="en-US" sz="1250" dirty="0"/>
          </a:p>
        </p:txBody>
      </p:sp>
      <p:sp>
        <p:nvSpPr>
          <p:cNvPr id="6" name="Shape 4"/>
          <p:cNvSpPr/>
          <p:nvPr/>
        </p:nvSpPr>
        <p:spPr>
          <a:xfrm>
            <a:off x="594360" y="2377440"/>
            <a:ext cx="11018520" cy="960120"/>
          </a:xfrm>
          <a:prstGeom prst="roundRect">
            <a:avLst>
              <a:gd name="adj" fmla="val 6667"/>
            </a:avLst>
          </a:prstGeom>
          <a:solidFill>
            <a:srgbClr val="F4F5F7"/>
          </a:solidFill>
          <a:ln/>
          <a:effectLst>
            <a:outerShdw sx="100000" sy="100000" kx="0" ky="0" algn="bl" rotWithShape="0" blurRad="101600" dist="25400" dir="5400000">
              <a:srgbClr val="9AA1AE">
                <a:alpha val="22000"/>
              </a:srgbClr>
            </a:outerShdw>
          </a:effectLst>
        </p:spPr>
      </p:sp>
      <p:sp>
        <p:nvSpPr>
          <p:cNvPr id="7" name="Text 5"/>
          <p:cNvSpPr/>
          <p:nvPr/>
        </p:nvSpPr>
        <p:spPr>
          <a:xfrm>
            <a:off x="914400" y="2377440"/>
            <a:ext cx="3429000" cy="960120"/>
          </a:xfrm>
          <a:prstGeom prst="rect">
            <a:avLst/>
          </a:prstGeom>
          <a:noFill/>
          <a:ln/>
        </p:spPr>
        <p:txBody>
          <a:bodyPr wrap="square" lIns="0" tIns="0" rIns="0" bIns="0" rtlCol="0" anchor="ctr"/>
          <a:lstStyle/>
          <a:p>
            <a:pPr indent="0" marL="0">
              <a:lnSpc>
                <a:spcPct val="105000"/>
              </a:lnSpc>
              <a:buNone/>
            </a:pPr>
            <a:r>
              <a:rPr lang="en-US" sz="1450" b="1" i="1" dirty="0">
                <a:solidFill>
                  <a:srgbClr val="A31621"/>
                </a:solidFill>
                <a:latin typeface="Cambria" pitchFamily="34" charset="0"/>
                <a:ea typeface="Cambria" pitchFamily="34" charset="-122"/>
                <a:cs typeface="Cambria" pitchFamily="34" charset="-120"/>
              </a:rPr>
              <a:t>“Volume isn't reach.”</a:t>
            </a:r>
            <a:endParaRPr lang="en-US" sz="1450" dirty="0"/>
          </a:p>
        </p:txBody>
      </p:sp>
      <p:sp>
        <p:nvSpPr>
          <p:cNvPr id="8" name="Text 6"/>
          <p:cNvSpPr/>
          <p:nvPr/>
        </p:nvSpPr>
        <p:spPr>
          <a:xfrm>
            <a:off x="4526280" y="2377440"/>
            <a:ext cx="6766560" cy="960120"/>
          </a:xfrm>
          <a:prstGeom prst="rect">
            <a:avLst/>
          </a:prstGeom>
          <a:noFill/>
          <a:ln/>
        </p:spPr>
        <p:txBody>
          <a:bodyPr wrap="square" lIns="0" tIns="0" rIns="0" bIns="0" rtlCol="0" anchor="ctr"/>
          <a:lstStyle/>
          <a:p>
            <a:pPr indent="0" marL="0">
              <a:lnSpc>
                <a:spcPct val="114000"/>
              </a:lnSpc>
              <a:buNone/>
            </a:pPr>
            <a:r>
              <a:rPr lang="en-US" sz="1250" dirty="0">
                <a:solidFill>
                  <a:srgbClr val="3F4757"/>
                </a:solidFill>
                <a:latin typeface="Calibri" pitchFamily="34" charset="0"/>
                <a:ea typeface="Calibri" pitchFamily="34" charset="-122"/>
                <a:cs typeface="Calibri" pitchFamily="34" charset="-120"/>
              </a:rPr>
              <a:t>Also correct — there is no audience weighting. Volume measures editorial attention, which is the thing that moves officials. Claim that, and nothing more.</a:t>
            </a:r>
            <a:endParaRPr lang="en-US" sz="1250" dirty="0"/>
          </a:p>
        </p:txBody>
      </p:sp>
      <p:sp>
        <p:nvSpPr>
          <p:cNvPr id="9" name="Shape 7"/>
          <p:cNvSpPr/>
          <p:nvPr/>
        </p:nvSpPr>
        <p:spPr>
          <a:xfrm>
            <a:off x="594360" y="3474720"/>
            <a:ext cx="11018520" cy="960120"/>
          </a:xfrm>
          <a:prstGeom prst="roundRect">
            <a:avLst>
              <a:gd name="adj" fmla="val 6667"/>
            </a:avLst>
          </a:prstGeom>
          <a:solidFill>
            <a:srgbClr val="F4F5F7"/>
          </a:solidFill>
          <a:ln/>
          <a:effectLst>
            <a:outerShdw sx="100000" sy="100000" kx="0" ky="0" algn="bl" rotWithShape="0" blurRad="101600" dist="25400" dir="5400000">
              <a:srgbClr val="9AA1AE">
                <a:alpha val="22000"/>
              </a:srgbClr>
            </a:outerShdw>
          </a:effectLst>
        </p:spPr>
      </p:sp>
      <p:sp>
        <p:nvSpPr>
          <p:cNvPr id="10" name="Text 8"/>
          <p:cNvSpPr/>
          <p:nvPr/>
        </p:nvSpPr>
        <p:spPr>
          <a:xfrm>
            <a:off x="914400" y="3474720"/>
            <a:ext cx="3429000" cy="960120"/>
          </a:xfrm>
          <a:prstGeom prst="rect">
            <a:avLst/>
          </a:prstGeom>
          <a:noFill/>
          <a:ln/>
        </p:spPr>
        <p:txBody>
          <a:bodyPr wrap="square" lIns="0" tIns="0" rIns="0" bIns="0" rtlCol="0" anchor="ctr"/>
          <a:lstStyle/>
          <a:p>
            <a:pPr indent="0" marL="0">
              <a:lnSpc>
                <a:spcPct val="105000"/>
              </a:lnSpc>
              <a:buNone/>
            </a:pPr>
            <a:r>
              <a:rPr lang="en-US" sz="1450" b="1" i="1" dirty="0">
                <a:solidFill>
                  <a:srgbClr val="A31621"/>
                </a:solidFill>
                <a:latin typeface="Cambria" pitchFamily="34" charset="0"/>
                <a:ea typeface="Cambria" pitchFamily="34" charset="-122"/>
                <a:cs typeface="Cambria" pitchFamily="34" charset="-120"/>
              </a:rPr>
              <a:t>“Tone isn't bias.”</a:t>
            </a:r>
            <a:endParaRPr lang="en-US" sz="1450" dirty="0"/>
          </a:p>
        </p:txBody>
      </p:sp>
      <p:sp>
        <p:nvSpPr>
          <p:cNvPr id="11" name="Text 9"/>
          <p:cNvSpPr/>
          <p:nvPr/>
        </p:nvSpPr>
        <p:spPr>
          <a:xfrm>
            <a:off x="4526280" y="3474720"/>
            <a:ext cx="6766560" cy="960120"/>
          </a:xfrm>
          <a:prstGeom prst="rect">
            <a:avLst/>
          </a:prstGeom>
          <a:noFill/>
          <a:ln/>
        </p:spPr>
        <p:txBody>
          <a:bodyPr wrap="square" lIns="0" tIns="0" rIns="0" bIns="0" rtlCol="0" anchor="ctr"/>
          <a:lstStyle/>
          <a:p>
            <a:pPr indent="0" marL="0">
              <a:lnSpc>
                <a:spcPct val="114000"/>
              </a:lnSpc>
              <a:buNone/>
            </a:pPr>
            <a:r>
              <a:rPr lang="en-US" sz="1250" dirty="0">
                <a:solidFill>
                  <a:srgbClr val="3F4757"/>
                </a:solidFill>
                <a:latin typeface="Calibri" pitchFamily="34" charset="0"/>
                <a:ea typeface="Calibri" pitchFamily="34" charset="-122"/>
                <a:cs typeface="Calibri" pitchFamily="34" charset="-120"/>
              </a:rPr>
              <a:t>Right. Tone is a dictionary score. It supports comparisons between groups; it does not establish that any single article was slanted.</a:t>
            </a:r>
            <a:endParaRPr lang="en-US" sz="1250" dirty="0"/>
          </a:p>
        </p:txBody>
      </p:sp>
      <p:sp>
        <p:nvSpPr>
          <p:cNvPr id="12" name="Shape 10"/>
          <p:cNvSpPr/>
          <p:nvPr/>
        </p:nvSpPr>
        <p:spPr>
          <a:xfrm>
            <a:off x="594360" y="4572000"/>
            <a:ext cx="11018520" cy="960120"/>
          </a:xfrm>
          <a:prstGeom prst="roundRect">
            <a:avLst>
              <a:gd name="adj" fmla="val 6667"/>
            </a:avLst>
          </a:prstGeom>
          <a:solidFill>
            <a:srgbClr val="F4F5F7"/>
          </a:solidFill>
          <a:ln/>
          <a:effectLst>
            <a:outerShdw sx="100000" sy="100000" kx="0" ky="0" algn="bl" rotWithShape="0" blurRad="101600" dist="25400" dir="5400000">
              <a:srgbClr val="9AA1AE">
                <a:alpha val="22000"/>
              </a:srgbClr>
            </a:outerShdw>
          </a:effectLst>
        </p:spPr>
      </p:sp>
      <p:sp>
        <p:nvSpPr>
          <p:cNvPr id="13" name="Text 11"/>
          <p:cNvSpPr/>
          <p:nvPr/>
        </p:nvSpPr>
        <p:spPr>
          <a:xfrm>
            <a:off x="914400" y="4572000"/>
            <a:ext cx="3429000" cy="960120"/>
          </a:xfrm>
          <a:prstGeom prst="rect">
            <a:avLst/>
          </a:prstGeom>
          <a:noFill/>
          <a:ln/>
        </p:spPr>
        <p:txBody>
          <a:bodyPr wrap="square" lIns="0" tIns="0" rIns="0" bIns="0" rtlCol="0" anchor="ctr"/>
          <a:lstStyle/>
          <a:p>
            <a:pPr indent="0" marL="0">
              <a:lnSpc>
                <a:spcPct val="105000"/>
              </a:lnSpc>
              <a:buNone/>
            </a:pPr>
            <a:r>
              <a:rPr lang="en-US" sz="1450" b="1" i="1" dirty="0">
                <a:solidFill>
                  <a:srgbClr val="A31621"/>
                </a:solidFill>
                <a:latin typeface="Cambria" pitchFamily="34" charset="0"/>
                <a:ea typeface="Cambria" pitchFamily="34" charset="-122"/>
                <a:cs typeface="Cambria" pitchFamily="34" charset="-120"/>
              </a:rPr>
              <a:t>“Your classifier is unvalidated.”</a:t>
            </a:r>
            <a:endParaRPr lang="en-US" sz="1450" dirty="0"/>
          </a:p>
        </p:txBody>
      </p:sp>
      <p:sp>
        <p:nvSpPr>
          <p:cNvPr id="14" name="Text 12"/>
          <p:cNvSpPr/>
          <p:nvPr/>
        </p:nvSpPr>
        <p:spPr>
          <a:xfrm>
            <a:off x="4526280" y="4572000"/>
            <a:ext cx="6766560" cy="960120"/>
          </a:xfrm>
          <a:prstGeom prst="rect">
            <a:avLst/>
          </a:prstGeom>
          <a:noFill/>
          <a:ln/>
        </p:spPr>
        <p:txBody>
          <a:bodyPr wrap="square" lIns="0" tIns="0" rIns="0" bIns="0" rtlCol="0" anchor="ctr"/>
          <a:lstStyle/>
          <a:p>
            <a:pPr indent="0" marL="0">
              <a:lnSpc>
                <a:spcPct val="114000"/>
              </a:lnSpc>
              <a:buNone/>
            </a:pPr>
            <a:r>
              <a:rPr lang="en-US" sz="1250" dirty="0">
                <a:solidFill>
                  <a:srgbClr val="3F4757"/>
                </a:solidFill>
                <a:latin typeface="Calibri" pitchFamily="34" charset="0"/>
                <a:ea typeface="Calibri" pitchFamily="34" charset="-122"/>
                <a:cs typeface="Calibri" pitchFamily="34" charset="-120"/>
              </a:rPr>
              <a:t>This is the one that bites. Hand-code a stratified sample and report the agreement statistic even when it is bad. Ours was kappa = 0.049 at the article level.</a:t>
            </a:r>
            <a:endParaRPr lang="en-US" sz="1250" dirty="0"/>
          </a:p>
        </p:txBody>
      </p:sp>
      <p:sp>
        <p:nvSpPr>
          <p:cNvPr id="15" name="Text 13"/>
          <p:cNvSpPr/>
          <p:nvPr/>
        </p:nvSpPr>
        <p:spPr>
          <a:xfrm>
            <a:off x="594360" y="5806440"/>
            <a:ext cx="11018520" cy="411480"/>
          </a:xfrm>
          <a:prstGeom prst="rect">
            <a:avLst/>
          </a:prstGeom>
          <a:noFill/>
          <a:ln/>
        </p:spPr>
        <p:txBody>
          <a:bodyPr wrap="square" lIns="0" tIns="0" rIns="0" bIns="0" rtlCol="0" anchor="ctr"/>
          <a:lstStyle/>
          <a:p>
            <a:pPr indent="0" marL="0">
              <a:buNone/>
            </a:pPr>
            <a:r>
              <a:rPr lang="en-US" sz="1500" b="1" dirty="0">
                <a:solidFill>
                  <a:srgbClr val="2B3A55"/>
                </a:solidFill>
                <a:latin typeface="Calibri" pitchFamily="34" charset="0"/>
                <a:ea typeface="Calibri" pitchFamily="34" charset="-122"/>
                <a:cs typeface="Calibri" pitchFamily="34" charset="-120"/>
              </a:rPr>
              <a:t>Every one of these is answerable — but only if the audit trail exists before the question is asked.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9052560" y="-1371600"/>
            <a:ext cx="4937760" cy="4937760"/>
          </a:xfrm>
          <a:prstGeom prst="ellipse">
            <a:avLst/>
          </a:prstGeom>
          <a:solidFill>
            <a:srgbClr val="A31621">
              <a:alpha val="12000"/>
            </a:srgbClr>
          </a:solidFill>
          <a:ln w="12700">
            <a:solidFill>
              <a:srgbClr val="A31621">
                <a:alpha val="28000"/>
              </a:srgbClr>
            </a:solidFill>
            <a:prstDash val="solid"/>
          </a:ln>
        </p:spPr>
      </p:sp>
      <p:sp>
        <p:nvSpPr>
          <p:cNvPr id="3" name="Shape 1"/>
          <p:cNvSpPr/>
          <p:nvPr/>
        </p:nvSpPr>
        <p:spPr>
          <a:xfrm>
            <a:off x="10424160" y="4206240"/>
            <a:ext cx="3108960" cy="3108960"/>
          </a:xfrm>
          <a:prstGeom prst="ellipse">
            <a:avLst/>
          </a:prstGeom>
          <a:solidFill>
            <a:srgbClr val="A31621">
              <a:alpha val="8000"/>
            </a:srgbClr>
          </a:solidFill>
          <a:ln/>
        </p:spPr>
      </p:sp>
      <p:sp>
        <p:nvSpPr>
          <p:cNvPr id="4" name="Text 2"/>
          <p:cNvSpPr/>
          <p:nvPr/>
        </p:nvSpPr>
        <p:spPr>
          <a:xfrm>
            <a:off x="594360" y="685800"/>
            <a:ext cx="5486400" cy="274320"/>
          </a:xfrm>
          <a:prstGeom prst="rect">
            <a:avLst/>
          </a:prstGeom>
          <a:noFill/>
          <a:ln/>
        </p:spPr>
        <p:txBody>
          <a:bodyPr wrap="square" lIns="0" tIns="0" rIns="0" bIns="0" rtlCol="0" anchor="ctr"/>
          <a:lstStyle/>
          <a:p>
            <a:pPr algn="l" indent="0" marL="0">
              <a:buNone/>
            </a:pPr>
            <a:r>
              <a:rPr lang="en-US" sz="1100" b="1" spc="240" kern="0" dirty="0">
                <a:solidFill>
                  <a:srgbClr val="E0757F"/>
                </a:solidFill>
                <a:latin typeface="Calibri" pitchFamily="34" charset="0"/>
                <a:ea typeface="Calibri" pitchFamily="34" charset="-122"/>
                <a:cs typeface="Calibri" pitchFamily="34" charset="-120"/>
              </a:rPr>
              <a:t>TAKEAWAYS</a:t>
            </a:r>
            <a:endParaRPr lang="en-US" sz="1100" dirty="0"/>
          </a:p>
        </p:txBody>
      </p:sp>
      <p:sp>
        <p:nvSpPr>
          <p:cNvPr id="5" name="Shape 3"/>
          <p:cNvSpPr/>
          <p:nvPr/>
        </p:nvSpPr>
        <p:spPr>
          <a:xfrm>
            <a:off x="621792" y="1307592"/>
            <a:ext cx="420624" cy="420624"/>
          </a:xfrm>
          <a:prstGeom prst="ellipse">
            <a:avLst/>
          </a:prstGeom>
          <a:solidFill>
            <a:srgbClr val="A31621"/>
          </a:solidFill>
          <a:ln/>
        </p:spPr>
      </p:sp>
      <p:sp>
        <p:nvSpPr>
          <p:cNvPr id="6" name="Text 4"/>
          <p:cNvSpPr/>
          <p:nvPr/>
        </p:nvSpPr>
        <p:spPr>
          <a:xfrm>
            <a:off x="621792" y="13075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80160" y="1234440"/>
            <a:ext cx="950976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instrument decides the answer.</a:t>
            </a:r>
            <a:endParaRPr lang="en-US" sz="2100" dirty="0"/>
          </a:p>
        </p:txBody>
      </p:sp>
      <p:sp>
        <p:nvSpPr>
          <p:cNvPr id="8" name="Text 6"/>
          <p:cNvSpPr/>
          <p:nvPr/>
        </p:nvSpPr>
        <p:spPr>
          <a:xfrm>
            <a:off x="1280160" y="1636776"/>
            <a:ext cx="9052560" cy="640080"/>
          </a:xfrm>
          <a:prstGeom prst="rect">
            <a:avLst/>
          </a:prstGeom>
          <a:noFill/>
          <a:ln/>
        </p:spPr>
        <p:txBody>
          <a:bodyPr wrap="square" lIns="0" tIns="0" rIns="0" bIns="0" rtlCol="0" anchor="t"/>
          <a:lstStyle/>
          <a:p>
            <a:pPr indent="0" marL="0">
              <a:lnSpc>
                <a:spcPct val="114000"/>
              </a:lnSpc>
              <a:buNone/>
            </a:pPr>
            <a:r>
              <a:rPr lang="en-US" sz="1350" dirty="0">
                <a:solidFill>
                  <a:srgbClr val="C3C9D6"/>
                </a:solidFill>
                <a:latin typeface="Calibri" pitchFamily="34" charset="0"/>
                <a:ea typeface="Calibri" pitchFamily="34" charset="-122"/>
                <a:cs typeface="Calibri" pitchFamily="34" charset="-120"/>
              </a:rPr>
              <a:t>Four defensible measures of one corpus disagreed in sign. Choose and disclose the measure before you look at the result.</a:t>
            </a:r>
            <a:endParaRPr lang="en-US" sz="1350" dirty="0"/>
          </a:p>
        </p:txBody>
      </p:sp>
      <p:sp>
        <p:nvSpPr>
          <p:cNvPr id="9" name="Shape 7"/>
          <p:cNvSpPr/>
          <p:nvPr/>
        </p:nvSpPr>
        <p:spPr>
          <a:xfrm>
            <a:off x="621792" y="2633472"/>
            <a:ext cx="420624" cy="420624"/>
          </a:xfrm>
          <a:prstGeom prst="ellipse">
            <a:avLst/>
          </a:prstGeom>
          <a:solidFill>
            <a:srgbClr val="A31621"/>
          </a:solidFill>
          <a:ln/>
        </p:spPr>
      </p:sp>
      <p:sp>
        <p:nvSpPr>
          <p:cNvPr id="10" name="Text 8"/>
          <p:cNvSpPr/>
          <p:nvPr/>
        </p:nvSpPr>
        <p:spPr>
          <a:xfrm>
            <a:off x="621792" y="26334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80160" y="2560320"/>
            <a:ext cx="950976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GDELT for attention; documents for content.</a:t>
            </a:r>
            <a:endParaRPr lang="en-US" sz="2100" dirty="0"/>
          </a:p>
        </p:txBody>
      </p:sp>
      <p:sp>
        <p:nvSpPr>
          <p:cNvPr id="12" name="Text 10"/>
          <p:cNvSpPr/>
          <p:nvPr/>
        </p:nvSpPr>
        <p:spPr>
          <a:xfrm>
            <a:off x="1280160" y="2962656"/>
            <a:ext cx="9052560" cy="640080"/>
          </a:xfrm>
          <a:prstGeom prst="rect">
            <a:avLst/>
          </a:prstGeom>
          <a:noFill/>
          <a:ln/>
        </p:spPr>
        <p:txBody>
          <a:bodyPr wrap="square" lIns="0" tIns="0" rIns="0" bIns="0" rtlCol="0" anchor="t"/>
          <a:lstStyle/>
          <a:p>
            <a:pPr indent="0" marL="0">
              <a:lnSpc>
                <a:spcPct val="114000"/>
              </a:lnSpc>
              <a:buNone/>
            </a:pPr>
            <a:r>
              <a:rPr lang="en-US" sz="1350" dirty="0">
                <a:solidFill>
                  <a:srgbClr val="C3C9D6"/>
                </a:solidFill>
                <a:latin typeface="Calibri" pitchFamily="34" charset="0"/>
                <a:ea typeface="Calibri" pitchFamily="34" charset="-122"/>
                <a:cs typeface="Calibri" pitchFamily="34" charset="-120"/>
              </a:rPr>
              <a:t>Free, fast, includes local television, back to 2017 by API and 1979 by archive. It will not hand you the article.</a:t>
            </a:r>
            <a:endParaRPr lang="en-US" sz="1350" dirty="0"/>
          </a:p>
        </p:txBody>
      </p:sp>
      <p:sp>
        <p:nvSpPr>
          <p:cNvPr id="13" name="Shape 11"/>
          <p:cNvSpPr/>
          <p:nvPr/>
        </p:nvSpPr>
        <p:spPr>
          <a:xfrm>
            <a:off x="621792" y="3959352"/>
            <a:ext cx="420624" cy="420624"/>
          </a:xfrm>
          <a:prstGeom prst="ellipse">
            <a:avLst/>
          </a:prstGeom>
          <a:solidFill>
            <a:srgbClr val="A31621"/>
          </a:solidFill>
          <a:ln/>
        </p:spPr>
      </p:sp>
      <p:sp>
        <p:nvSpPr>
          <p:cNvPr id="14" name="Text 12"/>
          <p:cNvSpPr/>
          <p:nvPr/>
        </p:nvSpPr>
        <p:spPr>
          <a:xfrm>
            <a:off x="621792" y="395935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280160" y="3886200"/>
            <a:ext cx="9509760"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Validate on humans, or you have a number and not a finding.</a:t>
            </a:r>
            <a:endParaRPr lang="en-US" sz="2100" dirty="0"/>
          </a:p>
        </p:txBody>
      </p:sp>
      <p:sp>
        <p:nvSpPr>
          <p:cNvPr id="16" name="Text 14"/>
          <p:cNvSpPr/>
          <p:nvPr/>
        </p:nvSpPr>
        <p:spPr>
          <a:xfrm>
            <a:off x="1280160" y="4288536"/>
            <a:ext cx="9052560" cy="640080"/>
          </a:xfrm>
          <a:prstGeom prst="rect">
            <a:avLst/>
          </a:prstGeom>
          <a:noFill/>
          <a:ln/>
        </p:spPr>
        <p:txBody>
          <a:bodyPr wrap="square" lIns="0" tIns="0" rIns="0" bIns="0" rtlCol="0" anchor="t"/>
          <a:lstStyle/>
          <a:p>
            <a:pPr indent="0" marL="0">
              <a:lnSpc>
                <a:spcPct val="114000"/>
              </a:lnSpc>
              <a:buNone/>
            </a:pPr>
            <a:r>
              <a:rPr lang="en-US" sz="1350" dirty="0">
                <a:solidFill>
                  <a:srgbClr val="C3C9D6"/>
                </a:solidFill>
                <a:latin typeface="Calibri" pitchFamily="34" charset="0"/>
                <a:ea typeface="Calibri" pitchFamily="34" charset="-122"/>
                <a:cs typeface="Calibri" pitchFamily="34" charset="-120"/>
              </a:rPr>
              <a:t>A score that fails against a hand-coded sample is still a score. Report the agreement statistic either way.</a:t>
            </a:r>
            <a:endParaRPr lang="en-US" sz="1350" dirty="0"/>
          </a:p>
        </p:txBody>
      </p:sp>
      <p:sp>
        <p:nvSpPr>
          <p:cNvPr id="17" name="Shape 15"/>
          <p:cNvSpPr/>
          <p:nvPr/>
        </p:nvSpPr>
        <p:spPr>
          <a:xfrm>
            <a:off x="594360" y="5212080"/>
            <a:ext cx="11018520" cy="1097280"/>
          </a:xfrm>
          <a:prstGeom prst="roundRect">
            <a:avLst>
              <a:gd name="adj" fmla="val 5000"/>
            </a:avLst>
          </a:prstGeom>
          <a:solidFill>
            <a:srgbClr val="20242F"/>
          </a:solidFill>
          <a:ln/>
        </p:spPr>
      </p:sp>
      <p:sp>
        <p:nvSpPr>
          <p:cNvPr id="18" name="Text 16"/>
          <p:cNvSpPr/>
          <p:nvPr/>
        </p:nvSpPr>
        <p:spPr>
          <a:xfrm>
            <a:off x="914400" y="5349240"/>
            <a:ext cx="2743200" cy="274320"/>
          </a:xfrm>
          <a:prstGeom prst="rect">
            <a:avLst/>
          </a:prstGeom>
          <a:noFill/>
          <a:ln/>
        </p:spPr>
        <p:txBody>
          <a:bodyPr wrap="square" lIns="0" tIns="0" rIns="0" bIns="0" rtlCol="0" anchor="ctr"/>
          <a:lstStyle/>
          <a:p>
            <a:pPr indent="0" marL="0">
              <a:buNone/>
            </a:pPr>
            <a:r>
              <a:rPr lang="en-US" sz="1050" b="1" spc="200" kern="0" dirty="0">
                <a:solidFill>
                  <a:srgbClr val="E0757F"/>
                </a:solidFill>
                <a:latin typeface="Calibri" pitchFamily="34" charset="0"/>
                <a:ea typeface="Calibri" pitchFamily="34" charset="-122"/>
                <a:cs typeface="Calibri" pitchFamily="34" charset="-120"/>
              </a:rPr>
              <a:t>START HERE</a:t>
            </a:r>
            <a:endParaRPr lang="en-US" sz="1050" dirty="0"/>
          </a:p>
        </p:txBody>
      </p:sp>
      <p:sp>
        <p:nvSpPr>
          <p:cNvPr id="19" name="Text 17"/>
          <p:cNvSpPr/>
          <p:nvPr/>
        </p:nvSpPr>
        <p:spPr>
          <a:xfrm>
            <a:off x="914400" y="5669280"/>
            <a:ext cx="10424160" cy="457200"/>
          </a:xfrm>
          <a:prstGeom prst="rect">
            <a:avLst/>
          </a:prstGeom>
          <a:noFill/>
          <a:ln/>
        </p:spPr>
        <p:txBody>
          <a:bodyPr wrap="square" lIns="0" tIns="0" rIns="0" bIns="0" rtlCol="0" anchor="ctr"/>
          <a:lstStyle/>
          <a:p>
            <a:pPr indent="0" marL="0">
              <a:buNone/>
            </a:pPr>
            <a:r>
              <a:rPr lang="en-US" sz="1250" dirty="0">
                <a:solidFill>
                  <a:srgbClr val="8FD8B0"/>
                </a:solidFill>
                <a:latin typeface="Courier New" pitchFamily="34" charset="0"/>
                <a:ea typeface="Courier New" pitchFamily="34" charset="-122"/>
                <a:cs typeface="Courier New" pitchFamily="34" charset="-120"/>
              </a:rPr>
              <a:t>api.gdeltproject.org/api/v2/doc/doc</a:t>
            </a:r>
            <a:pPr indent="0" marL="0">
              <a:buNone/>
            </a:pPr>
            <a:r>
              <a:rPr lang="en-US" sz="1250" dirty="0">
                <a:solidFill>
                  <a:srgbClr val="8FD8B0"/>
                </a:solidFill>
                <a:latin typeface="Courier New" pitchFamily="34" charset="0"/>
                <a:ea typeface="Courier New" pitchFamily="34" charset="-122"/>
                <a:cs typeface="Courier New" pitchFamily="34" charset="-120"/>
              </a:rPr>
              <a:t>      television.gdeltproject.org</a:t>
            </a:r>
            <a:pPr indent="0" marL="0">
              <a:buNone/>
            </a:pPr>
            <a:r>
              <a:rPr lang="en-US" sz="1250" dirty="0">
                <a:solidFill>
                  <a:srgbClr val="8FD8B0"/>
                </a:solidFill>
                <a:latin typeface="Courier New" pitchFamily="34" charset="0"/>
                <a:ea typeface="Courier New" pitchFamily="34" charset="-122"/>
                <a:cs typeface="Courier New" pitchFamily="34" charset="-120"/>
              </a:rPr>
              <a:t>      gdelt-bq.gdeltv2  (BigQuery)</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the Press at Scale</dc:title>
  <dc:subject>PptxGenJS Presentation</dc:subject>
  <dc:creator>Center research overview</dc:creator>
  <cp:lastModifiedBy>Center research overview</cp:lastModifiedBy>
  <cp:revision>1</cp:revision>
  <dcterms:created xsi:type="dcterms:W3CDTF">2026-08-11T22:12:05Z</dcterms:created>
  <dcterms:modified xsi:type="dcterms:W3CDTF">2026-08-11T22:12:05Z</dcterms:modified>
</cp:coreProperties>
</file>